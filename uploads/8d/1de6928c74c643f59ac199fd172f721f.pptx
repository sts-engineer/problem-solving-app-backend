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459" r:id="rId5"/>
    <p:sldId id="449" r:id="rId6"/>
    <p:sldId id="450" r:id="rId7"/>
    <p:sldId id="466" r:id="rId8"/>
    <p:sldId id="467" r:id="rId9"/>
    <p:sldId id="430" r:id="rId10"/>
    <p:sldId id="468" r:id="rId11"/>
    <p:sldId id="270" r:id="rId12"/>
  </p:sldIdLst>
  <p:sldSz cx="12192000" cy="6858000"/>
  <p:notesSz cx="6858000" cy="9144000"/>
  <p:custDataLst>
    <p:tags r:id="rId1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143" userDrawn="1">
          <p15:clr>
            <a:srgbClr val="A4A3A4"/>
          </p15:clr>
        </p15:guide>
        <p15:guide id="3" pos="7537" userDrawn="1">
          <p15:clr>
            <a:srgbClr val="A4A3A4"/>
          </p15:clr>
        </p15:guide>
        <p15:guide id="4" orient="horz" pos="4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FFFF"/>
    <a:srgbClr val="00FF00"/>
    <a:srgbClr val="FF00FF"/>
    <a:srgbClr val="66FF33"/>
    <a:srgbClr val="002060"/>
    <a:srgbClr val="0F2D69"/>
    <a:srgbClr val="FF3399"/>
    <a:srgbClr val="00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50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224" y="114"/>
      </p:cViewPr>
      <p:guideLst>
        <p:guide orient="horz" pos="414"/>
        <p:guide pos="143"/>
        <p:guide pos="7537"/>
        <p:guide orient="horz" pos="42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6C7EB-E3DB-4C26-B0CD-718C699F6CA0}" type="datetimeFigureOut">
              <a:rPr lang="ko-KR" altLang="en-US" smtClean="0"/>
              <a:t>2025-09-18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BF274-376D-4927-8693-AEC6A6B8EA3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077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BF274-376D-4927-8693-AEC6A6B8EA31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5646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BF274-376D-4927-8693-AEC6A6B8EA31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1437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BF274-376D-4927-8693-AEC6A6B8EA31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66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BA002C-AD8A-86E2-8335-A31A1CFCA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58" y="1304518"/>
            <a:ext cx="64008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4F0397-3ED5-E266-FA5D-B5A7BD7D9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473" y="4359682"/>
            <a:ext cx="5245768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4" name="Image 12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1893462E-3360-47C1-A5D4-3898B6DD0B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759" y="231905"/>
            <a:ext cx="3979327" cy="77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4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705" y="239817"/>
            <a:ext cx="7122695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F5F0676-792A-D96C-629F-CC0C289A24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3540" y="4893391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9AF01875-A481-C7C6-C1CA-71ACBCFE43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3873" y="2953007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2" name="Espace réservé du texte 9">
            <a:extLst>
              <a:ext uri="{FF2B5EF4-FFF2-40B4-BE49-F238E27FC236}">
                <a16:creationId xmlns:a16="http://schemas.microsoft.com/office/drawing/2014/main" id="{EEFBE549-6258-39D5-088D-8B9928B0CD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3540" y="3612195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315A1DE-D951-DCD8-4D72-79E1A2414E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3873" y="4252793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05A65FAA-D1C5-0365-D638-FDBEA0D83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3540" y="2294655"/>
            <a:ext cx="609600" cy="416844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0107CD2F-525B-1FE8-918D-ED052816BB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41153" y="2294655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1</a:t>
            </a:r>
          </a:p>
        </p:txBody>
      </p: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EF0E012C-6417-AAE3-F24C-AF6898F34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41153" y="2953007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2</a:t>
            </a:r>
          </a:p>
        </p:txBody>
      </p: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C8A3EC0A-B3FF-D9D0-F3DA-8E201624C7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41153" y="3617645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3</a:t>
            </a:r>
          </a:p>
        </p:txBody>
      </p:sp>
      <p:sp>
        <p:nvSpPr>
          <p:cNvPr id="19" name="Espace réservé du texte 15">
            <a:extLst>
              <a:ext uri="{FF2B5EF4-FFF2-40B4-BE49-F238E27FC236}">
                <a16:creationId xmlns:a16="http://schemas.microsoft.com/office/drawing/2014/main" id="{2D3B7AC3-221C-9E38-86BE-6F2FC36359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41153" y="4252792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4</a:t>
            </a:r>
          </a:p>
        </p:txBody>
      </p:sp>
      <p:sp>
        <p:nvSpPr>
          <p:cNvPr id="20" name="Espace réservé du texte 15">
            <a:extLst>
              <a:ext uri="{FF2B5EF4-FFF2-40B4-BE49-F238E27FC236}">
                <a16:creationId xmlns:a16="http://schemas.microsoft.com/office/drawing/2014/main" id="{2EBB6C2F-C623-E538-3E8C-CAE6F3B800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41153" y="4947888"/>
            <a:ext cx="4976812" cy="416845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</a:lstStyle>
          <a:p>
            <a:pPr lvl="0"/>
            <a:r>
              <a:rPr lang="fr-FR"/>
              <a:t>Item 5</a:t>
            </a:r>
          </a:p>
        </p:txBody>
      </p:sp>
      <p:pic>
        <p:nvPicPr>
          <p:cNvPr id="3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785B65E1-6056-536A-6784-2F6B18D2C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1DD7E7-E79A-8C5C-8331-2046B2F5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7" y="1354908"/>
            <a:ext cx="7106653" cy="23134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9E8AF3-7B5F-521C-CA46-E85DD5B6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6747" y="3888115"/>
            <a:ext cx="7106653" cy="1091741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accent3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CA6F4-F185-D060-B451-510F9407D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4D5C66-1470-29B2-A701-517B4670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4" name="Image 12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30F7BB4D-8882-C798-3982-ED7DA742EC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02" y="175125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2FE1B-A88E-EA42-9E26-6F5DB0CC2EA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1907F0-B280-693D-F8CE-E4BAC559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F9A4E2-4CD9-F0BF-3192-9E64E7FA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2A27A7-4EAA-A1AA-DFCE-495E95914BF5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44A5A1-ED5D-F3C3-23FD-742C89E5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831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pic>
        <p:nvPicPr>
          <p:cNvPr id="4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C58CB450-A709-E42A-CCDA-22C338487B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7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A85B1F-85C8-CF47-D416-00B4DC8A7FAA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C68B4D-7B4F-1F56-36FA-19A118C1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2831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E3670E-EE5F-7A03-1BF6-966F8D95E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9C044B7-FA69-AB20-2BFF-000368A5C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B616CF-B652-33BF-9DFB-64728645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2"/>
                </a:solidFill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84D78C3-48E0-4333-4B79-5DD9563F5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ACB2E8-E1C6-2D68-18C7-71A69CFE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77EFFDB-70BB-1D89-E6A3-645E96FA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7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698022F9-2E62-E8E5-A9AE-B0048F1A68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8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Worldmap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7" y="0"/>
            <a:ext cx="7780422" cy="1058779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6" name="Image 5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2D00B0E3-A10D-D1BA-07A3-5DB7F49F2A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40" y="168426"/>
            <a:ext cx="2188468" cy="40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7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Graphic / Swot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EB29FD-DFF4-EA16-F778-5A465C8400C2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274" y="273524"/>
            <a:ext cx="9188116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3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7342B31C-5ACB-CF80-2CE2-377D9C9319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2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presenta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EB29FD-DFF4-EA16-F778-5A465C8400C2}"/>
              </a:ext>
            </a:extLst>
          </p:cNvPr>
          <p:cNvSpPr/>
          <p:nvPr userDrawn="1"/>
        </p:nvSpPr>
        <p:spPr>
          <a:xfrm>
            <a:off x="0" y="0"/>
            <a:ext cx="12192000" cy="1459832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B690AD54-7564-0FBC-82D4-8EA890833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737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C7C47B8-BB0F-CB99-CE6D-6A02A41961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5832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98F4D228-7221-873D-7DA2-60108FDAEB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8927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DAEF71BB-6F34-A78C-429B-97B95F0474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52284" y="2999874"/>
            <a:ext cx="2005263" cy="303195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3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0BDDE54C-56AE-C6AC-8CDC-224B22F0D5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5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13F6AD-56DB-99B7-64A4-863258D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79C0E8-0F03-3E07-9CE8-A848FDB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2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D39469E5-6653-6851-2A68-DE6BEF319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02" y="175125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7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slide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13F6AD-56DB-99B7-64A4-863258D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79C0E8-0F03-3E07-9CE8-A848FDB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4117" y="635634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2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91214B03-44EC-7E7F-AD57-9E2CA194CB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45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_ vertical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CC1630-E8BD-7C32-872D-FF2F1B5BE5DD}"/>
              </a:ext>
            </a:extLst>
          </p:cNvPr>
          <p:cNvSpPr/>
          <p:nvPr userDrawn="1"/>
        </p:nvSpPr>
        <p:spPr>
          <a:xfrm>
            <a:off x="-16042" y="0"/>
            <a:ext cx="2743201" cy="6858000"/>
          </a:xfrm>
          <a:prstGeom prst="rect">
            <a:avLst/>
          </a:prstGeom>
          <a:blipFill dpi="0" rotWithShape="1">
            <a:blip r:embed="rId3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blipFill dpi="0"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F11516A-0CA2-383B-FA23-F250DC7D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8158" y="393700"/>
            <a:ext cx="7040292" cy="720725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9C3035-3B99-AF2F-3857-B0A18AF5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8158" y="1762125"/>
            <a:ext cx="8164242" cy="4341812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0D04C0-F272-6FA2-B99E-F177584FB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D8EFFF-9945-C878-5A30-86F60022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Image 20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29DDE5A9-2799-7ECF-5886-63C5356F0F9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625" y="6354041"/>
            <a:ext cx="2044627" cy="39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45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with ca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55E944-03DD-4C80-71A9-FF5F5F2B4DE8}"/>
              </a:ext>
            </a:extLst>
          </p:cNvPr>
          <p:cNvSpPr/>
          <p:nvPr userDrawn="1"/>
        </p:nvSpPr>
        <p:spPr>
          <a:xfrm>
            <a:off x="-16042" y="0"/>
            <a:ext cx="2743201" cy="6858000"/>
          </a:xfrm>
          <a:prstGeom prst="rect">
            <a:avLst/>
          </a:prstGeom>
          <a:gradFill>
            <a:gsLst>
              <a:gs pos="41000">
                <a:schemeClr val="tx2">
                  <a:lumMod val="40000"/>
                  <a:lumOff val="60000"/>
                </a:schemeClr>
              </a:gs>
              <a:gs pos="0">
                <a:schemeClr val="accent1"/>
              </a:gs>
              <a:gs pos="100000">
                <a:schemeClr val="bg2">
                  <a:tint val="98000"/>
                  <a:satMod val="130000"/>
                  <a:shade val="90000"/>
                  <a:lumMod val="17000"/>
                  <a:lumOff val="83000"/>
                </a:schemeClr>
              </a:gs>
              <a:gs pos="100000">
                <a:schemeClr val="bg2">
                  <a:shade val="63000"/>
                  <a:satMod val="120000"/>
                </a:schemeClr>
              </a:gs>
            </a:gsLst>
            <a:lin ang="5400000" scaled="0"/>
          </a:gra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4549D8-333F-A13A-D41C-C440985DD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1" y="457200"/>
            <a:ext cx="2454443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E3363C6-B066-C62B-79BA-20AA4A354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04619" y="99218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C84A64-67DD-7B9D-D23E-A6051725B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0421" y="2301081"/>
            <a:ext cx="2454443" cy="381158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Mada Medium" pitchFamily="2" charset="-78"/>
                <a:ea typeface="Mada Medium" pitchFamily="2" charset="-78"/>
                <a:cs typeface="Mada Medium" pitchFamily="2" charset="-7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8BA856-0295-35F9-D9FD-B014ACD1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18D470-679A-318D-EA3F-C9CC8B09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5" name="Image 29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868849F0-B4D0-92D0-26A9-84ECFA3392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306" y="6294753"/>
            <a:ext cx="2188468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02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end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5B4E8-7F93-4D6C-B43B-0F81DFC511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89910" y="481263"/>
            <a:ext cx="8297780" cy="1187116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err="1"/>
              <a:t>Thank</a:t>
            </a:r>
            <a:r>
              <a:rPr lang="fr-FR"/>
              <a:t> </a:t>
            </a:r>
            <a:r>
              <a:rPr lang="fr-FR" err="1"/>
              <a:t>you</a:t>
            </a:r>
            <a:r>
              <a:rPr lang="fr-FR"/>
              <a:t> message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E35581-872A-D77D-679D-16DBC01C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E3CDD1-5C3D-5B84-6971-8E6CABCC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EB43F-EBAE-48FE-B9A6-9703644CBAD4}" type="slidenum">
              <a:rPr lang="fr-FR" smtClean="0"/>
              <a:t>‹#›</a:t>
            </a:fld>
            <a:endParaRPr lang="fr-FR"/>
          </a:p>
        </p:txBody>
      </p:sp>
      <p:pic>
        <p:nvPicPr>
          <p:cNvPr id="11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C60E68A8-E98F-19DB-D117-77559FB96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0728" y="3001580"/>
            <a:ext cx="4726489" cy="92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3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A5100AE-120C-893D-C577-C61DF183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9B272B-73B6-04AB-54DF-040227973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64D6D9-17AB-BE16-6762-9ED451AFB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3735F9-AC65-36E2-0A0F-E7C78BE0D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6242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EB43F-EBAE-48FE-B9A6-9703644CBAD4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305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0" r:id="rId2"/>
    <p:sldLayoutId id="2147483678" r:id="rId3"/>
    <p:sldLayoutId id="2147483662" r:id="rId4"/>
    <p:sldLayoutId id="2147483665" r:id="rId5"/>
    <p:sldLayoutId id="2147483672" r:id="rId6"/>
    <p:sldLayoutId id="2147483674" r:id="rId7"/>
    <p:sldLayoutId id="2147483676" r:id="rId8"/>
    <p:sldLayoutId id="2147483667" r:id="rId9"/>
    <p:sldLayoutId id="2147483681" r:id="rId10"/>
    <p:sldLayoutId id="2147483668" r:id="rId11"/>
    <p:sldLayoutId id="2147483669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jpeg"/><Relationship Id="rId4" Type="http://schemas.openxmlformats.org/officeDocument/2006/relationships/image" Target="../media/image22.jpeg"/><Relationship Id="rId9" Type="http://schemas.openxmlformats.org/officeDocument/2006/relationships/image" Target="../media/image27.jpe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emf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vocarbon.com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2B547-67A0-D7B3-FBC4-E70ADDF80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757" y="1094968"/>
            <a:ext cx="6836317" cy="3153182"/>
          </a:xfrm>
        </p:spPr>
        <p:txBody>
          <a:bodyPr anchor="ctr">
            <a:noAutofit/>
          </a:bodyPr>
          <a:lstStyle/>
          <a:p>
            <a:pPr lvl="0">
              <a:lnSpc>
                <a:spcPct val="50000"/>
              </a:lnSpc>
              <a:defRPr/>
            </a:pPr>
            <a:r>
              <a:rPr lang="en-US" altLang="ko-KR" sz="40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</a:t>
            </a:r>
            <a:r>
              <a:rPr lang="ko-KR" altLang="en-US" sz="4000" b="1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품질개선 </a:t>
            </a:r>
            <a:r>
              <a:rPr lang="en-US" altLang="ko-KR" sz="40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</a:t>
            </a:r>
            <a:br>
              <a:rPr lang="en-US" altLang="ko-KR" sz="4000" b="1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NEM2</a:t>
            </a:r>
            <a:r>
              <a:rPr lang="ko-KR" altLang="en-US" sz="3200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Carbon Brush</a:t>
            </a:r>
            <a:b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</a:br>
            <a:b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</a:br>
            <a:r>
              <a:rPr lang="en-US" altLang="ko-KR" sz="3200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R </a:t>
            </a:r>
            <a:r>
              <a:rPr lang="ko-KR" altLang="en-US" sz="3200" dirty="0">
                <a:solidFill>
                  <a:srgbClr val="336699"/>
                </a:solidFill>
                <a:latin typeface="Calibri" panose="020F0502020204030204" pitchFamily="34" charset="0"/>
                <a:ea typeface="굴림" panose="020B0600000101010101" pitchFamily="50" charset="-127"/>
                <a:cs typeface="Calibri" panose="020F0502020204030204" pitchFamily="34" charset="0"/>
              </a:rPr>
              <a:t>역방향 가공</a:t>
            </a: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2C78FB9-0E54-AE2C-8E1E-2967F229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5889" y="5003062"/>
            <a:ext cx="4933553" cy="1100839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AVOCarbon Korea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July 25, 2025</a:t>
            </a: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323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9337" name="Group 1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728067"/>
              </p:ext>
            </p:extLst>
          </p:nvPr>
        </p:nvGraphicFramePr>
        <p:xfrm>
          <a:off x="227013" y="675150"/>
          <a:ext cx="11737975" cy="6048379"/>
        </p:xfrm>
        <a:graphic>
          <a:graphicData uri="http://schemas.openxmlformats.org/drawingml/2006/table">
            <a:tbl>
              <a:tblPr/>
              <a:tblGrid>
                <a:gridCol w="386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2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964">
                <a:tc rowSpan="2"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개선대책서</a:t>
                      </a: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추진부문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AVOCarbon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Korea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6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 고 자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재 석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964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T="45721" marB="45721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     선     전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개     선     후</a:t>
                      </a:r>
                    </a:p>
                  </a:txBody>
                  <a:tcPr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1" marR="36000" marT="72000" marB="36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1" marR="36000" marT="72000" marB="360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93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marT="45721" marB="4572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0" marT="45721" marB="4572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46" name="Rectangle 30"/>
          <p:cNvSpPr>
            <a:spLocks noChangeArrowheads="1"/>
          </p:cNvSpPr>
          <p:nvPr/>
        </p:nvSpPr>
        <p:spPr bwMode="auto">
          <a:xfrm>
            <a:off x="423744" y="3869108"/>
            <a:ext cx="1080000" cy="25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현상 및 원인</a:t>
            </a:r>
          </a:p>
        </p:txBody>
      </p: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4218934" y="3881301"/>
            <a:ext cx="1080000" cy="25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개선내용</a:t>
            </a:r>
          </a:p>
        </p:txBody>
      </p:sp>
      <p:sp>
        <p:nvSpPr>
          <p:cNvPr id="9248" name="Rectangle 32"/>
          <p:cNvSpPr>
            <a:spLocks noChangeArrowheads="1"/>
          </p:cNvSpPr>
          <p:nvPr/>
        </p:nvSpPr>
        <p:spPr bwMode="auto">
          <a:xfrm>
            <a:off x="8068317" y="3881302"/>
            <a:ext cx="1080000" cy="252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유효성 검증</a:t>
            </a:r>
          </a:p>
        </p:txBody>
      </p:sp>
      <p:sp>
        <p:nvSpPr>
          <p:cNvPr id="9249" name="Rectangle 50"/>
          <p:cNvSpPr>
            <a:spLocks noChangeArrowheads="1"/>
          </p:cNvSpPr>
          <p:nvPr/>
        </p:nvSpPr>
        <p:spPr bwMode="auto">
          <a:xfrm>
            <a:off x="352427" y="1400231"/>
            <a:ext cx="1080000" cy="252412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latinLnBrk="0" hangingPunct="0">
              <a:spcBef>
                <a:spcPct val="50000"/>
              </a:spcBef>
            </a:pPr>
            <a:r>
              <a:rPr lang="ko-KR" altLang="en-US" sz="1200" b="1" dirty="0">
                <a:solidFill>
                  <a:srgbClr val="000000"/>
                </a:solidFill>
                <a:latin typeface="+mn-ea"/>
              </a:rPr>
              <a:t>문제부위</a:t>
            </a:r>
          </a:p>
        </p:txBody>
      </p:sp>
      <p:sp>
        <p:nvSpPr>
          <p:cNvPr id="38" name="TextBox 3"/>
          <p:cNvSpPr txBox="1">
            <a:spLocks noChangeArrowheads="1"/>
          </p:cNvSpPr>
          <p:nvPr/>
        </p:nvSpPr>
        <p:spPr bwMode="auto">
          <a:xfrm>
            <a:off x="6312025" y="774246"/>
            <a:ext cx="13192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ko-KR" altLang="en-US" sz="1000" dirty="0">
                <a:solidFill>
                  <a:srgbClr val="7F7F7F"/>
                </a:solidFill>
                <a:latin typeface="+mn-ea"/>
                <a:ea typeface="+mn-ea"/>
              </a:rPr>
              <a:t>작성일</a:t>
            </a:r>
            <a:r>
              <a:rPr lang="en-US" altLang="ko-KR" sz="1000" dirty="0">
                <a:solidFill>
                  <a:srgbClr val="7F7F7F"/>
                </a:solidFill>
                <a:latin typeface="+mn-ea"/>
                <a:ea typeface="+mn-ea"/>
              </a:rPr>
              <a:t>: 2024.05.22 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D0A8D5DD-74CF-E63B-5EB1-8B5B1151E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R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역방향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(1/6)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2612FB-CC7A-C1AD-ED0E-2E9B96DEFB95}"/>
              </a:ext>
            </a:extLst>
          </p:cNvPr>
          <p:cNvSpPr txBox="1"/>
          <p:nvPr/>
        </p:nvSpPr>
        <p:spPr>
          <a:xfrm>
            <a:off x="352427" y="1832530"/>
            <a:ext cx="3866507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r>
              <a:rPr lang="en-US" altLang="ko-KR" dirty="0">
                <a:solidFill>
                  <a:srgbClr val="FF0000"/>
                </a:solidFill>
              </a:rPr>
              <a:t>Brush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R </a:t>
            </a:r>
            <a:r>
              <a:rPr lang="ko-KR" altLang="en-US" dirty="0">
                <a:solidFill>
                  <a:srgbClr val="FF0000"/>
                </a:solidFill>
              </a:rPr>
              <a:t>역방향</a:t>
            </a:r>
            <a:r>
              <a:rPr lang="en-US" altLang="ko-KR" dirty="0">
                <a:solidFill>
                  <a:srgbClr val="FF0000"/>
                </a:solidFill>
              </a:rPr>
              <a:t>  </a:t>
            </a:r>
            <a:r>
              <a:rPr lang="ko-KR" altLang="en-US" dirty="0">
                <a:solidFill>
                  <a:srgbClr val="FF0000"/>
                </a:solidFill>
              </a:rPr>
              <a:t>가공 불량</a:t>
            </a:r>
          </a:p>
        </p:txBody>
      </p:sp>
      <p:sp>
        <p:nvSpPr>
          <p:cNvPr id="42" name="모서리가 둥근 직사각형 85">
            <a:extLst>
              <a:ext uri="{FF2B5EF4-FFF2-40B4-BE49-F238E27FC236}">
                <a16:creationId xmlns:a16="http://schemas.microsoft.com/office/drawing/2014/main" id="{2DDB153C-898C-5CC6-B229-89F7FBD5E6D9}"/>
              </a:ext>
            </a:extLst>
          </p:cNvPr>
          <p:cNvSpPr/>
          <p:nvPr/>
        </p:nvSpPr>
        <p:spPr>
          <a:xfrm>
            <a:off x="2804962" y="2275621"/>
            <a:ext cx="1182882" cy="1338593"/>
          </a:xfrm>
          <a:prstGeom prst="roundRect">
            <a:avLst>
              <a:gd name="adj" fmla="val 526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44" name="모서리가 둥근 직사각형 79">
            <a:extLst>
              <a:ext uri="{FF2B5EF4-FFF2-40B4-BE49-F238E27FC236}">
                <a16:creationId xmlns:a16="http://schemas.microsoft.com/office/drawing/2014/main" id="{C4266B14-4B5B-F472-A505-D3F7BD619AFA}"/>
              </a:ext>
            </a:extLst>
          </p:cNvPr>
          <p:cNvSpPr/>
          <p:nvPr/>
        </p:nvSpPr>
        <p:spPr>
          <a:xfrm>
            <a:off x="3124200" y="2150433"/>
            <a:ext cx="576000" cy="252000"/>
          </a:xfrm>
          <a:prstGeom prst="round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 anchor="ctr" anchorCtr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cs typeface="Arial" panose="020B0604020202020204" pitchFamily="34" charset="0"/>
              </a:rPr>
              <a:t>양호품</a:t>
            </a:r>
            <a:endParaRPr kumimoji="0" lang="ko-KR" altLang="en-US" sz="1000" b="1" kern="0" dirty="0">
              <a:solidFill>
                <a:sysClr val="windowText" lastClr="000000"/>
              </a:solidFill>
              <a:cs typeface="Arial" panose="020B0604020202020204" pitchFamily="34" charset="0"/>
            </a:endParaRPr>
          </a:p>
        </p:txBody>
      </p:sp>
      <p:sp>
        <p:nvSpPr>
          <p:cNvPr id="36" name="모서리가 둥근 직사각형 85">
            <a:extLst>
              <a:ext uri="{FF2B5EF4-FFF2-40B4-BE49-F238E27FC236}">
                <a16:creationId xmlns:a16="http://schemas.microsoft.com/office/drawing/2014/main" id="{C902A551-AC49-EB14-D01B-DD75D9D2BBF8}"/>
              </a:ext>
            </a:extLst>
          </p:cNvPr>
          <p:cNvSpPr/>
          <p:nvPr/>
        </p:nvSpPr>
        <p:spPr>
          <a:xfrm>
            <a:off x="513645" y="2275621"/>
            <a:ext cx="2223903" cy="1338593"/>
          </a:xfrm>
          <a:prstGeom prst="roundRect">
            <a:avLst>
              <a:gd name="adj" fmla="val 551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43" name="모서리가 둥근 직사각형 87">
            <a:extLst>
              <a:ext uri="{FF2B5EF4-FFF2-40B4-BE49-F238E27FC236}">
                <a16:creationId xmlns:a16="http://schemas.microsoft.com/office/drawing/2014/main" id="{6D3A7D71-0A84-B6F0-5351-CC2472B12CA6}"/>
              </a:ext>
            </a:extLst>
          </p:cNvPr>
          <p:cNvSpPr/>
          <p:nvPr/>
        </p:nvSpPr>
        <p:spPr>
          <a:xfrm>
            <a:off x="1187306" y="2150433"/>
            <a:ext cx="838852" cy="252000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 anchor="ctr" anchorCtr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불량품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4D315-E720-5DD7-1CE8-113E7BD42903}"/>
              </a:ext>
            </a:extLst>
          </p:cNvPr>
          <p:cNvSpPr txBox="1"/>
          <p:nvPr/>
        </p:nvSpPr>
        <p:spPr>
          <a:xfrm>
            <a:off x="2538391" y="1324805"/>
            <a:ext cx="15009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NTM</a:t>
            </a:r>
            <a:r>
              <a:rPr kumimoji="1" lang="en-US" altLang="ko-KR" sz="11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1" lang="en-US" altLang="ko-K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 (102012202)</a:t>
            </a:r>
            <a:endParaRPr kumimoji="1" lang="ko-KR" altLang="ko-K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2" name="Picture 3">
            <a:extLst>
              <a:ext uri="{FF2B5EF4-FFF2-40B4-BE49-F238E27FC236}">
                <a16:creationId xmlns:a16="http://schemas.microsoft.com/office/drawing/2014/main" id="{0E7CE5AD-24EF-AFBC-FB06-856E317A8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30000" contrast="30000"/>
          </a:blip>
          <a:srcRect/>
          <a:stretch>
            <a:fillRect/>
          </a:stretch>
        </p:blipFill>
        <p:spPr bwMode="auto">
          <a:xfrm rot="5400000">
            <a:off x="1266348" y="2447011"/>
            <a:ext cx="718494" cy="85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485DEC6-ACAD-CD83-0AD2-0FC87EAE3A8C}"/>
              </a:ext>
            </a:extLst>
          </p:cNvPr>
          <p:cNvSpPr txBox="1"/>
          <p:nvPr/>
        </p:nvSpPr>
        <p:spPr>
          <a:xfrm>
            <a:off x="1184485" y="3364676"/>
            <a:ext cx="953613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spcBef>
                <a:spcPts val="0"/>
              </a:spcBef>
            </a:pPr>
            <a:r>
              <a:rPr lang="ko-KR" altLang="en-US" sz="900" dirty="0">
                <a:solidFill>
                  <a:srgbClr val="FF0000"/>
                </a:solidFill>
              </a:rPr>
              <a:t>역방향 </a:t>
            </a:r>
            <a:r>
              <a:rPr lang="en-US" altLang="ko-KR" sz="900" dirty="0">
                <a:solidFill>
                  <a:srgbClr val="FF0000"/>
                </a:solidFill>
              </a:rPr>
              <a:t>R </a:t>
            </a:r>
            <a:r>
              <a:rPr lang="ko-KR" altLang="en-US" sz="900" dirty="0">
                <a:solidFill>
                  <a:srgbClr val="FF0000"/>
                </a:solidFill>
              </a:rPr>
              <a:t>가공</a:t>
            </a:r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B229A6D5-5074-EE37-81D8-306AB707CD2B}"/>
              </a:ext>
            </a:extLst>
          </p:cNvPr>
          <p:cNvSpPr/>
          <p:nvPr/>
        </p:nvSpPr>
        <p:spPr>
          <a:xfrm rot="10234965">
            <a:off x="1399576" y="3167298"/>
            <a:ext cx="189076" cy="186830"/>
          </a:xfrm>
          <a:prstGeom prst="downArrow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FF71AA56-0030-A021-558C-0A077A34A3EF}"/>
              </a:ext>
            </a:extLst>
          </p:cNvPr>
          <p:cNvSpPr/>
          <p:nvPr/>
        </p:nvSpPr>
        <p:spPr>
          <a:xfrm rot="10234965">
            <a:off x="1717223" y="3181640"/>
            <a:ext cx="189076" cy="186830"/>
          </a:xfrm>
          <a:prstGeom prst="downArrow">
            <a:avLst/>
          </a:prstGeom>
          <a:solidFill>
            <a:srgbClr val="FF0000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1FB3DC-415E-CAEB-0D85-295B9557DDF5}"/>
              </a:ext>
            </a:extLst>
          </p:cNvPr>
          <p:cNvSpPr txBox="1"/>
          <p:nvPr/>
        </p:nvSpPr>
        <p:spPr>
          <a:xfrm>
            <a:off x="346325" y="4251731"/>
            <a:ext cx="3716793" cy="15650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marL="85725" indent="-85725">
              <a:lnSpc>
                <a:spcPct val="120000"/>
              </a:lnSpc>
            </a:pPr>
            <a:r>
              <a:rPr lang="en-US" altLang="ko-KR" sz="1100" dirty="0"/>
              <a:t>1.</a:t>
            </a:r>
            <a:r>
              <a:rPr lang="ko-KR" altLang="en-US" sz="1100" dirty="0"/>
              <a:t>가공기 </a:t>
            </a:r>
            <a:r>
              <a:rPr lang="en-US" altLang="ko-KR" sz="1100" dirty="0">
                <a:solidFill>
                  <a:srgbClr val="FF0000"/>
                </a:solidFill>
              </a:rPr>
              <a:t>Bowl Feeder</a:t>
            </a:r>
            <a:r>
              <a:rPr lang="ko-KR" altLang="en-US" sz="1100" dirty="0">
                <a:solidFill>
                  <a:srgbClr val="FF0000"/>
                </a:solidFill>
              </a:rPr>
              <a:t>에서 </a:t>
            </a:r>
            <a:r>
              <a:rPr lang="en-US" altLang="ko-KR" sz="1100" dirty="0">
                <a:solidFill>
                  <a:srgbClr val="FF0000"/>
                </a:solidFill>
              </a:rPr>
              <a:t>Brush</a:t>
            </a:r>
            <a:r>
              <a:rPr lang="ko-KR" altLang="en-US" sz="1100" dirty="0">
                <a:solidFill>
                  <a:srgbClr val="FF0000"/>
                </a:solidFill>
              </a:rPr>
              <a:t>가 </a:t>
            </a:r>
            <a:r>
              <a:rPr lang="en-US" altLang="ko-KR" sz="1100" dirty="0">
                <a:solidFill>
                  <a:srgbClr val="FF0000"/>
                </a:solidFill>
              </a:rPr>
              <a:t>180</a:t>
            </a:r>
            <a:r>
              <a:rPr lang="ko-KR" altLang="en-US" sz="1100" dirty="0">
                <a:solidFill>
                  <a:srgbClr val="FF0000"/>
                </a:solidFill>
              </a:rPr>
              <a:t>도 회전하여 투입됨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>
                <a:solidFill>
                  <a:schemeClr val="tx1"/>
                </a:solidFill>
              </a:rPr>
              <a:t>→ </a:t>
            </a:r>
            <a:r>
              <a:rPr lang="en-US" altLang="ko-KR" sz="1100" dirty="0">
                <a:solidFill>
                  <a:schemeClr val="tx1"/>
                </a:solidFill>
              </a:rPr>
              <a:t>R </a:t>
            </a:r>
            <a:r>
              <a:rPr lang="ko-KR" altLang="en-US" sz="1100" dirty="0">
                <a:solidFill>
                  <a:schemeClr val="tx1"/>
                </a:solidFill>
              </a:rPr>
              <a:t>역</a:t>
            </a:r>
            <a:r>
              <a:rPr lang="ko-KR" altLang="en-US" sz="1100" dirty="0"/>
              <a:t>방향 가공 불량 발생함</a:t>
            </a:r>
            <a:endParaRPr lang="en-US" altLang="ko-KR" sz="1100" dirty="0"/>
          </a:p>
          <a:p>
            <a:pPr marL="85725" indent="-85725">
              <a:lnSpc>
                <a:spcPct val="120000"/>
              </a:lnSpc>
            </a:pPr>
            <a:endParaRPr lang="en-US" altLang="ko-KR" sz="1100" dirty="0"/>
          </a:p>
          <a:p>
            <a:pPr marL="85725" indent="-85725">
              <a:lnSpc>
                <a:spcPct val="120000"/>
              </a:lnSpc>
            </a:pPr>
            <a:r>
              <a:rPr lang="ko-KR" altLang="en-US" sz="1100" dirty="0"/>
              <a:t>☞ </a:t>
            </a:r>
            <a:r>
              <a:rPr lang="en-US" altLang="ko-KR" sz="1100" dirty="0"/>
              <a:t>Bowl Feeder</a:t>
            </a:r>
            <a:r>
              <a:rPr lang="ko-KR" altLang="en-US" sz="1100" dirty="0"/>
              <a:t>에서 </a:t>
            </a:r>
            <a:r>
              <a:rPr lang="en-US" altLang="ko-KR" sz="1100" dirty="0"/>
              <a:t>Brush</a:t>
            </a:r>
            <a:r>
              <a:rPr lang="ko-KR" altLang="en-US" sz="1100" dirty="0"/>
              <a:t>가</a:t>
            </a:r>
            <a:r>
              <a:rPr lang="en-US" altLang="ko-KR" sz="1100" dirty="0"/>
              <a:t> 180</a:t>
            </a:r>
            <a:r>
              <a:rPr lang="ko-KR" altLang="en-US" sz="1100" dirty="0"/>
              <a:t>도 회전되는 이유</a:t>
            </a:r>
            <a:endParaRPr lang="en-US" altLang="ko-KR" sz="1100" dirty="0"/>
          </a:p>
          <a:p>
            <a:pPr marL="85725" indent="-85725">
              <a:lnSpc>
                <a:spcPct val="120000"/>
              </a:lnSpc>
            </a:pPr>
            <a:r>
              <a:rPr lang="en-US" altLang="ko-KR" sz="1100" dirty="0"/>
              <a:t>: </a:t>
            </a:r>
            <a:r>
              <a:rPr lang="en-US" altLang="ko-KR" sz="1100" dirty="0">
                <a:solidFill>
                  <a:srgbClr val="FF0000"/>
                </a:solidFill>
              </a:rPr>
              <a:t>Bowl Feeder</a:t>
            </a:r>
            <a:r>
              <a:rPr lang="ko-KR" altLang="en-US" sz="1100" dirty="0">
                <a:solidFill>
                  <a:srgbClr val="FF0000"/>
                </a:solidFill>
              </a:rPr>
              <a:t> 제품</a:t>
            </a:r>
            <a:r>
              <a:rPr lang="en-US" altLang="ko-KR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>
                <a:solidFill>
                  <a:srgbClr val="FF0000"/>
                </a:solidFill>
              </a:rPr>
              <a:t>이송레일에 </a:t>
            </a:r>
            <a:r>
              <a:rPr lang="en-US" altLang="ko-KR" sz="1100" dirty="0">
                <a:solidFill>
                  <a:srgbClr val="FF0000"/>
                </a:solidFill>
              </a:rPr>
              <a:t>Brush </a:t>
            </a:r>
            <a:r>
              <a:rPr lang="ko-KR" altLang="en-US" sz="1100" dirty="0">
                <a:solidFill>
                  <a:srgbClr val="FF0000"/>
                </a:solidFill>
              </a:rPr>
              <a:t>결품 발생</a:t>
            </a:r>
            <a:r>
              <a:rPr lang="en-US" altLang="ko-KR" sz="1100" dirty="0">
                <a:solidFill>
                  <a:srgbClr val="FF0000"/>
                </a:solidFill>
              </a:rPr>
              <a:t>. </a:t>
            </a:r>
            <a:r>
              <a:rPr lang="ko-KR" altLang="en-US" sz="1100" dirty="0"/>
              <a:t>→ 제품</a:t>
            </a:r>
            <a:r>
              <a:rPr lang="en-US" altLang="ko-KR" sz="1100" dirty="0"/>
              <a:t> </a:t>
            </a:r>
            <a:r>
              <a:rPr lang="ko-KR" altLang="en-US" sz="1100" dirty="0"/>
              <a:t>간에 유격</a:t>
            </a:r>
            <a:r>
              <a:rPr lang="en-US" altLang="ko-KR" sz="1100" dirty="0"/>
              <a:t>(</a:t>
            </a:r>
            <a:r>
              <a:rPr lang="ko-KR" altLang="en-US" sz="1100" dirty="0"/>
              <a:t>틈</a:t>
            </a:r>
            <a:r>
              <a:rPr lang="en-US" altLang="ko-KR" sz="1100" dirty="0"/>
              <a:t>)</a:t>
            </a:r>
            <a:r>
              <a:rPr lang="ko-KR" altLang="en-US" sz="1100" dirty="0"/>
              <a:t>이 발생함</a:t>
            </a:r>
            <a:r>
              <a:rPr lang="en-US" altLang="ko-KR" sz="1100" dirty="0"/>
              <a:t> </a:t>
            </a:r>
            <a:r>
              <a:rPr lang="ko-KR" altLang="en-US" sz="1100" dirty="0"/>
              <a:t>→ </a:t>
            </a:r>
            <a:r>
              <a:rPr lang="en-US" altLang="ko-KR" sz="1100" dirty="0"/>
              <a:t>Brush</a:t>
            </a:r>
            <a:r>
              <a:rPr lang="ko-KR" altLang="en-US" sz="1100" dirty="0"/>
              <a:t>가 </a:t>
            </a:r>
            <a:r>
              <a:rPr lang="en-US" altLang="ko-KR" sz="1100" dirty="0"/>
              <a:t>180</a:t>
            </a:r>
            <a:r>
              <a:rPr lang="ko-KR" altLang="en-US" sz="1100" dirty="0"/>
              <a:t>도 회전함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009989-F0BE-9965-45BD-E4543080A70A}"/>
              </a:ext>
            </a:extLst>
          </p:cNvPr>
          <p:cNvSpPr txBox="1"/>
          <p:nvPr/>
        </p:nvSpPr>
        <p:spPr>
          <a:xfrm>
            <a:off x="4140325" y="4251731"/>
            <a:ext cx="3794000" cy="5346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1. Bowl Feeder</a:t>
            </a:r>
            <a:r>
              <a:rPr lang="ko-KR" altLang="en-US" sz="1100" dirty="0">
                <a:solidFill>
                  <a:srgbClr val="FF0000"/>
                </a:solidFill>
              </a:rPr>
              <a:t>에 </a:t>
            </a:r>
            <a:r>
              <a:rPr lang="en-US" altLang="ko-KR" sz="1100" dirty="0">
                <a:solidFill>
                  <a:srgbClr val="FF0000"/>
                </a:solidFill>
              </a:rPr>
              <a:t>Brush </a:t>
            </a:r>
            <a:r>
              <a:rPr lang="ko-KR" altLang="en-US" sz="1100" dirty="0">
                <a:solidFill>
                  <a:srgbClr val="FF0000"/>
                </a:solidFill>
              </a:rPr>
              <a:t>결품 감지 센서 설치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1100" dirty="0"/>
              <a:t> → </a:t>
            </a:r>
            <a:r>
              <a:rPr lang="en-US" altLang="ko-KR" sz="1100" dirty="0"/>
              <a:t>Brush</a:t>
            </a:r>
            <a:r>
              <a:rPr lang="ko-KR" altLang="en-US" sz="1100" dirty="0"/>
              <a:t> 결품 시</a:t>
            </a:r>
            <a:r>
              <a:rPr lang="en-US" altLang="ko-KR" sz="1100" dirty="0"/>
              <a:t>, </a:t>
            </a:r>
            <a:r>
              <a:rPr lang="ko-KR" altLang="en-US" sz="1100" dirty="0"/>
              <a:t>장비를</a:t>
            </a:r>
            <a:r>
              <a:rPr lang="en-US" altLang="ko-KR" sz="1100" dirty="0"/>
              <a:t> AUTO-STOP </a:t>
            </a:r>
            <a:r>
              <a:rPr lang="ko-KR" altLang="en-US" sz="1100" dirty="0"/>
              <a:t>시킴</a:t>
            </a:r>
            <a:r>
              <a:rPr lang="en-US" altLang="ko-KR" sz="110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3CC08A-89CA-4E74-F04E-4CF5F0AF90D6}"/>
              </a:ext>
            </a:extLst>
          </p:cNvPr>
          <p:cNvSpPr txBox="1"/>
          <p:nvPr/>
        </p:nvSpPr>
        <p:spPr>
          <a:xfrm>
            <a:off x="4140325" y="1678000"/>
            <a:ext cx="3779748" cy="7209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marL="85725" indent="-85725">
              <a:lnSpc>
                <a:spcPct val="110000"/>
              </a:lnSpc>
            </a:pPr>
            <a:r>
              <a:rPr lang="ko-KR" altLang="en-US" sz="1100" dirty="0"/>
              <a:t>■ 가공기 </a:t>
            </a:r>
            <a:r>
              <a:rPr lang="en-US" altLang="ko-KR" sz="1100" dirty="0"/>
              <a:t>Bowl Feeder</a:t>
            </a:r>
            <a:r>
              <a:rPr lang="ko-KR" altLang="en-US" sz="1100" dirty="0"/>
              <a:t>의 </a:t>
            </a:r>
            <a:r>
              <a:rPr lang="ko-KR" altLang="en-US" sz="1100" dirty="0">
                <a:solidFill>
                  <a:srgbClr val="FF0000"/>
                </a:solidFill>
              </a:rPr>
              <a:t>이송레일에서</a:t>
            </a:r>
            <a:r>
              <a:rPr lang="en-US" altLang="ko-KR" sz="1100" dirty="0">
                <a:solidFill>
                  <a:srgbClr val="FF0000"/>
                </a:solidFill>
              </a:rPr>
              <a:t> Brush </a:t>
            </a:r>
            <a:r>
              <a:rPr lang="ko-KR" altLang="en-US" sz="1100" dirty="0">
                <a:solidFill>
                  <a:srgbClr val="FF0000"/>
                </a:solidFill>
              </a:rPr>
              <a:t>간에 유격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틈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>
                <a:solidFill>
                  <a:srgbClr val="FF0000"/>
                </a:solidFill>
              </a:rPr>
              <a:t>이 발생함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85725" indent="-85725">
              <a:lnSpc>
                <a:spcPct val="11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>
                <a:solidFill>
                  <a:schemeClr val="tx1"/>
                </a:solidFill>
              </a:rPr>
              <a:t> → </a:t>
            </a:r>
            <a:r>
              <a:rPr lang="en-US" altLang="ko-KR" sz="1100" dirty="0">
                <a:solidFill>
                  <a:schemeClr val="tx1"/>
                </a:solidFill>
              </a:rPr>
              <a:t>Brush</a:t>
            </a:r>
            <a:r>
              <a:rPr lang="ko-KR" altLang="en-US" sz="1100" dirty="0">
                <a:solidFill>
                  <a:schemeClr val="tx1"/>
                </a:solidFill>
              </a:rPr>
              <a:t>가 </a:t>
            </a:r>
            <a:r>
              <a:rPr lang="en-US" altLang="ko-KR" sz="1100" dirty="0">
                <a:solidFill>
                  <a:schemeClr val="tx1"/>
                </a:solidFill>
              </a:rPr>
              <a:t>180</a:t>
            </a:r>
            <a:r>
              <a:rPr lang="ko-KR" altLang="en-US" sz="1100" dirty="0">
                <a:solidFill>
                  <a:schemeClr val="tx1"/>
                </a:solidFill>
              </a:rPr>
              <a:t>되 회전 투입되어 불량이 발생함</a:t>
            </a:r>
            <a:r>
              <a:rPr lang="en-US" altLang="ko-KR" sz="11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1843B7-8145-1D34-4CF8-FD5EF913F569}"/>
              </a:ext>
            </a:extLst>
          </p:cNvPr>
          <p:cNvSpPr txBox="1"/>
          <p:nvPr/>
        </p:nvSpPr>
        <p:spPr>
          <a:xfrm>
            <a:off x="8025784" y="1678000"/>
            <a:ext cx="3779748" cy="9217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marL="85725" indent="-85725">
              <a:lnSpc>
                <a:spcPct val="110000"/>
              </a:lnSpc>
            </a:pPr>
            <a:r>
              <a:rPr lang="ko-KR" altLang="en-US" sz="1100" dirty="0"/>
              <a:t>■ 가공기 </a:t>
            </a:r>
            <a:r>
              <a:rPr lang="en-US" altLang="ko-KR" sz="1100" dirty="0"/>
              <a:t>Bowl Feeder</a:t>
            </a:r>
            <a:r>
              <a:rPr lang="ko-KR" altLang="en-US" sz="1100" dirty="0"/>
              <a:t>의 이송레일에 </a:t>
            </a:r>
            <a:r>
              <a:rPr lang="en-US" altLang="ko-KR" sz="1100" dirty="0">
                <a:solidFill>
                  <a:srgbClr val="FF0000"/>
                </a:solidFill>
              </a:rPr>
              <a:t>Brush </a:t>
            </a:r>
            <a:r>
              <a:rPr lang="ko-KR" altLang="en-US" sz="1100" dirty="0">
                <a:solidFill>
                  <a:srgbClr val="FF0000"/>
                </a:solidFill>
              </a:rPr>
              <a:t>결품 감지센서 설치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</a:p>
          <a:p>
            <a:pPr marL="85725" indent="-85725">
              <a:lnSpc>
                <a:spcPct val="110000"/>
              </a:lnSpc>
            </a:pPr>
            <a:r>
              <a:rPr lang="en-US" altLang="ko-KR" sz="1100" dirty="0">
                <a:solidFill>
                  <a:srgbClr val="0000FF"/>
                </a:solidFill>
              </a:rPr>
              <a:t>: </a:t>
            </a:r>
            <a:r>
              <a:rPr lang="ko-KR" altLang="en-US" sz="1100" dirty="0">
                <a:solidFill>
                  <a:srgbClr val="0000FF"/>
                </a:solidFill>
              </a:rPr>
              <a:t>결품이 발생 할 경우</a:t>
            </a:r>
            <a:r>
              <a:rPr lang="en-US" altLang="ko-KR" sz="1100" dirty="0">
                <a:solidFill>
                  <a:srgbClr val="0000FF"/>
                </a:solidFill>
              </a:rPr>
              <a:t>,</a:t>
            </a:r>
            <a:r>
              <a:rPr lang="ko-KR" altLang="en-US" sz="1100" dirty="0">
                <a:solidFill>
                  <a:srgbClr val="0000FF"/>
                </a:solidFill>
              </a:rPr>
              <a:t> 장비를 </a:t>
            </a:r>
            <a:r>
              <a:rPr lang="en-US" altLang="ko-KR" sz="1100" dirty="0">
                <a:solidFill>
                  <a:srgbClr val="0000FF"/>
                </a:solidFill>
              </a:rPr>
              <a:t>AUTO-STOP </a:t>
            </a:r>
            <a:r>
              <a:rPr lang="ko-KR" altLang="en-US" sz="1100" dirty="0">
                <a:solidFill>
                  <a:srgbClr val="0000FF"/>
                </a:solidFill>
              </a:rPr>
              <a:t>시킴 </a:t>
            </a:r>
            <a:r>
              <a:rPr lang="en-US" altLang="ko-KR" sz="1100" dirty="0">
                <a:solidFill>
                  <a:srgbClr val="0000FF"/>
                </a:solidFill>
              </a:rPr>
              <a:t>(</a:t>
            </a:r>
            <a:r>
              <a:rPr lang="ko-KR" altLang="en-US" sz="1100" dirty="0">
                <a:solidFill>
                  <a:srgbClr val="0000FF"/>
                </a:solidFill>
              </a:rPr>
              <a:t>제품 </a:t>
            </a:r>
            <a:r>
              <a:rPr lang="en-US" altLang="ko-KR" sz="1100" dirty="0">
                <a:solidFill>
                  <a:srgbClr val="0000FF"/>
                </a:solidFill>
              </a:rPr>
              <a:t>180</a:t>
            </a:r>
            <a:r>
              <a:rPr lang="ko-KR" altLang="en-US" sz="1100" dirty="0">
                <a:solidFill>
                  <a:srgbClr val="0000FF"/>
                </a:solidFill>
              </a:rPr>
              <a:t>도 회전 방지</a:t>
            </a:r>
            <a:r>
              <a:rPr lang="en-US" altLang="ko-KR" sz="1100" dirty="0">
                <a:solidFill>
                  <a:srgbClr val="0000FF"/>
                </a:solidFill>
              </a:rPr>
              <a:t>).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F5F6D2-E30F-C57A-5E38-4511D226F2FB}"/>
              </a:ext>
            </a:extLst>
          </p:cNvPr>
          <p:cNvSpPr txBox="1"/>
          <p:nvPr/>
        </p:nvSpPr>
        <p:spPr>
          <a:xfrm>
            <a:off x="8011532" y="4251731"/>
            <a:ext cx="379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100" dirty="0"/>
              <a:t>1. Brush </a:t>
            </a:r>
            <a:r>
              <a:rPr lang="ko-KR" altLang="en-US" sz="1100" dirty="0"/>
              <a:t>차기 </a:t>
            </a:r>
            <a:r>
              <a:rPr lang="en-US" altLang="ko-KR" sz="1100" dirty="0"/>
              <a:t>LOT </a:t>
            </a:r>
            <a:r>
              <a:rPr lang="ko-KR" altLang="en-US" sz="1100" dirty="0"/>
              <a:t>전수검사 실시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F8CFD7-C415-4C7F-A19D-0E127D65C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0029" y="2497257"/>
            <a:ext cx="1031933" cy="959954"/>
          </a:xfrm>
          <a:prstGeom prst="rect">
            <a:avLst/>
          </a:prstGeom>
        </p:spPr>
      </p:pic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C038B176-C5BC-7DA6-BE80-77136073730A}"/>
              </a:ext>
            </a:extLst>
          </p:cNvPr>
          <p:cNvSpPr/>
          <p:nvPr/>
        </p:nvSpPr>
        <p:spPr>
          <a:xfrm rot="7935904">
            <a:off x="3493318" y="3315517"/>
            <a:ext cx="189076" cy="186830"/>
          </a:xfrm>
          <a:prstGeom prst="downArrow">
            <a:avLst/>
          </a:prstGeom>
          <a:solidFill>
            <a:srgbClr val="0000FF"/>
          </a:solidFill>
          <a:ln w="1905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67515-E8D1-040B-82B9-3AA301A04835}"/>
              </a:ext>
            </a:extLst>
          </p:cNvPr>
          <p:cNvSpPr txBox="1"/>
          <p:nvPr/>
        </p:nvSpPr>
        <p:spPr>
          <a:xfrm>
            <a:off x="4140325" y="5165661"/>
            <a:ext cx="3794000" cy="5346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ko-KR" sz="1100" dirty="0">
                <a:solidFill>
                  <a:srgbClr val="FF0000"/>
                </a:solidFill>
              </a:rPr>
              <a:t>2. 180</a:t>
            </a:r>
            <a:r>
              <a:rPr lang="ko-KR" altLang="en-US" sz="1100" dirty="0">
                <a:solidFill>
                  <a:srgbClr val="FF0000"/>
                </a:solidFill>
              </a:rPr>
              <a:t>도 회전 투입된 제품 검출 센서 설치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ko-KR" altLang="en-US" sz="1100" dirty="0"/>
              <a:t> → 동선 </a:t>
            </a:r>
            <a:r>
              <a:rPr lang="ko-KR" altLang="en-US" sz="1100" dirty="0" err="1"/>
              <a:t>정위치</a:t>
            </a:r>
            <a:r>
              <a:rPr lang="ko-KR" altLang="en-US" sz="1100" dirty="0"/>
              <a:t> 불일치 시</a:t>
            </a:r>
            <a:r>
              <a:rPr lang="en-US" altLang="ko-KR" sz="1100" dirty="0"/>
              <a:t>, </a:t>
            </a:r>
            <a:r>
              <a:rPr lang="ko-KR" altLang="en-US" sz="1100" dirty="0"/>
              <a:t>장비를 </a:t>
            </a:r>
            <a:r>
              <a:rPr lang="en-US" altLang="ko-KR" sz="1100" dirty="0"/>
              <a:t>AUTO-STOP </a:t>
            </a:r>
            <a:r>
              <a:rPr lang="ko-KR" altLang="en-US" sz="1100" dirty="0"/>
              <a:t>시킴</a:t>
            </a:r>
            <a:r>
              <a:rPr lang="en-US" altLang="ko-KR" sz="11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CBEE7-B740-5FF3-8660-7CAD13E3CE59}"/>
              </a:ext>
            </a:extLst>
          </p:cNvPr>
          <p:cNvSpPr txBox="1"/>
          <p:nvPr/>
        </p:nvSpPr>
        <p:spPr>
          <a:xfrm>
            <a:off x="4159162" y="2725190"/>
            <a:ext cx="3779748" cy="2638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marL="85725" indent="-85725">
              <a:lnSpc>
                <a:spcPct val="110000"/>
              </a:lnSpc>
            </a:pPr>
            <a:r>
              <a:rPr lang="ko-KR" altLang="en-US" sz="1100" dirty="0"/>
              <a:t>■ </a:t>
            </a:r>
            <a:r>
              <a:rPr lang="ko-KR" altLang="en-US" sz="1100" dirty="0">
                <a:solidFill>
                  <a:srgbClr val="FF0000"/>
                </a:solidFill>
              </a:rPr>
              <a:t>역방향 </a:t>
            </a:r>
            <a:r>
              <a:rPr lang="en-US" altLang="ko-KR" sz="1100" dirty="0">
                <a:solidFill>
                  <a:srgbClr val="FF0000"/>
                </a:solidFill>
              </a:rPr>
              <a:t>(180</a:t>
            </a:r>
            <a:r>
              <a:rPr lang="ko-KR" altLang="en-US" sz="1100" dirty="0">
                <a:solidFill>
                  <a:srgbClr val="FF0000"/>
                </a:solidFill>
              </a:rPr>
              <a:t>도 회전</a:t>
            </a:r>
            <a:r>
              <a:rPr lang="en-US" altLang="ko-KR" sz="1100" dirty="0">
                <a:solidFill>
                  <a:srgbClr val="FF0000"/>
                </a:solidFill>
              </a:rPr>
              <a:t>) </a:t>
            </a:r>
            <a:r>
              <a:rPr lang="ko-KR" altLang="en-US" sz="1100" dirty="0">
                <a:solidFill>
                  <a:srgbClr val="FF0000"/>
                </a:solidFill>
              </a:rPr>
              <a:t>투입품 감지 없음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830720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roup 77">
            <a:extLst>
              <a:ext uri="{FF2B5EF4-FFF2-40B4-BE49-F238E27FC236}">
                <a16:creationId xmlns:a16="http://schemas.microsoft.com/office/drawing/2014/main" id="{471E6FDC-D612-402C-91C4-A51954DBE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156765"/>
              </p:ext>
            </p:extLst>
          </p:nvPr>
        </p:nvGraphicFramePr>
        <p:xfrm>
          <a:off x="239660" y="654109"/>
          <a:ext cx="11723740" cy="6078385"/>
        </p:xfrm>
        <a:graphic>
          <a:graphicData uri="http://schemas.openxmlformats.org/drawingml/2006/table">
            <a:tbl>
              <a:tblPr/>
              <a:tblGrid>
                <a:gridCol w="88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47" marR="91447" marT="45726" marB="457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 원인 분석</a:t>
                      </a:r>
                    </a:p>
                  </a:txBody>
                  <a:tcPr marL="91447" marR="91447" marT="45726" marB="4572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8345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ctr" latinLnBrk="1" hangingPunct="1">
                        <a:lnSpc>
                          <a:spcPct val="1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1444" marR="91444" marT="45719" marB="45719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Group 69">
            <a:extLst>
              <a:ext uri="{FF2B5EF4-FFF2-40B4-BE49-F238E27FC236}">
                <a16:creationId xmlns:a16="http://schemas.microsoft.com/office/drawing/2014/main" id="{90A1296F-B63C-6A15-D04B-0304F9E47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175178"/>
              </p:ext>
            </p:extLst>
          </p:nvPr>
        </p:nvGraphicFramePr>
        <p:xfrm>
          <a:off x="668493" y="1128539"/>
          <a:ext cx="10915752" cy="1795044"/>
        </p:xfrm>
        <a:graphic>
          <a:graphicData uri="http://schemas.openxmlformats.org/drawingml/2006/table">
            <a:tbl>
              <a:tblPr/>
              <a:tblGrid>
                <a:gridCol w="759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620609836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95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99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#10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입고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수입검사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#20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믹싱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#30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#40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열처리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#50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중간검사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#60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가공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#70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출하검사</a:t>
                      </a: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#80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제품 포장</a:t>
                      </a: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8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사진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25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90010" marR="90010" marT="46781" marB="4678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▷동선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원소재 입고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&amp;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수입검사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▷분말 혼합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▷분말을 가압하여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Brush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성형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▷성형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Brush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열처리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(baking)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▷열처리 후 제품 검사  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중간검사 기준서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Brush 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가공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두께→습동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R)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▷완제품 검사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출하검사 기준서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▷제품 포장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포장 사양서</a:t>
                      </a:r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3600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7" name="내용 개체 틀 2">
            <a:extLst>
              <a:ext uri="{FF2B5EF4-FFF2-40B4-BE49-F238E27FC236}">
                <a16:creationId xmlns:a16="http://schemas.microsoft.com/office/drawing/2014/main" id="{0C4D7B16-C42B-30D9-7524-F5BF3FC2F779}"/>
              </a:ext>
            </a:extLst>
          </p:cNvPr>
          <p:cNvSpPr txBox="1">
            <a:spLocks/>
          </p:cNvSpPr>
          <p:nvPr/>
        </p:nvSpPr>
        <p:spPr bwMode="auto">
          <a:xfrm>
            <a:off x="536819" y="3010641"/>
            <a:ext cx="6517575" cy="342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600" b="1">
                <a:solidFill>
                  <a:schemeClr val="bg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bg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marL="180975" indent="-180975">
              <a:lnSpc>
                <a:spcPct val="150000"/>
              </a:lnSpc>
              <a:defRPr/>
            </a:pPr>
            <a:r>
              <a:rPr lang="en-US" altLang="ko-KR" sz="1600" b="1" kern="0" dirty="0">
                <a:solidFill>
                  <a:srgbClr val="0000FF"/>
                </a:solidFill>
                <a:latin typeface="Calibri"/>
                <a:cs typeface="Calibri"/>
              </a:rPr>
              <a:t> BRUSH </a:t>
            </a:r>
            <a:r>
              <a:rPr lang="ko-KR" altLang="en-US" sz="1600" b="1" kern="0" dirty="0">
                <a:solidFill>
                  <a:srgbClr val="0000FF"/>
                </a:solidFill>
                <a:latin typeface="Calibri"/>
                <a:cs typeface="Calibri"/>
              </a:rPr>
              <a:t>두께 치수 </a:t>
            </a:r>
            <a:r>
              <a:rPr lang="en-US" altLang="ko-KR" sz="1600" b="1" kern="0" dirty="0">
                <a:solidFill>
                  <a:srgbClr val="0000FF"/>
                </a:solidFill>
                <a:latin typeface="Calibri"/>
                <a:cs typeface="Calibri"/>
              </a:rPr>
              <a:t>&amp; R </a:t>
            </a:r>
            <a:r>
              <a:rPr lang="ko-KR" altLang="en-US" sz="1600" b="1" kern="0" dirty="0">
                <a:solidFill>
                  <a:srgbClr val="0000FF"/>
                </a:solidFill>
                <a:latin typeface="Calibri"/>
                <a:cs typeface="Calibri"/>
              </a:rPr>
              <a:t>역방향 가공 불량</a:t>
            </a:r>
            <a:endParaRPr lang="en-US" altLang="ko-KR" sz="1600" b="1" i="1" kern="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DE1BBB1-9841-EDA2-CBB4-6602432BA236}"/>
              </a:ext>
            </a:extLst>
          </p:cNvPr>
          <p:cNvGrpSpPr/>
          <p:nvPr/>
        </p:nvGrpSpPr>
        <p:grpSpPr>
          <a:xfrm>
            <a:off x="1493184" y="1578224"/>
            <a:ext cx="9960042" cy="811426"/>
            <a:chOff x="1630080" y="1608280"/>
            <a:chExt cx="9960042" cy="608704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76F13F3-7CD5-A648-EC95-5A236240E416}"/>
                </a:ext>
              </a:extLst>
            </p:cNvPr>
            <p:cNvGrpSpPr/>
            <p:nvPr/>
          </p:nvGrpSpPr>
          <p:grpSpPr>
            <a:xfrm>
              <a:off x="2966728" y="1608280"/>
              <a:ext cx="8623394" cy="608704"/>
              <a:chOff x="2750691" y="1208812"/>
              <a:chExt cx="9012737" cy="809984"/>
            </a:xfrm>
          </p:grpSpPr>
          <p:grpSp>
            <p:nvGrpSpPr>
              <p:cNvPr id="39" name="그룹 1">
                <a:extLst>
                  <a:ext uri="{FF2B5EF4-FFF2-40B4-BE49-F238E27FC236}">
                    <a16:creationId xmlns:a16="http://schemas.microsoft.com/office/drawing/2014/main" id="{E04937AB-0F33-100D-F945-E9954F5387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0638" y="1208813"/>
                <a:ext cx="7722790" cy="800579"/>
                <a:chOff x="3486775" y="2060848"/>
                <a:chExt cx="7935431" cy="1001713"/>
              </a:xfrm>
            </p:grpSpPr>
            <p:pic>
              <p:nvPicPr>
                <p:cNvPr id="40" name="Picture 29">
                  <a:extLst>
                    <a:ext uri="{FF2B5EF4-FFF2-40B4-BE49-F238E27FC236}">
                      <a16:creationId xmlns:a16="http://schemas.microsoft.com/office/drawing/2014/main" id="{BEB04965-2406-DD52-8652-CEA9A58D8C11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86775" y="2060848"/>
                  <a:ext cx="1152128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1" name="Picture 27">
                  <a:extLst>
                    <a:ext uri="{FF2B5EF4-FFF2-40B4-BE49-F238E27FC236}">
                      <a16:creationId xmlns:a16="http://schemas.microsoft.com/office/drawing/2014/main" id="{05882145-3FF0-46FC-C6F6-5F1CB52B8924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80039" y="2060848"/>
                  <a:ext cx="1080120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" name="Picture 27">
                  <a:extLst>
                    <a:ext uri="{FF2B5EF4-FFF2-40B4-BE49-F238E27FC236}">
                      <a16:creationId xmlns:a16="http://schemas.microsoft.com/office/drawing/2014/main" id="{27A4E210-9839-97CF-81AA-985CC1275AEC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5" cstate="email">
                  <a:lum bright="20000"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342086" y="2060848"/>
                  <a:ext cx="1080120" cy="10017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4" name="Picture 6">
                  <a:extLst>
                    <a:ext uri="{FF2B5EF4-FFF2-40B4-BE49-F238E27FC236}">
                      <a16:creationId xmlns:a16="http://schemas.microsoft.com/office/drawing/2014/main" id="{5FA1819A-A913-6F98-D34C-DD9EE7225C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581092" y="2060848"/>
                  <a:ext cx="1152128" cy="9699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5" name="Picture 26">
                  <a:extLst>
                    <a:ext uri="{FF2B5EF4-FFF2-40B4-BE49-F238E27FC236}">
                      <a16:creationId xmlns:a16="http://schemas.microsoft.com/office/drawing/2014/main" id="{6A4146FB-F495-5430-928F-DB293422CF72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7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260953" y="2060848"/>
                  <a:ext cx="1080119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7" name="Picture 28">
                  <a:extLst>
                    <a:ext uri="{FF2B5EF4-FFF2-40B4-BE49-F238E27FC236}">
                      <a16:creationId xmlns:a16="http://schemas.microsoft.com/office/drawing/2014/main" id="{DABA4B0B-8AA7-C49E-7AC1-A0A3F8D0720C}"/>
                    </a:ext>
                  </a:extLst>
                </p:cNvPr>
                <p:cNvPicPr preferRelativeResize="0">
                  <a:picLocks noChangeArrowheads="1"/>
                </p:cNvPicPr>
                <p:nvPr/>
              </p:nvPicPr>
              <p:blipFill>
                <a:blip r:embed="rId8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952890" y="2060848"/>
                  <a:ext cx="1080120" cy="1001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49" name="Picture 5">
                <a:extLst>
                  <a:ext uri="{FF2B5EF4-FFF2-40B4-BE49-F238E27FC236}">
                    <a16:creationId xmlns:a16="http://schemas.microsoft.com/office/drawing/2014/main" id="{35DCB271-F944-368C-CFE4-49333E256ADE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0691" y="1208812"/>
                <a:ext cx="1073060" cy="809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Picture 48">
              <a:extLst>
                <a:ext uri="{FF2B5EF4-FFF2-40B4-BE49-F238E27FC236}">
                  <a16:creationId xmlns:a16="http://schemas.microsoft.com/office/drawing/2014/main" id="{21E09DFB-C8D2-64B8-3A61-F52CDE1A6E18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0840" y="1611410"/>
              <a:ext cx="506871" cy="58256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1">
              <a:extLst>
                <a:ext uri="{FF2B5EF4-FFF2-40B4-BE49-F238E27FC236}">
                  <a16:creationId xmlns:a16="http://schemas.microsoft.com/office/drawing/2014/main" id="{511A36A1-904D-1E1C-8616-3045B17FAF22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0080" y="1611410"/>
              <a:ext cx="550158" cy="582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" name="TextBox 14371">
            <a:extLst>
              <a:ext uri="{FF2B5EF4-FFF2-40B4-BE49-F238E27FC236}">
                <a16:creationId xmlns:a16="http://schemas.microsoft.com/office/drawing/2014/main" id="{791381F1-F36C-A8C5-2FD4-4729853E9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18" y="3470705"/>
            <a:ext cx="10871827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180975" indent="-180975">
              <a:lnSpc>
                <a:spcPct val="120000"/>
              </a:lnSpc>
              <a:buFont typeface="Wingdings" panose="05000000000000000000" pitchFamily="2" charset="2"/>
              <a:buChar char="ü"/>
              <a:tabLst>
                <a:tab pos="180975" algn="l"/>
              </a:tabLst>
            </a:pPr>
            <a:r>
              <a:rPr lang="en-US" altLang="ko-KR" sz="1400" b="1" dirty="0">
                <a:solidFill>
                  <a:srgbClr val="FF0000"/>
                </a:solidFill>
                <a:latin typeface="+mn-lt"/>
                <a:ea typeface="맑은 고딕" panose="020B0503020000020004" pitchFamily="50" charset="-127"/>
              </a:rPr>
              <a:t>Bowl Feeder</a:t>
            </a:r>
            <a:r>
              <a:rPr lang="ko-KR" altLang="en-US" sz="1400" b="1" dirty="0">
                <a:solidFill>
                  <a:srgbClr val="FF0000"/>
                </a:solidFill>
                <a:latin typeface="+mn-lt"/>
                <a:ea typeface="맑은 고딕" panose="020B0503020000020004" pitchFamily="50" charset="-127"/>
              </a:rPr>
              <a:t>의 제품 이송레일에 </a:t>
            </a:r>
            <a:r>
              <a:rPr lang="en-US" altLang="ko-KR" sz="1400" b="1" dirty="0">
                <a:solidFill>
                  <a:srgbClr val="FF0000"/>
                </a:solidFill>
                <a:latin typeface="+mn-lt"/>
                <a:ea typeface="맑은 고딕" panose="020B0503020000020004" pitchFamily="50" charset="-127"/>
              </a:rPr>
              <a:t>Brush</a:t>
            </a:r>
            <a:r>
              <a:rPr lang="ko-KR" altLang="en-US" sz="1400" b="1" dirty="0">
                <a:solidFill>
                  <a:srgbClr val="FF0000"/>
                </a:solidFill>
                <a:latin typeface="+mn-lt"/>
                <a:ea typeface="맑은 고딕" panose="020B0503020000020004" pitchFamily="50" charset="-127"/>
              </a:rPr>
              <a:t> 결품 발생</a:t>
            </a:r>
            <a:r>
              <a:rPr lang="en-US" altLang="ko-KR" sz="1400" b="1" dirty="0">
                <a:solidFill>
                  <a:srgbClr val="FF0000"/>
                </a:solidFill>
                <a:latin typeface="+mn-lt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→ Brush </a:t>
            </a:r>
            <a:r>
              <a:rPr lang="ko-KR" altLang="en-US" sz="1400" b="1" dirty="0">
                <a:latin typeface="+mn-lt"/>
                <a:ea typeface="맑은 고딕" panose="020B0503020000020004" pitchFamily="50" charset="-127"/>
              </a:rPr>
              <a:t>간에 유격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+mn-lt"/>
                <a:ea typeface="맑은 고딕" panose="020B0503020000020004" pitchFamily="50" charset="-127"/>
              </a:rPr>
              <a:t>틈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latin typeface="+mn-lt"/>
                <a:ea typeface="맑은 고딕" panose="020B0503020000020004" pitchFamily="50" charset="-127"/>
              </a:rPr>
              <a:t>이 발생 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→  Brush</a:t>
            </a:r>
            <a:r>
              <a:rPr lang="ko-KR" altLang="en-US" sz="1400" b="1" dirty="0">
                <a:latin typeface="+mn-lt"/>
                <a:ea typeface="맑은 고딕" panose="020B0503020000020004" pitchFamily="50" charset="-127"/>
              </a:rPr>
              <a:t>가 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180</a:t>
            </a:r>
            <a:r>
              <a:rPr lang="ko-KR" altLang="en-US" sz="1400" b="1" dirty="0">
                <a:latin typeface="+mn-lt"/>
                <a:ea typeface="맑은 고딕" panose="020B0503020000020004" pitchFamily="50" charset="-127"/>
              </a:rPr>
              <a:t>도 회전하여 투입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 R </a:t>
            </a:r>
            <a:r>
              <a:rPr lang="ko-KR" altLang="en-US" sz="1400" b="1" dirty="0">
                <a:latin typeface="+mn-lt"/>
                <a:ea typeface="맑은 고딕" panose="020B0503020000020004" pitchFamily="50" charset="-127"/>
              </a:rPr>
              <a:t>역방향 가공 불량이 발생함</a:t>
            </a:r>
            <a:r>
              <a:rPr lang="en-US" altLang="ko-KR" sz="1400" b="1" dirty="0">
                <a:latin typeface="+mn-lt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" name="TextBox 18">
            <a:extLst>
              <a:ext uri="{FF2B5EF4-FFF2-40B4-BE49-F238E27FC236}">
                <a16:creationId xmlns:a16="http://schemas.microsoft.com/office/drawing/2014/main" id="{F336CB3C-38D2-B5DA-E73C-E3CF489AA6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R 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역방향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(2/6)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7DEB539F-8804-E0DD-850E-9A9BEA28A918}"/>
              </a:ext>
            </a:extLst>
          </p:cNvPr>
          <p:cNvGrpSpPr/>
          <p:nvPr/>
        </p:nvGrpSpPr>
        <p:grpSpPr>
          <a:xfrm>
            <a:off x="957151" y="4411318"/>
            <a:ext cx="2373881" cy="2000671"/>
            <a:chOff x="475893" y="4020609"/>
            <a:chExt cx="2533101" cy="237434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0E2E7C6-463E-3ABC-3F81-78ACF7F46BED}"/>
                </a:ext>
              </a:extLst>
            </p:cNvPr>
            <p:cNvGrpSpPr/>
            <p:nvPr/>
          </p:nvGrpSpPr>
          <p:grpSpPr>
            <a:xfrm>
              <a:off x="475893" y="4020609"/>
              <a:ext cx="2533101" cy="2374344"/>
              <a:chOff x="2043342" y="3993611"/>
              <a:chExt cx="2303910" cy="2251180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E08521FB-17D1-1618-F9D6-6D2151A50B3C}"/>
                  </a:ext>
                </a:extLst>
              </p:cNvPr>
              <p:cNvGrpSpPr/>
              <p:nvPr/>
            </p:nvGrpSpPr>
            <p:grpSpPr>
              <a:xfrm rot="5400000">
                <a:off x="2069707" y="3967246"/>
                <a:ext cx="2251180" cy="2303910"/>
                <a:chOff x="1207740" y="4047890"/>
                <a:chExt cx="2234900" cy="2132215"/>
              </a:xfrm>
            </p:grpSpPr>
            <p:pic>
              <p:nvPicPr>
                <p:cNvPr id="19" name="그림 18">
                  <a:extLst>
                    <a:ext uri="{FF2B5EF4-FFF2-40B4-BE49-F238E27FC236}">
                      <a16:creationId xmlns:a16="http://schemas.microsoft.com/office/drawing/2014/main" id="{EE1544EE-6662-5DFA-0AFD-57472E5248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07740" y="4047890"/>
                  <a:ext cx="2234900" cy="2132215"/>
                </a:xfrm>
                <a:prstGeom prst="rect">
                  <a:avLst/>
                </a:prstGeom>
              </p:spPr>
            </p:pic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9C55B3A1-4378-DF1F-66A3-4AF3D1C4D69C}"/>
                    </a:ext>
                  </a:extLst>
                </p:cNvPr>
                <p:cNvSpPr/>
                <p:nvPr/>
              </p:nvSpPr>
              <p:spPr>
                <a:xfrm>
                  <a:off x="2358736" y="5113998"/>
                  <a:ext cx="676110" cy="620489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/>
                </a:p>
              </p:txBody>
            </p:sp>
          </p:grp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A4EA2396-9DF8-9132-F657-6ED82653087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86276" y="5575998"/>
                <a:ext cx="3" cy="25200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786EFBD5-6B77-C3EB-EA75-CAD13422356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83634" y="5904658"/>
                <a:ext cx="3" cy="25200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화살표 연결선 32">
                <a:extLst>
                  <a:ext uri="{FF2B5EF4-FFF2-40B4-BE49-F238E27FC236}">
                    <a16:creationId xmlns:a16="http://schemas.microsoft.com/office/drawing/2014/main" id="{9983A185-A503-3CAA-2D0A-DCA94C6558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045430" y="5471398"/>
                <a:ext cx="260942" cy="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직선 화살표 연결선 139">
                <a:extLst>
                  <a:ext uri="{FF2B5EF4-FFF2-40B4-BE49-F238E27FC236}">
                    <a16:creationId xmlns:a16="http://schemas.microsoft.com/office/drawing/2014/main" id="{770E58F0-DCED-06B0-EC98-9BA837663C5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409908" y="5471398"/>
                <a:ext cx="260942" cy="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328CAC-9867-DDE6-2603-1A109C8FA4E2}"/>
                </a:ext>
              </a:extLst>
            </p:cNvPr>
            <p:cNvSpPr txBox="1"/>
            <p:nvPr/>
          </p:nvSpPr>
          <p:spPr>
            <a:xfrm>
              <a:off x="2111670" y="5193971"/>
              <a:ext cx="689950" cy="27027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Bowl Feeder</a:t>
              </a:r>
              <a:r>
                <a:rPr lang="ko-KR" altLang="en-US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이송</a:t>
              </a:r>
              <a:r>
                <a:rPr lang="en-US" altLang="ko-KR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5E82351-64A0-6116-BF1F-94EC890F2EAA}"/>
                </a:ext>
              </a:extLst>
            </p:cNvPr>
            <p:cNvSpPr txBox="1"/>
            <p:nvPr/>
          </p:nvSpPr>
          <p:spPr>
            <a:xfrm>
              <a:off x="1542812" y="6033967"/>
              <a:ext cx="688582" cy="27027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 가공기 이송 레일</a:t>
              </a: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38D35C27-A234-E151-E4EE-077BBD6DCA41}"/>
              </a:ext>
            </a:extLst>
          </p:cNvPr>
          <p:cNvGrpSpPr/>
          <p:nvPr/>
        </p:nvGrpSpPr>
        <p:grpSpPr>
          <a:xfrm>
            <a:off x="3969076" y="4162425"/>
            <a:ext cx="3572163" cy="2317278"/>
            <a:chOff x="3369006" y="4100635"/>
            <a:chExt cx="4106818" cy="2327419"/>
          </a:xfrm>
        </p:grpSpPr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146C828B-FB4F-3DEE-7FBE-BA9354393EF5}"/>
                </a:ext>
              </a:extLst>
            </p:cNvPr>
            <p:cNvGrpSpPr/>
            <p:nvPr/>
          </p:nvGrpSpPr>
          <p:grpSpPr>
            <a:xfrm>
              <a:off x="5480247" y="4437502"/>
              <a:ext cx="1973931" cy="1958544"/>
              <a:chOff x="5480247" y="4437502"/>
              <a:chExt cx="1973931" cy="1958544"/>
            </a:xfrm>
          </p:grpSpPr>
          <p:sp>
            <p:nvSpPr>
              <p:cNvPr id="48" name="AutoShape 216">
                <a:extLst>
                  <a:ext uri="{FF2B5EF4-FFF2-40B4-BE49-F238E27FC236}">
                    <a16:creationId xmlns:a16="http://schemas.microsoft.com/office/drawing/2014/main" id="{19823DEA-357D-B423-7811-8F9D4C3CE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5767164" y="4623924"/>
                <a:ext cx="1568189" cy="239517"/>
              </a:xfrm>
              <a:prstGeom prst="cube">
                <a:avLst>
                  <a:gd name="adj" fmla="val 46954"/>
                </a:avLst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0" name="원통 91">
                <a:extLst>
                  <a:ext uri="{FF2B5EF4-FFF2-40B4-BE49-F238E27FC236}">
                    <a16:creationId xmlns:a16="http://schemas.microsoft.com/office/drawing/2014/main" id="{F0FEC3DF-5401-28AF-BB56-810CCE722BF6}"/>
                  </a:ext>
                </a:extLst>
              </p:cNvPr>
              <p:cNvSpPr/>
              <p:nvPr/>
            </p:nvSpPr>
            <p:spPr bwMode="auto">
              <a:xfrm rot="2743493" flipH="1">
                <a:off x="6277877" y="4900490"/>
                <a:ext cx="34971" cy="308017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51" name="원통 91">
                <a:extLst>
                  <a:ext uri="{FF2B5EF4-FFF2-40B4-BE49-F238E27FC236}">
                    <a16:creationId xmlns:a16="http://schemas.microsoft.com/office/drawing/2014/main" id="{474E624B-7BD2-818E-A9DD-AAFFBFD94C89}"/>
                  </a:ext>
                </a:extLst>
              </p:cNvPr>
              <p:cNvSpPr/>
              <p:nvPr/>
            </p:nvSpPr>
            <p:spPr bwMode="auto">
              <a:xfrm rot="2743493" flipH="1">
                <a:off x="6496219" y="4898083"/>
                <a:ext cx="34971" cy="312829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52" name="AutoShape 31">
                <a:extLst>
                  <a:ext uri="{FF2B5EF4-FFF2-40B4-BE49-F238E27FC236}">
                    <a16:creationId xmlns:a16="http://schemas.microsoft.com/office/drawing/2014/main" id="{E670233C-FBF3-9276-CA20-57668E1EC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6496072" y="4776854"/>
                <a:ext cx="163019" cy="234111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5" name="AutoShape 31">
                <a:extLst>
                  <a:ext uri="{FF2B5EF4-FFF2-40B4-BE49-F238E27FC236}">
                    <a16:creationId xmlns:a16="http://schemas.microsoft.com/office/drawing/2014/main" id="{8E404584-56BC-6621-2CEB-D392654DD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6284019" y="4776854"/>
                <a:ext cx="163019" cy="234111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9" name="AutoShape 216">
                <a:extLst>
                  <a:ext uri="{FF2B5EF4-FFF2-40B4-BE49-F238E27FC236}">
                    <a16:creationId xmlns:a16="http://schemas.microsoft.com/office/drawing/2014/main" id="{6275CBCD-77FD-676C-03F8-73CA90D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6255344" y="4987016"/>
                <a:ext cx="1056823" cy="217390"/>
              </a:xfrm>
              <a:prstGeom prst="cube">
                <a:avLst>
                  <a:gd name="adj" fmla="val 23245"/>
                </a:avLst>
              </a:prstGeom>
              <a:solidFill>
                <a:srgbClr val="595959">
                  <a:alpha val="89018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0" name="AutoShape 216">
                <a:extLst>
                  <a:ext uri="{FF2B5EF4-FFF2-40B4-BE49-F238E27FC236}">
                    <a16:creationId xmlns:a16="http://schemas.microsoft.com/office/drawing/2014/main" id="{8C0C7A54-2240-D21E-182D-590751BC5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6098435" y="4996237"/>
                <a:ext cx="192151" cy="726236"/>
              </a:xfrm>
              <a:prstGeom prst="cube">
                <a:avLst>
                  <a:gd name="adj" fmla="val 25537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1" name="AutoShape 31">
                <a:extLst>
                  <a:ext uri="{FF2B5EF4-FFF2-40B4-BE49-F238E27FC236}">
                    <a16:creationId xmlns:a16="http://schemas.microsoft.com/office/drawing/2014/main" id="{B730C815-37CD-6DED-B616-9C6352BD7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962864">
                <a:off x="6027383" y="4796348"/>
                <a:ext cx="193063" cy="245084"/>
              </a:xfrm>
              <a:prstGeom prst="cube">
                <a:avLst>
                  <a:gd name="adj" fmla="val 33898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96" name="원통 91">
                <a:extLst>
                  <a:ext uri="{FF2B5EF4-FFF2-40B4-BE49-F238E27FC236}">
                    <a16:creationId xmlns:a16="http://schemas.microsoft.com/office/drawing/2014/main" id="{5592F39F-3303-3C9E-F286-3183C748DA9E}"/>
                  </a:ext>
                </a:extLst>
              </p:cNvPr>
              <p:cNvSpPr/>
              <p:nvPr/>
            </p:nvSpPr>
            <p:spPr bwMode="auto">
              <a:xfrm rot="2743493" flipH="1">
                <a:off x="5933794" y="5129643"/>
                <a:ext cx="34972" cy="351331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23" name="AutoShape 31">
                <a:extLst>
                  <a:ext uri="{FF2B5EF4-FFF2-40B4-BE49-F238E27FC236}">
                    <a16:creationId xmlns:a16="http://schemas.microsoft.com/office/drawing/2014/main" id="{B1EBFDC0-70EC-7F2D-299B-225299582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49716" y="4997103"/>
                <a:ext cx="182255" cy="255287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5" name="원통 91">
                <a:extLst>
                  <a:ext uri="{FF2B5EF4-FFF2-40B4-BE49-F238E27FC236}">
                    <a16:creationId xmlns:a16="http://schemas.microsoft.com/office/drawing/2014/main" id="{041CAAE4-A3A5-B1F1-D776-94077B991700}"/>
                  </a:ext>
                </a:extLst>
              </p:cNvPr>
              <p:cNvSpPr/>
              <p:nvPr/>
            </p:nvSpPr>
            <p:spPr bwMode="auto">
              <a:xfrm rot="2743493" flipH="1">
                <a:off x="5933794" y="5329480"/>
                <a:ext cx="34972" cy="351331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86" name="AutoShape 31">
                <a:extLst>
                  <a:ext uri="{FF2B5EF4-FFF2-40B4-BE49-F238E27FC236}">
                    <a16:creationId xmlns:a16="http://schemas.microsoft.com/office/drawing/2014/main" id="{FD152B0F-2C7F-A81B-9322-68325F066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49716" y="5204974"/>
                <a:ext cx="182255" cy="253599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72" name="원통 91">
                <a:extLst>
                  <a:ext uri="{FF2B5EF4-FFF2-40B4-BE49-F238E27FC236}">
                    <a16:creationId xmlns:a16="http://schemas.microsoft.com/office/drawing/2014/main" id="{849F05CF-20AD-F3C4-6141-4AAF16F4B2CE}"/>
                  </a:ext>
                </a:extLst>
              </p:cNvPr>
              <p:cNvSpPr/>
              <p:nvPr/>
            </p:nvSpPr>
            <p:spPr bwMode="auto">
              <a:xfrm rot="2743493" flipH="1">
                <a:off x="5933794" y="5544304"/>
                <a:ext cx="34971" cy="351331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74" name="AutoShape 31">
                <a:extLst>
                  <a:ext uri="{FF2B5EF4-FFF2-40B4-BE49-F238E27FC236}">
                    <a16:creationId xmlns:a16="http://schemas.microsoft.com/office/drawing/2014/main" id="{583FD3FC-2530-1B2A-49A6-14F98381F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49716" y="5412844"/>
                <a:ext cx="182255" cy="253599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5" name="AutoShape 216">
                <a:extLst>
                  <a:ext uri="{FF2B5EF4-FFF2-40B4-BE49-F238E27FC236}">
                    <a16:creationId xmlns:a16="http://schemas.microsoft.com/office/drawing/2014/main" id="{E522F27E-245B-617D-6890-76DAD1236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5783025" y="4745391"/>
                <a:ext cx="198265" cy="1023029"/>
              </a:xfrm>
              <a:prstGeom prst="cube">
                <a:avLst>
                  <a:gd name="adj" fmla="val 53662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6" name="폭발 1 207">
                <a:extLst>
                  <a:ext uri="{FF2B5EF4-FFF2-40B4-BE49-F238E27FC236}">
                    <a16:creationId xmlns:a16="http://schemas.microsoft.com/office/drawing/2014/main" id="{928A2B9E-5113-A4DF-8B46-124B2E8864DB}"/>
                  </a:ext>
                </a:extLst>
              </p:cNvPr>
              <p:cNvSpPr/>
              <p:nvPr/>
            </p:nvSpPr>
            <p:spPr bwMode="auto">
              <a:xfrm>
                <a:off x="5727488" y="4437502"/>
                <a:ext cx="789293" cy="83931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67" name="원호 66">
                <a:extLst>
                  <a:ext uri="{FF2B5EF4-FFF2-40B4-BE49-F238E27FC236}">
                    <a16:creationId xmlns:a16="http://schemas.microsoft.com/office/drawing/2014/main" id="{EA23359C-B7ED-43EF-6141-B6DF9DA9386F}"/>
                  </a:ext>
                </a:extLst>
              </p:cNvPr>
              <p:cNvSpPr/>
              <p:nvPr/>
            </p:nvSpPr>
            <p:spPr bwMode="auto">
              <a:xfrm rot="20309156" flipH="1">
                <a:off x="5875219" y="4603202"/>
                <a:ext cx="401718" cy="422965"/>
              </a:xfrm>
              <a:prstGeom prst="arc">
                <a:avLst>
                  <a:gd name="adj1" fmla="val 12997280"/>
                  <a:gd name="adj2" fmla="val 1397191"/>
                </a:avLst>
              </a:prstGeom>
              <a:noFill/>
              <a:ln w="7620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cxnSp>
            <p:nvCxnSpPr>
              <p:cNvPr id="68" name="직선 화살표 연결선 67">
                <a:extLst>
                  <a:ext uri="{FF2B5EF4-FFF2-40B4-BE49-F238E27FC236}">
                    <a16:creationId xmlns:a16="http://schemas.microsoft.com/office/drawing/2014/main" id="{1D0ABDFD-FC46-2F88-EFFF-7C26A34FC5B5}"/>
                  </a:ext>
                </a:extLst>
              </p:cNvPr>
              <p:cNvCxnSpPr/>
              <p:nvPr/>
            </p:nvCxnSpPr>
            <p:spPr bwMode="auto">
              <a:xfrm flipH="1">
                <a:off x="6549019" y="4899624"/>
                <a:ext cx="245451" cy="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화살표 연결선 68">
                <a:extLst>
                  <a:ext uri="{FF2B5EF4-FFF2-40B4-BE49-F238E27FC236}">
                    <a16:creationId xmlns:a16="http://schemas.microsoft.com/office/drawing/2014/main" id="{88EFC7C3-8AD4-DC11-C0E6-34C4F5D4D37D}"/>
                  </a:ext>
                </a:extLst>
              </p:cNvPr>
              <p:cNvCxnSpPr/>
              <p:nvPr/>
            </p:nvCxnSpPr>
            <p:spPr bwMode="auto">
              <a:xfrm flipH="1">
                <a:off x="6086689" y="5211701"/>
                <a:ext cx="0" cy="264924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51E1E23-C65B-348A-8159-7A7D9FA55188}"/>
                  </a:ext>
                </a:extLst>
              </p:cNvPr>
              <p:cNvSpPr txBox="1"/>
              <p:nvPr/>
            </p:nvSpPr>
            <p:spPr>
              <a:xfrm>
                <a:off x="5480247" y="5839624"/>
                <a:ext cx="1973931" cy="556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결품 → 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 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간에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유격 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틈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발생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 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 180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도 회전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en-US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투입됨</a:t>
                </a:r>
                <a:r>
                  <a:rPr lang="en-US" altLang="ko-KR" sz="10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1C2308E1-2562-5121-244F-C71B2150C966}"/>
                </a:ext>
              </a:extLst>
            </p:cNvPr>
            <p:cNvGrpSpPr/>
            <p:nvPr/>
          </p:nvGrpSpPr>
          <p:grpSpPr>
            <a:xfrm>
              <a:off x="3479849" y="4614839"/>
              <a:ext cx="2046237" cy="1731387"/>
              <a:chOff x="3479849" y="4614839"/>
              <a:chExt cx="2046237" cy="1731387"/>
            </a:xfrm>
          </p:grpSpPr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0D4F928C-F61D-8782-4BC1-985ACA167E6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536060" y="5132325"/>
                <a:ext cx="691110" cy="18440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09FD55D3-F3BF-FB46-0942-3AD9EFAC43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5400000">
                <a:off x="3697790" y="4396898"/>
                <a:ext cx="1610356" cy="2046237"/>
              </a:xfrm>
              <a:prstGeom prst="rect">
                <a:avLst/>
              </a:prstGeom>
            </p:spPr>
          </p:pic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F178C6D9-C446-8624-0845-65F62E17E68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5309626" y="5259092"/>
                <a:ext cx="3" cy="308908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49317058-AA02-B5AD-7954-CFF4110A92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 flipV="1">
                <a:off x="3812672" y="5812823"/>
                <a:ext cx="400615" cy="29471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B1D611C2-56E9-7F3B-3665-5AAEB1C4504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865791" y="5259092"/>
                <a:ext cx="3" cy="308908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F1B6F14A-5D11-5746-3B89-7089E6B97DB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485741" y="5259092"/>
                <a:ext cx="3" cy="308908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077BFF40-CF12-B4B0-FC1F-7E9CBE20506A}"/>
                  </a:ext>
                </a:extLst>
              </p:cNvPr>
              <p:cNvSpPr/>
              <p:nvPr/>
            </p:nvSpPr>
            <p:spPr>
              <a:xfrm rot="5400000">
                <a:off x="3692629" y="4856910"/>
                <a:ext cx="927353" cy="977045"/>
              </a:xfrm>
              <a:prstGeom prst="ellipse">
                <a:avLst/>
              </a:prstGeom>
              <a:noFill/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71832E-91A8-BCB5-4F99-DC3BAED79861}"/>
                  </a:ext>
                </a:extLst>
              </p:cNvPr>
              <p:cNvSpPr txBox="1"/>
              <p:nvPr/>
            </p:nvSpPr>
            <p:spPr>
              <a:xfrm>
                <a:off x="4693034" y="4794104"/>
                <a:ext cx="749980" cy="28257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18000" rIns="0" bIns="18000" rtlCol="0" anchor="ctr" anchorCtr="0">
                <a:spAutoFit/>
              </a:bodyPr>
              <a:lstStyle/>
              <a:p>
                <a:pPr algn="ctr"/>
                <a:r>
                  <a:rPr lang="en-US" altLang="ko-KR" sz="8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Bowl feeder</a:t>
                </a:r>
                <a:r>
                  <a:rPr lang="ko-KR" altLang="en-US" sz="8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공급기 레일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F2EB38-583F-CDC7-BA46-89B85A653C90}"/>
                  </a:ext>
                </a:extLst>
              </p:cNvPr>
              <p:cNvSpPr txBox="1"/>
              <p:nvPr/>
            </p:nvSpPr>
            <p:spPr>
              <a:xfrm>
                <a:off x="4299585" y="6063653"/>
                <a:ext cx="681221" cy="28257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18000" rIns="0" bIns="18000" rtlCol="0" anchor="ctr" anchorCtr="0">
                <a:spAutoFit/>
              </a:bodyPr>
              <a:lstStyle/>
              <a:p>
                <a:pPr algn="ctr"/>
                <a:r>
                  <a:rPr lang="ko-KR" altLang="en-US" sz="8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자동 가공기 이송 레일</a:t>
                </a:r>
              </a:p>
            </p:txBody>
          </p:sp>
          <p:sp>
            <p:nvSpPr>
              <p:cNvPr id="27" name="화살표: 아래쪽 26">
                <a:extLst>
                  <a:ext uri="{FF2B5EF4-FFF2-40B4-BE49-F238E27FC236}">
                    <a16:creationId xmlns:a16="http://schemas.microsoft.com/office/drawing/2014/main" id="{FF783047-C183-3B3E-46CA-177DF39074EC}"/>
                  </a:ext>
                </a:extLst>
              </p:cNvPr>
              <p:cNvSpPr/>
              <p:nvPr/>
            </p:nvSpPr>
            <p:spPr>
              <a:xfrm rot="18440032">
                <a:off x="3652746" y="4792579"/>
                <a:ext cx="205764" cy="340117"/>
              </a:xfrm>
              <a:prstGeom prst="downArrow">
                <a:avLst>
                  <a:gd name="adj1" fmla="val 50000"/>
                  <a:gd name="adj2" fmla="val 90007"/>
                </a:avLst>
              </a:prstGeom>
              <a:solidFill>
                <a:srgbClr val="FF0000"/>
              </a:solidFill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12" name="원호 211">
                <a:extLst>
                  <a:ext uri="{FF2B5EF4-FFF2-40B4-BE49-F238E27FC236}">
                    <a16:creationId xmlns:a16="http://schemas.microsoft.com/office/drawing/2014/main" id="{BD9C7FC4-D0AC-E737-98D3-E3F6D1480927}"/>
                  </a:ext>
                </a:extLst>
              </p:cNvPr>
              <p:cNvSpPr/>
              <p:nvPr/>
            </p:nvSpPr>
            <p:spPr bwMode="auto">
              <a:xfrm rot="19933302" flipH="1">
                <a:off x="3998916" y="4921708"/>
                <a:ext cx="401718" cy="422965"/>
              </a:xfrm>
              <a:prstGeom prst="arc">
                <a:avLst>
                  <a:gd name="adj1" fmla="val 12997280"/>
                  <a:gd name="adj2" fmla="val 1397191"/>
                </a:avLst>
              </a:prstGeom>
              <a:noFill/>
              <a:ln w="7620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</p:grpSp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364347F6-AE8F-A860-E27E-4F5F14DD726E}"/>
                </a:ext>
              </a:extLst>
            </p:cNvPr>
            <p:cNvSpPr/>
            <p:nvPr/>
          </p:nvSpPr>
          <p:spPr>
            <a:xfrm>
              <a:off x="3369006" y="4296219"/>
              <a:ext cx="4106818" cy="2131835"/>
            </a:xfrm>
            <a:prstGeom prst="roundRect">
              <a:avLst>
                <a:gd name="adj" fmla="val 3793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모서리가 둥근 직사각형 87">
              <a:extLst>
                <a:ext uri="{FF2B5EF4-FFF2-40B4-BE49-F238E27FC236}">
                  <a16:creationId xmlns:a16="http://schemas.microsoft.com/office/drawing/2014/main" id="{42113556-209A-172E-624F-E1C1221380A1}"/>
                </a:ext>
              </a:extLst>
            </p:cNvPr>
            <p:cNvSpPr/>
            <p:nvPr/>
          </p:nvSpPr>
          <p:spPr>
            <a:xfrm>
              <a:off x="5001893" y="4100635"/>
              <a:ext cx="900000" cy="288000"/>
            </a:xfrm>
            <a:prstGeom prst="roundRect">
              <a:avLst/>
            </a:prstGeom>
            <a:gradFill rotWithShape="1">
              <a:gsLst>
                <a:gs pos="0">
                  <a:srgbClr val="F79646">
                    <a:tint val="50000"/>
                    <a:satMod val="300000"/>
                  </a:srgbClr>
                </a:gs>
                <a:gs pos="35000">
                  <a:srgbClr val="F79646">
                    <a:tint val="37000"/>
                    <a:satMod val="300000"/>
                  </a:srgbClr>
                </a:gs>
                <a:gs pos="100000">
                  <a:srgbClr val="F7964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F7964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0" tIns="0" rIns="0" bIns="0" rtlCol="0" anchor="ctr" anchorCtr="1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불량품</a:t>
              </a: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62F73908-7110-47EE-B5B8-BAF5B809F4C2}"/>
              </a:ext>
            </a:extLst>
          </p:cNvPr>
          <p:cNvGrpSpPr/>
          <p:nvPr/>
        </p:nvGrpSpPr>
        <p:grpSpPr>
          <a:xfrm>
            <a:off x="7881063" y="4162527"/>
            <a:ext cx="3572163" cy="2317278"/>
            <a:chOff x="7696755" y="4100635"/>
            <a:chExt cx="4106818" cy="2327419"/>
          </a:xfrm>
        </p:grpSpPr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2C756FCF-0770-F4A1-6CE1-AF42844004E5}"/>
                </a:ext>
              </a:extLst>
            </p:cNvPr>
            <p:cNvSpPr txBox="1"/>
            <p:nvPr/>
          </p:nvSpPr>
          <p:spPr>
            <a:xfrm>
              <a:off x="9850557" y="5843838"/>
              <a:ext cx="1920678" cy="556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Brush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연속 공급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 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Brush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간에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유격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틈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없음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→ 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Brush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공급 양호</a:t>
              </a:r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10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863DD4D-C1FF-9B4D-3199-7BEB168A07EC}"/>
                </a:ext>
              </a:extLst>
            </p:cNvPr>
            <p:cNvGrpSpPr/>
            <p:nvPr/>
          </p:nvGrpSpPr>
          <p:grpSpPr>
            <a:xfrm>
              <a:off x="9951874" y="4420216"/>
              <a:ext cx="1704379" cy="1272778"/>
              <a:chOff x="9951874" y="4420216"/>
              <a:chExt cx="1704379" cy="1272778"/>
            </a:xfrm>
          </p:grpSpPr>
          <p:sp>
            <p:nvSpPr>
              <p:cNvPr id="126" name="AutoShape 216">
                <a:extLst>
                  <a:ext uri="{FF2B5EF4-FFF2-40B4-BE49-F238E27FC236}">
                    <a16:creationId xmlns:a16="http://schemas.microsoft.com/office/drawing/2014/main" id="{8361C255-9BEA-F9AC-94D2-903A911ED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10125202" y="4596894"/>
                <a:ext cx="1523975" cy="219256"/>
              </a:xfrm>
              <a:prstGeom prst="cube">
                <a:avLst>
                  <a:gd name="adj" fmla="val 46954"/>
                </a:avLst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28" name="원통 91">
                <a:extLst>
                  <a:ext uri="{FF2B5EF4-FFF2-40B4-BE49-F238E27FC236}">
                    <a16:creationId xmlns:a16="http://schemas.microsoft.com/office/drawing/2014/main" id="{CDA6979D-9EEF-F004-2674-6B544D3B50E4}"/>
                  </a:ext>
                </a:extLst>
              </p:cNvPr>
              <p:cNvSpPr/>
              <p:nvPr/>
            </p:nvSpPr>
            <p:spPr bwMode="auto">
              <a:xfrm rot="2743493" flipH="1">
                <a:off x="10605772" y="4839193"/>
                <a:ext cx="33318" cy="335836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33" name="원통 91">
                <a:extLst>
                  <a:ext uri="{FF2B5EF4-FFF2-40B4-BE49-F238E27FC236}">
                    <a16:creationId xmlns:a16="http://schemas.microsoft.com/office/drawing/2014/main" id="{5B3F0CA7-CB49-BBD7-6D39-386875260E88}"/>
                  </a:ext>
                </a:extLst>
              </p:cNvPr>
              <p:cNvSpPr/>
              <p:nvPr/>
            </p:nvSpPr>
            <p:spPr bwMode="auto">
              <a:xfrm rot="2743493" flipH="1">
                <a:off x="10621574" y="4836569"/>
                <a:ext cx="33318" cy="341083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39" name="원통 91">
                <a:extLst>
                  <a:ext uri="{FF2B5EF4-FFF2-40B4-BE49-F238E27FC236}">
                    <a16:creationId xmlns:a16="http://schemas.microsoft.com/office/drawing/2014/main" id="{341B1A28-D4C5-8407-C866-0B2459486A0B}"/>
                  </a:ext>
                </a:extLst>
              </p:cNvPr>
              <p:cNvSpPr/>
              <p:nvPr/>
            </p:nvSpPr>
            <p:spPr bwMode="auto">
              <a:xfrm rot="2743493" flipH="1">
                <a:off x="10755383" y="4839193"/>
                <a:ext cx="33318" cy="335836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42" name="원통 91">
                <a:extLst>
                  <a:ext uri="{FF2B5EF4-FFF2-40B4-BE49-F238E27FC236}">
                    <a16:creationId xmlns:a16="http://schemas.microsoft.com/office/drawing/2014/main" id="{825AF8A8-A859-6FAB-2B02-B50790BDADA8}"/>
                  </a:ext>
                </a:extLst>
              </p:cNvPr>
              <p:cNvSpPr/>
              <p:nvPr/>
            </p:nvSpPr>
            <p:spPr bwMode="auto">
              <a:xfrm rot="2743493" flipH="1">
                <a:off x="10876074" y="4839193"/>
                <a:ext cx="33318" cy="335836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44" name="원통 91">
                <a:extLst>
                  <a:ext uri="{FF2B5EF4-FFF2-40B4-BE49-F238E27FC236}">
                    <a16:creationId xmlns:a16="http://schemas.microsoft.com/office/drawing/2014/main" id="{5B9FADB5-EE9E-0ACC-5E0E-92B61556C904}"/>
                  </a:ext>
                </a:extLst>
              </p:cNvPr>
              <p:cNvSpPr/>
              <p:nvPr/>
            </p:nvSpPr>
            <p:spPr bwMode="auto">
              <a:xfrm rot="2743493" flipH="1">
                <a:off x="11036122" y="4841817"/>
                <a:ext cx="33318" cy="330589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52" name="원통 91">
                <a:extLst>
                  <a:ext uri="{FF2B5EF4-FFF2-40B4-BE49-F238E27FC236}">
                    <a16:creationId xmlns:a16="http://schemas.microsoft.com/office/drawing/2014/main" id="{7EA54E1C-8B95-7A3A-58FC-F5011216A6C3}"/>
                  </a:ext>
                </a:extLst>
              </p:cNvPr>
              <p:cNvSpPr/>
              <p:nvPr/>
            </p:nvSpPr>
            <p:spPr bwMode="auto">
              <a:xfrm rot="2743493" flipH="1">
                <a:off x="11175178" y="4839193"/>
                <a:ext cx="33318" cy="335836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53" name="원통 91">
                <a:extLst>
                  <a:ext uri="{FF2B5EF4-FFF2-40B4-BE49-F238E27FC236}">
                    <a16:creationId xmlns:a16="http://schemas.microsoft.com/office/drawing/2014/main" id="{6EA3ABB3-3247-B0CE-9A46-24FA24DE66B3}"/>
                  </a:ext>
                </a:extLst>
              </p:cNvPr>
              <p:cNvSpPr/>
              <p:nvPr/>
            </p:nvSpPr>
            <p:spPr bwMode="auto">
              <a:xfrm rot="2743493" flipH="1">
                <a:off x="11319483" y="4836569"/>
                <a:ext cx="33318" cy="341083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56" name="원통 91">
                <a:extLst>
                  <a:ext uri="{FF2B5EF4-FFF2-40B4-BE49-F238E27FC236}">
                    <a16:creationId xmlns:a16="http://schemas.microsoft.com/office/drawing/2014/main" id="{9D191DCB-E05B-0A2B-BDB7-A92C3B57DF8F}"/>
                  </a:ext>
                </a:extLst>
              </p:cNvPr>
              <p:cNvSpPr/>
              <p:nvPr/>
            </p:nvSpPr>
            <p:spPr bwMode="auto">
              <a:xfrm rot="2743493" flipH="1">
                <a:off x="11466412" y="4836569"/>
                <a:ext cx="33318" cy="341083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62" name="AutoShape 31">
                <a:extLst>
                  <a:ext uri="{FF2B5EF4-FFF2-40B4-BE49-F238E27FC236}">
                    <a16:creationId xmlns:a16="http://schemas.microsoft.com/office/drawing/2014/main" id="{438B111D-0BD8-4AFB-7EF2-CB7A0E9D5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1467666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3" name="AutoShape 31">
                <a:extLst>
                  <a:ext uri="{FF2B5EF4-FFF2-40B4-BE49-F238E27FC236}">
                    <a16:creationId xmlns:a16="http://schemas.microsoft.com/office/drawing/2014/main" id="{C5050CEE-F3C1-46DC-1A8C-BAA6E0C79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1322468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4" name="AutoShape 31">
                <a:extLst>
                  <a:ext uri="{FF2B5EF4-FFF2-40B4-BE49-F238E27FC236}">
                    <a16:creationId xmlns:a16="http://schemas.microsoft.com/office/drawing/2014/main" id="{139A449A-4E2D-8A1D-D0E7-F4821CF316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1179773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7" name="AutoShape 31">
                <a:extLst>
                  <a:ext uri="{FF2B5EF4-FFF2-40B4-BE49-F238E27FC236}">
                    <a16:creationId xmlns:a16="http://schemas.microsoft.com/office/drawing/2014/main" id="{AEC5E117-C7B0-6A67-ADF6-4BB23BCC0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1032072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1" name="AutoShape 31">
                <a:extLst>
                  <a:ext uri="{FF2B5EF4-FFF2-40B4-BE49-F238E27FC236}">
                    <a16:creationId xmlns:a16="http://schemas.microsoft.com/office/drawing/2014/main" id="{77BFC30A-FF93-0D60-193F-832735ECB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886874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2" name="AutoShape 31">
                <a:extLst>
                  <a:ext uri="{FF2B5EF4-FFF2-40B4-BE49-F238E27FC236}">
                    <a16:creationId xmlns:a16="http://schemas.microsoft.com/office/drawing/2014/main" id="{2AE0F093-3BDB-D99A-4B16-8963F7657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754192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3" name="AutoShape 31">
                <a:extLst>
                  <a:ext uri="{FF2B5EF4-FFF2-40B4-BE49-F238E27FC236}">
                    <a16:creationId xmlns:a16="http://schemas.microsoft.com/office/drawing/2014/main" id="{7B7C4CCA-E855-1767-E906-B36CCFEF3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619007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4" name="AutoShape 31">
                <a:extLst>
                  <a:ext uri="{FF2B5EF4-FFF2-40B4-BE49-F238E27FC236}">
                    <a16:creationId xmlns:a16="http://schemas.microsoft.com/office/drawing/2014/main" id="{56552951-0134-EC3F-477F-511C13ADB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476312" y="4742594"/>
                <a:ext cx="177742" cy="223043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5" name="AutoShape 216">
                <a:extLst>
                  <a:ext uri="{FF2B5EF4-FFF2-40B4-BE49-F238E27FC236}">
                    <a16:creationId xmlns:a16="http://schemas.microsoft.com/office/drawing/2014/main" id="{8B8BAEBB-36CC-824C-33B4-F081F1048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10652660" y="4950784"/>
                <a:ext cx="1003593" cy="207112"/>
              </a:xfrm>
              <a:prstGeom prst="cube">
                <a:avLst>
                  <a:gd name="adj" fmla="val 23245"/>
                </a:avLst>
              </a:prstGeom>
              <a:solidFill>
                <a:srgbClr val="595959">
                  <a:alpha val="89018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6" name="AutoShape 216">
                <a:extLst>
                  <a:ext uri="{FF2B5EF4-FFF2-40B4-BE49-F238E27FC236}">
                    <a16:creationId xmlns:a16="http://schemas.microsoft.com/office/drawing/2014/main" id="{DBEA5691-B145-528D-33A5-576FCE9FD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10486394" y="4963561"/>
                <a:ext cx="209505" cy="691901"/>
              </a:xfrm>
              <a:prstGeom prst="cube">
                <a:avLst>
                  <a:gd name="adj" fmla="val 25537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83" name="AutoShape 31">
                <a:extLst>
                  <a:ext uri="{FF2B5EF4-FFF2-40B4-BE49-F238E27FC236}">
                    <a16:creationId xmlns:a16="http://schemas.microsoft.com/office/drawing/2014/main" id="{F2FCE755-8C06-3069-57E8-03C49A255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307064" y="4754243"/>
                <a:ext cx="198717" cy="247343"/>
              </a:xfrm>
              <a:prstGeom prst="cube">
                <a:avLst>
                  <a:gd name="adj" fmla="val 33898"/>
                </a:avLst>
              </a:prstGeom>
              <a:solidFill>
                <a:srgbClr val="66FF3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92" name="원통 91">
                <a:extLst>
                  <a:ext uri="{FF2B5EF4-FFF2-40B4-BE49-F238E27FC236}">
                    <a16:creationId xmlns:a16="http://schemas.microsoft.com/office/drawing/2014/main" id="{D3686E2D-4048-AA9C-9CD4-779F5FA66F8A}"/>
                  </a:ext>
                </a:extLst>
              </p:cNvPr>
              <p:cNvSpPr/>
              <p:nvPr/>
            </p:nvSpPr>
            <p:spPr bwMode="auto">
              <a:xfrm rot="2743493" flipH="1">
                <a:off x="10309298" y="5076885"/>
                <a:ext cx="33318" cy="383065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93" name="AutoShape 31">
                <a:extLst>
                  <a:ext uri="{FF2B5EF4-FFF2-40B4-BE49-F238E27FC236}">
                    <a16:creationId xmlns:a16="http://schemas.microsoft.com/office/drawing/2014/main" id="{EF896C43-BB84-6E40-D8D6-CFA739FA31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324251" y="4963304"/>
                <a:ext cx="198717" cy="243217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90" name="원통 91">
                <a:extLst>
                  <a:ext uri="{FF2B5EF4-FFF2-40B4-BE49-F238E27FC236}">
                    <a16:creationId xmlns:a16="http://schemas.microsoft.com/office/drawing/2014/main" id="{80935546-EB6D-799D-4FCA-E6CB495BCED7}"/>
                  </a:ext>
                </a:extLst>
              </p:cNvPr>
              <p:cNvSpPr/>
              <p:nvPr/>
            </p:nvSpPr>
            <p:spPr bwMode="auto">
              <a:xfrm rot="2743493" flipH="1">
                <a:off x="10309298" y="5267271"/>
                <a:ext cx="33318" cy="383065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91" name="AutoShape 31">
                <a:extLst>
                  <a:ext uri="{FF2B5EF4-FFF2-40B4-BE49-F238E27FC236}">
                    <a16:creationId xmlns:a16="http://schemas.microsoft.com/office/drawing/2014/main" id="{D9E82521-F334-FE4D-8C6E-48DD84C0A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324251" y="5161345"/>
                <a:ext cx="198717" cy="241609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88" name="원통 91">
                <a:extLst>
                  <a:ext uri="{FF2B5EF4-FFF2-40B4-BE49-F238E27FC236}">
                    <a16:creationId xmlns:a16="http://schemas.microsoft.com/office/drawing/2014/main" id="{FD491926-B6B4-2627-D8D1-A63DCE4D5D5B}"/>
                  </a:ext>
                </a:extLst>
              </p:cNvPr>
              <p:cNvSpPr/>
              <p:nvPr/>
            </p:nvSpPr>
            <p:spPr bwMode="auto">
              <a:xfrm rot="2743493" flipH="1">
                <a:off x="10309298" y="5471941"/>
                <a:ext cx="33318" cy="383065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89" name="AutoShape 31">
                <a:extLst>
                  <a:ext uri="{FF2B5EF4-FFF2-40B4-BE49-F238E27FC236}">
                    <a16:creationId xmlns:a16="http://schemas.microsoft.com/office/drawing/2014/main" id="{1211BC41-68FD-03E6-00B8-4E95B27A8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0324251" y="5353674"/>
                <a:ext cx="198717" cy="241609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8" name="AutoShape 216">
                <a:extLst>
                  <a:ext uri="{FF2B5EF4-FFF2-40B4-BE49-F238E27FC236}">
                    <a16:creationId xmlns:a16="http://schemas.microsoft.com/office/drawing/2014/main" id="{CAF4292F-854A-53C3-AEE6-E44A4787A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10129092" y="4718332"/>
                <a:ext cx="216172" cy="974662"/>
              </a:xfrm>
              <a:prstGeom prst="cube">
                <a:avLst>
                  <a:gd name="adj" fmla="val 53662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79" name="폭발 1 207">
                <a:extLst>
                  <a:ext uri="{FF2B5EF4-FFF2-40B4-BE49-F238E27FC236}">
                    <a16:creationId xmlns:a16="http://schemas.microsoft.com/office/drawing/2014/main" id="{E68497FB-7E9A-D62C-5E4F-1F240777CD19}"/>
                  </a:ext>
                </a:extLst>
              </p:cNvPr>
              <p:cNvSpPr/>
              <p:nvPr/>
            </p:nvSpPr>
            <p:spPr bwMode="auto">
              <a:xfrm>
                <a:off x="9951874" y="4420216"/>
                <a:ext cx="860580" cy="727866"/>
              </a:xfrm>
              <a:prstGeom prst="ellipse">
                <a:avLst/>
              </a:prstGeom>
              <a:noFill/>
              <a:ln w="127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cxnSp>
            <p:nvCxnSpPr>
              <p:cNvPr id="180" name="직선 화살표 연결선 179">
                <a:extLst>
                  <a:ext uri="{FF2B5EF4-FFF2-40B4-BE49-F238E27FC236}">
                    <a16:creationId xmlns:a16="http://schemas.microsoft.com/office/drawing/2014/main" id="{D94DF77E-5E75-13B2-9410-65D3498CF150}"/>
                  </a:ext>
                </a:extLst>
              </p:cNvPr>
              <p:cNvCxnSpPr/>
              <p:nvPr/>
            </p:nvCxnSpPr>
            <p:spPr bwMode="auto">
              <a:xfrm flipH="1">
                <a:off x="11357516" y="4833382"/>
                <a:ext cx="272867" cy="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직선 화살표 연결선 180">
                <a:extLst>
                  <a:ext uri="{FF2B5EF4-FFF2-40B4-BE49-F238E27FC236}">
                    <a16:creationId xmlns:a16="http://schemas.microsoft.com/office/drawing/2014/main" id="{D24ECE8E-F0B7-C0E2-A4D5-73A217F2F434}"/>
                  </a:ext>
                </a:extLst>
              </p:cNvPr>
              <p:cNvCxnSpPr/>
              <p:nvPr/>
            </p:nvCxnSpPr>
            <p:spPr bwMode="auto">
              <a:xfrm flipH="1">
                <a:off x="10840259" y="4833382"/>
                <a:ext cx="267620" cy="0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직선 화살표 연결선 181">
                <a:extLst>
                  <a:ext uri="{FF2B5EF4-FFF2-40B4-BE49-F238E27FC236}">
                    <a16:creationId xmlns:a16="http://schemas.microsoft.com/office/drawing/2014/main" id="{FFD7438B-E024-E1EE-2E7A-E0460189E074}"/>
                  </a:ext>
                </a:extLst>
              </p:cNvPr>
              <p:cNvCxnSpPr/>
              <p:nvPr/>
            </p:nvCxnSpPr>
            <p:spPr bwMode="auto">
              <a:xfrm flipH="1">
                <a:off x="10467414" y="5213471"/>
                <a:ext cx="0" cy="252399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화살표: 아래쪽 199">
                <a:extLst>
                  <a:ext uri="{FF2B5EF4-FFF2-40B4-BE49-F238E27FC236}">
                    <a16:creationId xmlns:a16="http://schemas.microsoft.com/office/drawing/2014/main" id="{9EB030BD-27C7-110C-22F5-7A1FF23C49F2}"/>
                  </a:ext>
                </a:extLst>
              </p:cNvPr>
              <p:cNvSpPr/>
              <p:nvPr/>
            </p:nvSpPr>
            <p:spPr>
              <a:xfrm>
                <a:off x="10149776" y="4756481"/>
                <a:ext cx="161478" cy="319723"/>
              </a:xfrm>
              <a:prstGeom prst="downArrow">
                <a:avLst>
                  <a:gd name="adj1" fmla="val 50000"/>
                  <a:gd name="adj2" fmla="val 90007"/>
                </a:avLst>
              </a:prstGeom>
              <a:solidFill>
                <a:srgbClr val="0000FF"/>
              </a:solidFill>
              <a:ln w="19050">
                <a:solidFill>
                  <a:srgbClr val="66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23AFFB9E-9E7D-B312-DD70-00B2D2A958FF}"/>
                </a:ext>
              </a:extLst>
            </p:cNvPr>
            <p:cNvGrpSpPr/>
            <p:nvPr/>
          </p:nvGrpSpPr>
          <p:grpSpPr>
            <a:xfrm>
              <a:off x="7856990" y="4614025"/>
              <a:ext cx="2142623" cy="1705132"/>
              <a:chOff x="7856990" y="4614025"/>
              <a:chExt cx="2142623" cy="1705132"/>
            </a:xfrm>
          </p:grpSpPr>
          <p:pic>
            <p:nvPicPr>
              <p:cNvPr id="194" name="그림 193">
                <a:extLst>
                  <a:ext uri="{FF2B5EF4-FFF2-40B4-BE49-F238E27FC236}">
                    <a16:creationId xmlns:a16="http://schemas.microsoft.com/office/drawing/2014/main" id="{4D0326F2-063B-828D-1BE8-3E5695B9AC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l="12572" t="18065" r="3646"/>
              <a:stretch/>
            </p:blipFill>
            <p:spPr>
              <a:xfrm rot="10800000">
                <a:off x="7856990" y="4614025"/>
                <a:ext cx="2070691" cy="1606845"/>
              </a:xfrm>
              <a:prstGeom prst="rect">
                <a:avLst/>
              </a:prstGeom>
            </p:spPr>
          </p:pic>
          <p:cxnSp>
            <p:nvCxnSpPr>
              <p:cNvPr id="203" name="직선 화살표 연결선 202">
                <a:extLst>
                  <a:ext uri="{FF2B5EF4-FFF2-40B4-BE49-F238E27FC236}">
                    <a16:creationId xmlns:a16="http://schemas.microsoft.com/office/drawing/2014/main" id="{5376E705-1200-8B84-D242-4EDD8FCC1F3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9835100" y="5152978"/>
                <a:ext cx="3" cy="329022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직선 화살표 연결선 203">
                <a:extLst>
                  <a:ext uri="{FF2B5EF4-FFF2-40B4-BE49-F238E27FC236}">
                    <a16:creationId xmlns:a16="http://schemas.microsoft.com/office/drawing/2014/main" id="{08A231EE-C061-0161-143B-19CC9B139AF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 flipV="1">
                <a:off x="8330121" y="5571777"/>
                <a:ext cx="324001" cy="3139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직선 화살표 연결선 204">
                <a:extLst>
                  <a:ext uri="{FF2B5EF4-FFF2-40B4-BE49-F238E27FC236}">
                    <a16:creationId xmlns:a16="http://schemas.microsoft.com/office/drawing/2014/main" id="{74CE7009-E0E8-C016-6FDD-AC6F05FDE17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9362366" y="5152978"/>
                <a:ext cx="3" cy="329022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직선 화살표 연결선 205">
                <a:extLst>
                  <a:ext uri="{FF2B5EF4-FFF2-40B4-BE49-F238E27FC236}">
                    <a16:creationId xmlns:a16="http://schemas.microsoft.com/office/drawing/2014/main" id="{6CB081CF-F262-42C3-2964-0861F9863F4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8957569" y="5152978"/>
                <a:ext cx="3" cy="329022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436D21AB-F256-E64D-779A-795A3E02BF16}"/>
                  </a:ext>
                </a:extLst>
              </p:cNvPr>
              <p:cNvSpPr/>
              <p:nvPr/>
            </p:nvSpPr>
            <p:spPr>
              <a:xfrm rot="5400000">
                <a:off x="8122832" y="4714418"/>
                <a:ext cx="952756" cy="1045745"/>
              </a:xfrm>
              <a:prstGeom prst="ellipse">
                <a:avLst/>
              </a:prstGeom>
              <a:noFill/>
              <a:ln w="635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/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BF0FF4F-93BD-6737-1DF0-595D65FEA0A6}"/>
                  </a:ext>
                </a:extLst>
              </p:cNvPr>
              <p:cNvSpPr txBox="1"/>
              <p:nvPr/>
            </p:nvSpPr>
            <p:spPr>
              <a:xfrm>
                <a:off x="9137173" y="4781854"/>
                <a:ext cx="745722" cy="28257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18000" rIns="0" bIns="18000" rtlCol="0" anchor="ctr" anchorCtr="0">
                <a:spAutoFit/>
              </a:bodyPr>
              <a:lstStyle/>
              <a:p>
                <a:pPr algn="ctr"/>
                <a:r>
                  <a:rPr lang="en-US" altLang="ko-KR" sz="8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Bowl feeder</a:t>
                </a:r>
                <a:r>
                  <a:rPr lang="ko-KR" altLang="en-US" sz="8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공급기 레일</a:t>
                </a: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DD9C3272-1C59-BE9F-51E2-B7D0F365A0D9}"/>
                  </a:ext>
                </a:extLst>
              </p:cNvPr>
              <p:cNvSpPr txBox="1"/>
              <p:nvPr/>
            </p:nvSpPr>
            <p:spPr>
              <a:xfrm>
                <a:off x="8740205" y="6036584"/>
                <a:ext cx="643251" cy="28257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18000" rIns="0" bIns="18000" rtlCol="0" anchor="ctr" anchorCtr="0">
                <a:spAutoFit/>
              </a:bodyPr>
              <a:lstStyle/>
              <a:p>
                <a:pPr algn="ctr"/>
                <a:r>
                  <a:rPr lang="ko-KR" altLang="en-US" sz="8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자동 가공기 이송 레일</a:t>
                </a:r>
              </a:p>
            </p:txBody>
          </p:sp>
          <p:sp>
            <p:nvSpPr>
              <p:cNvPr id="199" name="화살표: 아래쪽 198">
                <a:extLst>
                  <a:ext uri="{FF2B5EF4-FFF2-40B4-BE49-F238E27FC236}">
                    <a16:creationId xmlns:a16="http://schemas.microsoft.com/office/drawing/2014/main" id="{CE0AF694-CFCD-0AC3-BA58-65DA3E38D844}"/>
                  </a:ext>
                </a:extLst>
              </p:cNvPr>
              <p:cNvSpPr/>
              <p:nvPr/>
            </p:nvSpPr>
            <p:spPr>
              <a:xfrm rot="17929658">
                <a:off x="8152402" y="4756315"/>
                <a:ext cx="205764" cy="340117"/>
              </a:xfrm>
              <a:prstGeom prst="downArrow">
                <a:avLst>
                  <a:gd name="adj1" fmla="val 50000"/>
                  <a:gd name="adj2" fmla="val 90007"/>
                </a:avLst>
              </a:prstGeom>
              <a:solidFill>
                <a:srgbClr val="0000FF"/>
              </a:solidFill>
              <a:ln w="19050">
                <a:solidFill>
                  <a:srgbClr val="66FF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7" name="직선 화살표 연결선 216">
                <a:extLst>
                  <a:ext uri="{FF2B5EF4-FFF2-40B4-BE49-F238E27FC236}">
                    <a16:creationId xmlns:a16="http://schemas.microsoft.com/office/drawing/2014/main" id="{0BFA4F25-EA88-D3E5-BDFD-7C898BC162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 flipV="1">
                <a:off x="8401252" y="5972327"/>
                <a:ext cx="324000" cy="3139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" name="사각형: 둥근 모서리 217">
              <a:extLst>
                <a:ext uri="{FF2B5EF4-FFF2-40B4-BE49-F238E27FC236}">
                  <a16:creationId xmlns:a16="http://schemas.microsoft.com/office/drawing/2014/main" id="{05C8A152-0760-C420-BB7F-6BCC6C9101B8}"/>
                </a:ext>
              </a:extLst>
            </p:cNvPr>
            <p:cNvSpPr/>
            <p:nvPr/>
          </p:nvSpPr>
          <p:spPr>
            <a:xfrm>
              <a:off x="7696755" y="4296219"/>
              <a:ext cx="4106818" cy="2131835"/>
            </a:xfrm>
            <a:prstGeom prst="roundRect">
              <a:avLst>
                <a:gd name="adj" fmla="val 3793"/>
              </a:avLst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1" name="모서리가 둥근 직사각형 79">
              <a:extLst>
                <a:ext uri="{FF2B5EF4-FFF2-40B4-BE49-F238E27FC236}">
                  <a16:creationId xmlns:a16="http://schemas.microsoft.com/office/drawing/2014/main" id="{2C4D53C9-6B44-29AF-0433-50EC4BB6065F}"/>
                </a:ext>
              </a:extLst>
            </p:cNvPr>
            <p:cNvSpPr/>
            <p:nvPr/>
          </p:nvSpPr>
          <p:spPr>
            <a:xfrm>
              <a:off x="9198277" y="4100635"/>
              <a:ext cx="900000" cy="288000"/>
            </a:xfrm>
            <a:prstGeom prst="round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lIns="0" tIns="0" rIns="0" bIns="0" anchor="ctr" anchorCtr="1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200" b="1" kern="0" dirty="0">
                  <a:solidFill>
                    <a:sysClr val="windowText" lastClr="000000"/>
                  </a:solidFill>
                  <a:cs typeface="Arial" panose="020B0604020202020204" pitchFamily="34" charset="0"/>
                </a:rPr>
                <a:t>양호품</a:t>
              </a:r>
              <a:endParaRPr kumimoji="0" lang="ko-KR" altLang="en-US" sz="1200" b="1" kern="0" dirty="0">
                <a:solidFill>
                  <a:sysClr val="windowText" lastClr="000000"/>
                </a:solidFill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288587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8893B184-9A6A-F082-9632-37E2F953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49655"/>
              </p:ext>
            </p:extLst>
          </p:nvPr>
        </p:nvGraphicFramePr>
        <p:xfrm>
          <a:off x="227013" y="624088"/>
          <a:ext cx="11764516" cy="6081512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3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752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E6C0D14-2433-E685-35A1-4709F199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274653"/>
              </p:ext>
            </p:extLst>
          </p:nvPr>
        </p:nvGraphicFramePr>
        <p:xfrm>
          <a:off x="550863" y="1249362"/>
          <a:ext cx="11125202" cy="5196260"/>
        </p:xfrm>
        <a:graphic>
          <a:graphicData uri="http://schemas.openxmlformats.org/drawingml/2006/table">
            <a:tbl>
              <a:tblPr/>
              <a:tblGrid>
                <a:gridCol w="1814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5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07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9062" marR="99062" marT="45711" marB="4571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 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Whys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Corrective Action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시정조치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챔피언</a:t>
                      </a: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완료 기한</a:t>
                      </a: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462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왜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?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 제조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공정은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결함의 생산을 예방하지 못하였는가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?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발생 원인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Quality Assurance </a:t>
                      </a:r>
                    </a:p>
                  </a:txBody>
                  <a:tcPr marL="99062" marR="99062" marT="45711" marB="4571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M1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역방향 가공 불량 발생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M2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Bowl Feeder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이송레일에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결품이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발생함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prstClr val="black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M3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Bowl Feeder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이송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간에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유격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틈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 발생함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이송레일에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결품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감지 센서 설치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 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전종길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2025.07.31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6000" marR="0"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M4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Brush</a:t>
                      </a:r>
                      <a:r>
                        <a:rPr lang="ko-KR" altLang="en-US" sz="1200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가 </a:t>
                      </a:r>
                      <a:r>
                        <a:rPr lang="en-US" altLang="ko-KR" sz="1200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180</a:t>
                      </a:r>
                      <a:r>
                        <a:rPr lang="ko-KR" altLang="en-US" sz="1200" dirty="0">
                          <a:solidFill>
                            <a:prstClr val="black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도 회전하여 투입됨</a:t>
                      </a: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0" marR="39000" marT="46794" marB="4679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3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M5</a:t>
                      </a:r>
                    </a:p>
                  </a:txBody>
                  <a:tcPr marL="97507" marR="97507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88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M-RC</a:t>
                      </a:r>
                    </a:p>
                  </a:txBody>
                  <a:tcPr marL="39002" marR="39002" marT="46789" marB="46789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Bowl Feeder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이송레일에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결품이 발생함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이송레일에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결품 감지 센서 설치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→ 결품 발생 시 설비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AUTO-STOP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시킴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전종길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ts val="5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8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1143000" indent="-228600" algn="l" defTabSz="914400" rtl="0" eaLnBrk="1" latinLnBrk="0" hangingPunct="1">
                        <a:spcBef>
                          <a:spcPts val="6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20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marL="1600200" indent="-228600" algn="l" defTabSz="914400" rtl="0" eaLnBrk="1" latinLnBrk="0" hangingPunct="1">
                        <a:spcBef>
                          <a:spcPts val="40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4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marL="2057400" indent="-228600" algn="l" defTabSz="914400" rtl="0" eaLnBrk="1" latinLnBrk="0" hangingPunct="1">
                        <a:spcBef>
                          <a:spcPts val="350"/>
                        </a:spcBef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anose="02020603050405020304" pitchFamily="18" charset="0"/>
                        <a:defRPr sz="120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2025.07.31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002" marR="39002" marT="46789" marB="4678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8">
            <a:extLst>
              <a:ext uri="{FF2B5EF4-FFF2-40B4-BE49-F238E27FC236}">
                <a16:creationId xmlns:a16="http://schemas.microsoft.com/office/drawing/2014/main" id="{A1B115F2-27F9-7013-B6B2-27A3ADF3D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R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역방향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(3/6)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492045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8893B184-9A6A-F082-9632-37E2F953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649492"/>
              </p:ext>
            </p:extLst>
          </p:nvPr>
        </p:nvGraphicFramePr>
        <p:xfrm>
          <a:off x="227013" y="624088"/>
          <a:ext cx="11764516" cy="6081512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3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752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2715737-DFF9-E6F0-7CDC-0189BBBAC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140684"/>
              </p:ext>
            </p:extLst>
          </p:nvPr>
        </p:nvGraphicFramePr>
        <p:xfrm>
          <a:off x="550863" y="1274092"/>
          <a:ext cx="11125198" cy="5247297"/>
        </p:xfrm>
        <a:graphic>
          <a:graphicData uri="http://schemas.openxmlformats.org/drawingml/2006/table">
            <a:tbl>
              <a:tblPr firstRow="1" bandRow="1"/>
              <a:tblGrid>
                <a:gridCol w="1814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8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9351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4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>
                    <a:lnL w="12700" cmpd="sng">
                      <a:noFill/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5 </a:t>
                      </a: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Whys</a:t>
                      </a:r>
                      <a:endParaRPr kumimoji="1" lang="en-US" altLang="ko-KR" sz="1400" b="0" dirty="0">
                        <a:solidFill>
                          <a:srgbClr val="FF33CC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Corrective Action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시정조치</a:t>
                      </a:r>
                      <a:r>
                        <a:rPr kumimoji="1" lang="en-US" altLang="ko-KR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kumimoji="1" lang="en-US" altLang="ko-KR" sz="1400" b="0" dirty="0">
                        <a:solidFill>
                          <a:srgbClr val="FF33CC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챔피언</a:t>
                      </a: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완료 기한</a:t>
                      </a:r>
                      <a:endParaRPr kumimoji="1" lang="ko-KR" altLang="en-US" sz="1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991">
                <a:tc row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Why  defect  was not able to be found during final inspection?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endParaRPr kumimoji="1" lang="en-US" altLang="ko-K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왜</a:t>
                      </a: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?</a:t>
                      </a: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결함이 유출되는 것을 막지 못했는가</a:t>
                      </a: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?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Spill cause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kumimoji="1"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유출 원인</a:t>
                      </a:r>
                      <a:r>
                        <a:rPr kumimoji="1"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endParaRPr kumimoji="1" lang="en-US" altLang="ko-KR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  <a:p>
                      <a:pPr algn="ctr" latinLnBrk="1">
                        <a:buClrTx/>
                        <a:buSzTx/>
                        <a:buFont typeface="Wingdings" pitchFamily="2" charset="2"/>
                        <a:buNone/>
                      </a:pPr>
                      <a:r>
                        <a:rPr lang="en-US" altLang="ko-KR" sz="1400" b="1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Quality Control</a:t>
                      </a:r>
                      <a:endParaRPr lang="ko-KR" altLang="en-US" sz="1400" b="1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9062" marR="99062" marT="45731" marB="45731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Q1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BRUSH R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역방향 가공 불량이 유출됨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Bowl feeder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이송 레일에서 가공 레일로 제품이 이동하는 과정에서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180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도 틀어짐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9002" marR="39002" marT="46804" marB="46804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2" marR="39002" marT="46804" marB="46804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>
                        <a:lnSpc>
                          <a:spcPts val="1400"/>
                        </a:lnSpc>
                      </a:pP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45724" marB="45724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6000" marR="0" marT="45724" marB="45724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Q2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?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제품이 가공레일로 이동하는 과정에서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180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도 틀어지는가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  <a:p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Bowl feeder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 이송 레일에 제품이 원활하게 공급되지 않아서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0" marR="39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이송레일에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Brush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결품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감지 센서 설치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결품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발생 시 설비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AUTO-STOP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시킴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 err="1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전종길</a:t>
                      </a:r>
                      <a:endParaRPr lang="en-US" altLang="ko-KR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2025.07.31</a:t>
                      </a:r>
                      <a:endParaRPr lang="ko-KR" altLang="en-US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Q3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9000" marR="39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Q4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Q5</a:t>
                      </a:r>
                    </a:p>
                  </a:txBody>
                  <a:tcPr marL="97507" marR="97507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4" marR="78004" marT="46809" marB="46809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299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Q-RC</a:t>
                      </a:r>
                    </a:p>
                  </a:txBody>
                  <a:tcPr marL="58503" marR="58503" marT="46809" marB="46809" anchor="ctr" anchorCtr="1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39000" marR="39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78000" marR="78000" marT="46801" marB="46801" anchor="ctr" horzOverflow="overflow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latin typeface="Arial" panose="020B0604020202020204" pitchFamily="34" charset="0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91436" marR="91436" marT="45732" marB="45732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8">
            <a:extLst>
              <a:ext uri="{FF2B5EF4-FFF2-40B4-BE49-F238E27FC236}">
                <a16:creationId xmlns:a16="http://schemas.microsoft.com/office/drawing/2014/main" id="{82B6534A-B20D-4A87-E48A-774D82547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R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역방향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(4/6)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9618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4">
            <a:extLst>
              <a:ext uri="{FF2B5EF4-FFF2-40B4-BE49-F238E27FC236}">
                <a16:creationId xmlns:a16="http://schemas.microsoft.com/office/drawing/2014/main" id="{8893B184-9A6A-F082-9632-37E2F953B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81690"/>
              </p:ext>
            </p:extLst>
          </p:nvPr>
        </p:nvGraphicFramePr>
        <p:xfrm>
          <a:off x="227013" y="624088"/>
          <a:ext cx="11764516" cy="6108406"/>
        </p:xfrm>
        <a:graphic>
          <a:graphicData uri="http://schemas.openxmlformats.org/drawingml/2006/table">
            <a:tbl>
              <a:tblPr/>
              <a:tblGrid>
                <a:gridCol w="8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2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근본 개선대책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2646">
                <a:tc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35985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C8D53EF2-D9D8-AE0A-D8C9-EBEFFD15A676}"/>
              </a:ext>
            </a:extLst>
          </p:cNvPr>
          <p:cNvSpPr txBox="1"/>
          <p:nvPr/>
        </p:nvSpPr>
        <p:spPr>
          <a:xfrm>
            <a:off x="11077575" y="1332430"/>
            <a:ext cx="9425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1100" dirty="0"/>
              <a:t>2025.07.31</a:t>
            </a:r>
            <a:endParaRPr lang="ko-KR" altLang="en-US" sz="1100" dirty="0"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9A5A443D-97AE-C3F7-EF2A-489AEE6B7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R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역방향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(5/6)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5FB5EBF-17A6-D1DE-83BC-D702E959B546}"/>
              </a:ext>
            </a:extLst>
          </p:cNvPr>
          <p:cNvSpPr txBox="1"/>
          <p:nvPr/>
        </p:nvSpPr>
        <p:spPr>
          <a:xfrm>
            <a:off x="610810" y="1206817"/>
            <a:ext cx="100825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■ </a:t>
            </a:r>
            <a:r>
              <a:rPr lang="en-US" altLang="ko-KR" sz="1200" dirty="0"/>
              <a:t>Bowl Feeder</a:t>
            </a:r>
            <a:r>
              <a:rPr lang="ko-KR" altLang="en-US" sz="1200" dirty="0"/>
              <a:t>에 </a:t>
            </a:r>
            <a:r>
              <a:rPr lang="en-US" altLang="ko-KR" sz="1200" dirty="0"/>
              <a:t>Brush </a:t>
            </a:r>
            <a:r>
              <a:rPr lang="ko-KR" altLang="en-US" sz="1200" dirty="0"/>
              <a:t>결품 검출 센서 설치</a:t>
            </a:r>
          </a:p>
          <a:p>
            <a:pPr>
              <a:lnSpc>
                <a:spcPct val="100000"/>
              </a:lnSpc>
            </a:pPr>
            <a:r>
              <a:rPr lang="ko-KR" altLang="en-US" sz="1200" dirty="0"/>
              <a:t>  → </a:t>
            </a:r>
            <a:r>
              <a:rPr lang="en-US" altLang="ko-KR" sz="1200" dirty="0"/>
              <a:t>Brush </a:t>
            </a:r>
            <a:r>
              <a:rPr lang="ko-KR" altLang="en-US" sz="1200" dirty="0"/>
              <a:t>결품 시</a:t>
            </a:r>
            <a:r>
              <a:rPr lang="en-US" altLang="ko-KR" sz="1200" dirty="0"/>
              <a:t>, </a:t>
            </a:r>
            <a:r>
              <a:rPr lang="ko-KR" altLang="en-US" sz="1200" dirty="0"/>
              <a:t>가공기 작동을 </a:t>
            </a:r>
            <a:r>
              <a:rPr lang="en-US" altLang="ko-KR" sz="1200" dirty="0"/>
              <a:t>AUTO-STOP</a:t>
            </a:r>
            <a:r>
              <a:rPr lang="ko-KR" altLang="en-US" sz="1200" dirty="0"/>
              <a:t> 시킴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  </a:t>
            </a:r>
            <a:r>
              <a:rPr lang="en-US" altLang="ko-KR" sz="1200" dirty="0"/>
              <a:t>  </a:t>
            </a:r>
            <a:r>
              <a:rPr lang="ko-KR" altLang="en-US" sz="1200" dirty="0"/>
              <a:t>개선 전</a:t>
            </a:r>
            <a:r>
              <a:rPr lang="en-US" altLang="ko-KR" sz="1200" dirty="0"/>
              <a:t>) </a:t>
            </a:r>
            <a:r>
              <a:rPr lang="ko-KR" altLang="en-US" sz="1200" dirty="0"/>
              <a:t>이송레일에 </a:t>
            </a:r>
            <a:r>
              <a:rPr lang="en-US" altLang="ko-KR" sz="1200" dirty="0"/>
              <a:t>Brush </a:t>
            </a:r>
            <a:r>
              <a:rPr lang="ko-KR" altLang="en-US" sz="1200" dirty="0"/>
              <a:t>결품 발생 → </a:t>
            </a:r>
            <a:r>
              <a:rPr lang="en-US" altLang="ko-KR" sz="1200" dirty="0"/>
              <a:t>Brush </a:t>
            </a:r>
            <a:r>
              <a:rPr lang="ko-KR" altLang="en-US" sz="1200" dirty="0"/>
              <a:t>간에 유격</a:t>
            </a:r>
            <a:r>
              <a:rPr lang="en-US" altLang="ko-KR" sz="1200" dirty="0"/>
              <a:t>(</a:t>
            </a:r>
            <a:r>
              <a:rPr lang="ko-KR" altLang="en-US" sz="1200" dirty="0"/>
              <a:t>틈</a:t>
            </a:r>
            <a:r>
              <a:rPr lang="en-US" altLang="ko-KR" sz="1200" dirty="0"/>
              <a:t>)</a:t>
            </a:r>
            <a:r>
              <a:rPr lang="ko-KR" altLang="en-US" sz="1200" dirty="0"/>
              <a:t> 발생</a:t>
            </a:r>
            <a:r>
              <a:rPr lang="en-US" altLang="ko-KR" sz="1200" dirty="0"/>
              <a:t> </a:t>
            </a:r>
            <a:r>
              <a:rPr lang="ko-KR" altLang="en-US" sz="1200" dirty="0"/>
              <a:t>→ </a:t>
            </a:r>
            <a:r>
              <a:rPr lang="en-US" altLang="ko-KR" sz="1200" dirty="0"/>
              <a:t>Brush 180</a:t>
            </a:r>
            <a:r>
              <a:rPr lang="ko-KR" altLang="en-US" sz="1200" dirty="0"/>
              <a:t>도 회전 → </a:t>
            </a:r>
            <a:r>
              <a:rPr lang="en-US" altLang="ko-KR" sz="1200" dirty="0"/>
              <a:t>R </a:t>
            </a:r>
            <a:r>
              <a:rPr lang="ko-KR" altLang="en-US" sz="1200" dirty="0"/>
              <a:t>역방향 가공</a:t>
            </a:r>
            <a:r>
              <a:rPr lang="en-US" altLang="ko-KR" sz="1200" dirty="0"/>
              <a:t> </a:t>
            </a:r>
            <a:r>
              <a:rPr lang="ko-KR" altLang="en-US" sz="1200" dirty="0"/>
              <a:t>발생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en-US" altLang="ko-KR" sz="1200" dirty="0">
                <a:solidFill>
                  <a:srgbClr val="FF0000"/>
                </a:solidFill>
              </a:rPr>
              <a:t>    </a:t>
            </a:r>
            <a:r>
              <a:rPr lang="ko-KR" altLang="en-US" sz="1200" dirty="0">
                <a:solidFill>
                  <a:srgbClr val="FF0000"/>
                </a:solidFill>
              </a:rPr>
              <a:t>개선 후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</a:rPr>
              <a:t>이송레일에 </a:t>
            </a:r>
            <a:r>
              <a:rPr lang="en-US" altLang="ko-KR" sz="1200" dirty="0">
                <a:solidFill>
                  <a:srgbClr val="FF0000"/>
                </a:solidFill>
              </a:rPr>
              <a:t>Brush </a:t>
            </a:r>
            <a:r>
              <a:rPr lang="ko-KR" altLang="en-US" sz="1200" dirty="0">
                <a:solidFill>
                  <a:srgbClr val="FF0000"/>
                </a:solidFill>
              </a:rPr>
              <a:t>결품 검출 → 장비 </a:t>
            </a:r>
            <a:r>
              <a:rPr lang="en-US" altLang="ko-KR" sz="1200" dirty="0">
                <a:solidFill>
                  <a:srgbClr val="FF0000"/>
                </a:solidFill>
              </a:rPr>
              <a:t>AUTO-STOP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grpSp>
        <p:nvGrpSpPr>
          <p:cNvPr id="462" name="그룹 461">
            <a:extLst>
              <a:ext uri="{FF2B5EF4-FFF2-40B4-BE49-F238E27FC236}">
                <a16:creationId xmlns:a16="http://schemas.microsoft.com/office/drawing/2014/main" id="{61ADB4E1-2C3E-D7D3-771F-FBF945F98F24}"/>
              </a:ext>
            </a:extLst>
          </p:cNvPr>
          <p:cNvGrpSpPr/>
          <p:nvPr/>
        </p:nvGrpSpPr>
        <p:grpSpPr>
          <a:xfrm>
            <a:off x="744048" y="2506531"/>
            <a:ext cx="4886032" cy="2677872"/>
            <a:chOff x="1280259" y="2534754"/>
            <a:chExt cx="4964522" cy="3116429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76A91D75-8CAB-02E4-CF7B-25F0DF7A9C6F}"/>
                </a:ext>
              </a:extLst>
            </p:cNvPr>
            <p:cNvGrpSpPr/>
            <p:nvPr/>
          </p:nvGrpSpPr>
          <p:grpSpPr>
            <a:xfrm>
              <a:off x="1280259" y="2946559"/>
              <a:ext cx="4964522" cy="2704624"/>
              <a:chOff x="5306438" y="2846380"/>
              <a:chExt cx="3135395" cy="1449039"/>
            </a:xfrm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00D74D02-49E2-3782-3085-4B4A9A858EA2}"/>
                  </a:ext>
                </a:extLst>
              </p:cNvPr>
              <p:cNvGrpSpPr/>
              <p:nvPr/>
            </p:nvGrpSpPr>
            <p:grpSpPr>
              <a:xfrm>
                <a:off x="5306438" y="2846380"/>
                <a:ext cx="3135395" cy="1449039"/>
                <a:chOff x="-876471" y="0"/>
                <a:chExt cx="7978596" cy="3863590"/>
              </a:xfrm>
            </p:grpSpPr>
            <p:pic>
              <p:nvPicPr>
                <p:cNvPr id="6" name="그림 5">
                  <a:extLst>
                    <a:ext uri="{FF2B5EF4-FFF2-40B4-BE49-F238E27FC236}">
                      <a16:creationId xmlns:a16="http://schemas.microsoft.com/office/drawing/2014/main" id="{47085E79-A505-F312-FBA0-81A377376C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-876471" y="0"/>
                  <a:ext cx="4267845" cy="3863590"/>
                </a:xfrm>
                <a:prstGeom prst="rect">
                  <a:avLst/>
                </a:prstGeom>
              </p:spPr>
            </p:pic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4485EFCC-A225-DB7D-3A4B-477EC7B278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r="14664"/>
                <a:stretch/>
              </p:blipFill>
              <p:spPr>
                <a:xfrm>
                  <a:off x="3739357" y="327407"/>
                  <a:ext cx="3362768" cy="3528809"/>
                </a:xfrm>
                <a:prstGeom prst="rect">
                  <a:avLst/>
                </a:prstGeom>
              </p:spPr>
            </p:pic>
            <p:sp>
              <p:nvSpPr>
                <p:cNvPr id="8" name="폭발 1 207">
                  <a:extLst>
                    <a:ext uri="{FF2B5EF4-FFF2-40B4-BE49-F238E27FC236}">
                      <a16:creationId xmlns:a16="http://schemas.microsoft.com/office/drawing/2014/main" id="{A2348AD0-D70B-A675-47CA-03B7F5423AA7}"/>
                    </a:ext>
                  </a:extLst>
                </p:cNvPr>
                <p:cNvSpPr/>
                <p:nvPr/>
              </p:nvSpPr>
              <p:spPr bwMode="auto">
                <a:xfrm rot="16200000">
                  <a:off x="1466894" y="175519"/>
                  <a:ext cx="1334822" cy="1620036"/>
                </a:xfrm>
                <a:prstGeom prst="ellipse">
                  <a:avLst/>
                </a:prstGeom>
                <a:noFill/>
                <a:ln w="19050">
                  <a:solidFill>
                    <a:srgbClr val="00FF0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dirty="0"/>
                </a:p>
              </p:txBody>
            </p:sp>
          </p:grpSp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E6A304CA-4612-6B19-D94E-8E9ED8292D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807917" y="3283108"/>
                <a:ext cx="780238" cy="116578"/>
              </a:xfrm>
              <a:prstGeom prst="straightConnector1">
                <a:avLst/>
              </a:prstGeom>
              <a:ln w="1905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F61709-B55C-95BA-9B36-11C0921682F6}"/>
                </a:ext>
              </a:extLst>
            </p:cNvPr>
            <p:cNvSpPr txBox="1"/>
            <p:nvPr/>
          </p:nvSpPr>
          <p:spPr>
            <a:xfrm>
              <a:off x="5026788" y="4543612"/>
              <a:ext cx="830489" cy="313350"/>
            </a:xfrm>
            <a:prstGeom prst="rect">
              <a:avLst/>
            </a:prstGeom>
            <a:solidFill>
              <a:srgbClr val="66FFFF"/>
            </a:solidFill>
          </p:spPr>
          <p:txBody>
            <a:bodyPr wrap="square" lIns="18000" tIns="18000" rIns="18000" bIns="18000" rtlCol="0">
              <a:spAutoFit/>
            </a:bodyPr>
            <a:lstStyle/>
            <a:p>
              <a:pPr algn="ctr"/>
              <a:r>
                <a:rPr lang="en-US" altLang="ko-KR" sz="9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Brush</a:t>
              </a:r>
              <a:r>
                <a:rPr lang="ko-KR" altLang="en-US" sz="9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결품</a:t>
              </a:r>
              <a:endParaRPr lang="en-US" altLang="ko-KR" sz="9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/>
              <a:r>
                <a:rPr lang="ko-KR" altLang="en-US" sz="9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감지 센서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D28E7E-14D6-9C1C-77E2-F03D27743A6E}"/>
                </a:ext>
              </a:extLst>
            </p:cNvPr>
            <p:cNvSpPr txBox="1"/>
            <p:nvPr/>
          </p:nvSpPr>
          <p:spPr>
            <a:xfrm>
              <a:off x="2645875" y="2534754"/>
              <a:ext cx="1059236" cy="344128"/>
            </a:xfrm>
            <a:prstGeom prst="rect">
              <a:avLst/>
            </a:prstGeom>
            <a:solidFill>
              <a:srgbClr val="66FFFF"/>
            </a:solidFill>
          </p:spPr>
          <p:txBody>
            <a:bodyPr wrap="square" lIns="18000" tIns="18000" rIns="18000" bIns="18000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Brush </a:t>
              </a:r>
              <a:r>
                <a:rPr lang="ko-KR" altLang="en-US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결품 감지 센서 설치 위치</a:t>
              </a:r>
            </a:p>
          </p:txBody>
        </p:sp>
        <p:sp>
          <p:nvSpPr>
            <p:cNvPr id="11" name="화살표: 아래쪽 10">
              <a:extLst>
                <a:ext uri="{FF2B5EF4-FFF2-40B4-BE49-F238E27FC236}">
                  <a16:creationId xmlns:a16="http://schemas.microsoft.com/office/drawing/2014/main" id="{57814A82-30BB-278A-EAE4-D61F63C63D7A}"/>
                </a:ext>
              </a:extLst>
            </p:cNvPr>
            <p:cNvSpPr/>
            <p:nvPr/>
          </p:nvSpPr>
          <p:spPr>
            <a:xfrm>
              <a:off x="3067841" y="3011544"/>
              <a:ext cx="233556" cy="423178"/>
            </a:xfrm>
            <a:prstGeom prst="downArrow">
              <a:avLst>
                <a:gd name="adj1" fmla="val 50000"/>
                <a:gd name="adj2" fmla="val 78043"/>
              </a:avLst>
            </a:prstGeom>
            <a:solidFill>
              <a:srgbClr val="0000FF"/>
            </a:solidFill>
            <a:ln w="19050">
              <a:solidFill>
                <a:srgbClr val="66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99E27A-953F-4364-4406-249BDE534004}"/>
                </a:ext>
              </a:extLst>
            </p:cNvPr>
            <p:cNvSpPr txBox="1"/>
            <p:nvPr/>
          </p:nvSpPr>
          <p:spPr>
            <a:xfrm>
              <a:off x="1866593" y="3946142"/>
              <a:ext cx="676230" cy="264409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Bowl Feeder</a:t>
              </a:r>
              <a:r>
                <a:rPr lang="ko-KR" altLang="en-US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이송</a:t>
              </a:r>
              <a:r>
                <a:rPr lang="en-US" altLang="ko-KR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레일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4A60E5-9921-B46B-C8F5-3D310D032BD7}"/>
                </a:ext>
              </a:extLst>
            </p:cNvPr>
            <p:cNvSpPr txBox="1"/>
            <p:nvPr/>
          </p:nvSpPr>
          <p:spPr>
            <a:xfrm>
              <a:off x="2677007" y="5187141"/>
              <a:ext cx="674889" cy="273353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ko-KR" altLang="en-US" sz="800" b="1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 가공기 이송 레일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8489408A-0782-7528-8FB7-7124C9FAA3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293503" y="5058536"/>
              <a:ext cx="439731" cy="50206"/>
            </a:xfrm>
            <a:prstGeom prst="straightConnector1">
              <a:avLst/>
            </a:prstGeom>
            <a:ln w="38100">
              <a:solidFill>
                <a:srgbClr val="00FF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D460DE0-F02B-BC54-8679-F2876C5109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52825" y="5015534"/>
              <a:ext cx="432504" cy="43002"/>
            </a:xfrm>
            <a:prstGeom prst="straightConnector1">
              <a:avLst/>
            </a:prstGeom>
            <a:ln w="38100">
              <a:solidFill>
                <a:srgbClr val="00FF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직선 화살표 연결선 449">
              <a:extLst>
                <a:ext uri="{FF2B5EF4-FFF2-40B4-BE49-F238E27FC236}">
                  <a16:creationId xmlns:a16="http://schemas.microsoft.com/office/drawing/2014/main" id="{9A07511D-809E-1008-AE8F-FB0252C2226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53594" y="4158726"/>
              <a:ext cx="102361" cy="299884"/>
            </a:xfrm>
            <a:prstGeom prst="straightConnector1">
              <a:avLst/>
            </a:prstGeom>
            <a:ln w="38100">
              <a:solidFill>
                <a:srgbClr val="00FF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직선 화살표 연결선 459">
              <a:extLst>
                <a:ext uri="{FF2B5EF4-FFF2-40B4-BE49-F238E27FC236}">
                  <a16:creationId xmlns:a16="http://schemas.microsoft.com/office/drawing/2014/main" id="{F318D672-568A-01EC-FCCF-28D8BBA550B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419093" y="4603950"/>
              <a:ext cx="102361" cy="299884"/>
            </a:xfrm>
            <a:prstGeom prst="straightConnector1">
              <a:avLst/>
            </a:prstGeom>
            <a:ln w="38100">
              <a:solidFill>
                <a:srgbClr val="00FF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모서리가 둥근 직사각형 85">
            <a:extLst>
              <a:ext uri="{FF2B5EF4-FFF2-40B4-BE49-F238E27FC236}">
                <a16:creationId xmlns:a16="http://schemas.microsoft.com/office/drawing/2014/main" id="{23612D87-3024-DD03-0B74-66F9D10CA419}"/>
              </a:ext>
            </a:extLst>
          </p:cNvPr>
          <p:cNvSpPr/>
          <p:nvPr/>
        </p:nvSpPr>
        <p:spPr>
          <a:xfrm>
            <a:off x="5947469" y="4744918"/>
            <a:ext cx="5006281" cy="1846382"/>
          </a:xfrm>
          <a:prstGeom prst="roundRect">
            <a:avLst>
              <a:gd name="adj" fmla="val 526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DB0C5F26-3522-3D25-B0D0-2943E546BDAD}"/>
              </a:ext>
            </a:extLst>
          </p:cNvPr>
          <p:cNvGrpSpPr/>
          <p:nvPr/>
        </p:nvGrpSpPr>
        <p:grpSpPr>
          <a:xfrm>
            <a:off x="6198492" y="5003708"/>
            <a:ext cx="1820033" cy="1388925"/>
            <a:chOff x="8722974" y="4512670"/>
            <a:chExt cx="2177300" cy="1477966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52D464E-652A-835C-0E35-87B0297AA64C}"/>
                </a:ext>
              </a:extLst>
            </p:cNvPr>
            <p:cNvGrpSpPr/>
            <p:nvPr/>
          </p:nvGrpSpPr>
          <p:grpSpPr>
            <a:xfrm>
              <a:off x="8722974" y="4603948"/>
              <a:ext cx="2177300" cy="1386688"/>
              <a:chOff x="8683457" y="3124898"/>
              <a:chExt cx="2396702" cy="1517495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F69F40AA-7D47-348F-8092-27141B041FAB}"/>
                  </a:ext>
                </a:extLst>
              </p:cNvPr>
              <p:cNvGrpSpPr/>
              <p:nvPr/>
            </p:nvGrpSpPr>
            <p:grpSpPr>
              <a:xfrm>
                <a:off x="8683457" y="3124898"/>
                <a:ext cx="2387372" cy="1499634"/>
                <a:chOff x="7757294" y="3413301"/>
                <a:chExt cx="2660136" cy="1711026"/>
              </a:xfrm>
            </p:grpSpPr>
            <p:sp>
              <p:nvSpPr>
                <p:cNvPr id="18" name="AutoShape 216">
                  <a:extLst>
                    <a:ext uri="{FF2B5EF4-FFF2-40B4-BE49-F238E27FC236}">
                      <a16:creationId xmlns:a16="http://schemas.microsoft.com/office/drawing/2014/main" id="{ED7F75F5-3842-A470-90DA-80E1E9704E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7757294" y="3413301"/>
                  <a:ext cx="2592000" cy="307512"/>
                </a:xfrm>
                <a:prstGeom prst="cube">
                  <a:avLst>
                    <a:gd name="adj" fmla="val 46954"/>
                  </a:avLst>
                </a:prstGeom>
                <a:solidFill>
                  <a:srgbClr val="7F7F7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20" name="원통 91">
                  <a:extLst>
                    <a:ext uri="{FF2B5EF4-FFF2-40B4-BE49-F238E27FC236}">
                      <a16:creationId xmlns:a16="http://schemas.microsoft.com/office/drawing/2014/main" id="{61F22E0B-4445-214C-F33E-FFF11173B6C6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9427940" y="3750827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26" name="AutoShape 31">
                  <a:extLst>
                    <a:ext uri="{FF2B5EF4-FFF2-40B4-BE49-F238E27FC236}">
                      <a16:creationId xmlns:a16="http://schemas.microsoft.com/office/drawing/2014/main" id="{65F0D5B6-8FAD-32B7-C034-17D0549BC9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9561675" y="3617647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F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28" name="원통 91">
                  <a:extLst>
                    <a:ext uri="{FF2B5EF4-FFF2-40B4-BE49-F238E27FC236}">
                      <a16:creationId xmlns:a16="http://schemas.microsoft.com/office/drawing/2014/main" id="{17325B5B-3C7B-7756-B977-7C149137C30A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311987" y="3713399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29" name="원통 91">
                  <a:extLst>
                    <a:ext uri="{FF2B5EF4-FFF2-40B4-BE49-F238E27FC236}">
                      <a16:creationId xmlns:a16="http://schemas.microsoft.com/office/drawing/2014/main" id="{D4B4E40D-07F3-74C6-8B4B-FAB4E7DC5F7F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336289" y="3710881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30" name="원통 91">
                  <a:extLst>
                    <a:ext uri="{FF2B5EF4-FFF2-40B4-BE49-F238E27FC236}">
                      <a16:creationId xmlns:a16="http://schemas.microsoft.com/office/drawing/2014/main" id="{DD5607A9-1171-BCD6-8617-68452D502896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517630" y="3713399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31" name="원통 91">
                  <a:extLst>
                    <a:ext uri="{FF2B5EF4-FFF2-40B4-BE49-F238E27FC236}">
                      <a16:creationId xmlns:a16="http://schemas.microsoft.com/office/drawing/2014/main" id="{ED2731F8-6CDC-75D7-3AE9-C6C4098F1EE6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683522" y="3713399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32" name="원통 91">
                  <a:extLst>
                    <a:ext uri="{FF2B5EF4-FFF2-40B4-BE49-F238E27FC236}">
                      <a16:creationId xmlns:a16="http://schemas.microsoft.com/office/drawing/2014/main" id="{15C55FD1-0F23-9946-ED97-8AB56AFBF41B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900928" y="3715918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33" name="원통 91">
                  <a:extLst>
                    <a:ext uri="{FF2B5EF4-FFF2-40B4-BE49-F238E27FC236}">
                      <a16:creationId xmlns:a16="http://schemas.microsoft.com/office/drawing/2014/main" id="{B3536D1A-64CA-B2CD-A47B-B8A6ACD172AB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9094645" y="3713399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34" name="원통 91">
                  <a:extLst>
                    <a:ext uri="{FF2B5EF4-FFF2-40B4-BE49-F238E27FC236}">
                      <a16:creationId xmlns:a16="http://schemas.microsoft.com/office/drawing/2014/main" id="{F7D4A1A7-54C6-CFC3-2199-E459CF3CE594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9295577" y="3710881"/>
                  <a:ext cx="46729" cy="756000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35" name="AutoShape 31">
                  <a:extLst>
                    <a:ext uri="{FF2B5EF4-FFF2-40B4-BE49-F238E27FC236}">
                      <a16:creationId xmlns:a16="http://schemas.microsoft.com/office/drawing/2014/main" id="{4695771E-1C8F-D5D2-EB8C-0712B9F347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9352156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37" name="AutoShape 31">
                  <a:extLst>
                    <a:ext uri="{FF2B5EF4-FFF2-40B4-BE49-F238E27FC236}">
                      <a16:creationId xmlns:a16="http://schemas.microsoft.com/office/drawing/2014/main" id="{80818038-A5BC-3E91-52A0-36F157C09B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9156019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38" name="AutoShape 31">
                  <a:extLst>
                    <a:ext uri="{FF2B5EF4-FFF2-40B4-BE49-F238E27FC236}">
                      <a16:creationId xmlns:a16="http://schemas.microsoft.com/office/drawing/2014/main" id="{304C62DE-7F79-41AA-66B6-0ED51C79A6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978402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39" name="AutoShape 31">
                  <a:extLst>
                    <a:ext uri="{FF2B5EF4-FFF2-40B4-BE49-F238E27FC236}">
                      <a16:creationId xmlns:a16="http://schemas.microsoft.com/office/drawing/2014/main" id="{DF4160B0-64C0-81CC-51CD-4115B6C72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804225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40" name="AutoShape 31">
                  <a:extLst>
                    <a:ext uri="{FF2B5EF4-FFF2-40B4-BE49-F238E27FC236}">
                      <a16:creationId xmlns:a16="http://schemas.microsoft.com/office/drawing/2014/main" id="{65D95059-043E-8439-B79E-6A71E0CD6A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621851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41" name="AutoShape 31">
                  <a:extLst>
                    <a:ext uri="{FF2B5EF4-FFF2-40B4-BE49-F238E27FC236}">
                      <a16:creationId xmlns:a16="http://schemas.microsoft.com/office/drawing/2014/main" id="{4A3BF531-0F6C-BB25-DFD0-9E38DEC072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436037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42" name="AutoShape 31">
                  <a:extLst>
                    <a:ext uri="{FF2B5EF4-FFF2-40B4-BE49-F238E27FC236}">
                      <a16:creationId xmlns:a16="http://schemas.microsoft.com/office/drawing/2014/main" id="{23E28979-7A8B-2F42-6415-50B368CD86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239901" y="3617649"/>
                  <a:ext cx="244309" cy="312823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cxnSp>
              <p:nvCxnSpPr>
                <p:cNvPr id="43" name="직선 화살표 연결선 42">
                  <a:extLst>
                    <a:ext uri="{FF2B5EF4-FFF2-40B4-BE49-F238E27FC236}">
                      <a16:creationId xmlns:a16="http://schemas.microsoft.com/office/drawing/2014/main" id="{269B420D-BB30-956D-54D4-1F78A9D9FE82}"/>
                    </a:ext>
                  </a:extLst>
                </p:cNvPr>
                <p:cNvCxnSpPr/>
                <p:nvPr/>
              </p:nvCxnSpPr>
              <p:spPr bwMode="auto">
                <a:xfrm flipH="1">
                  <a:off x="9026483" y="3602267"/>
                  <a:ext cx="485708" cy="0"/>
                </a:xfrm>
                <a:prstGeom prst="straightConnector1">
                  <a:avLst/>
                </a:prstGeom>
                <a:ln w="38100">
                  <a:solidFill>
                    <a:srgbClr val="00FF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>
                  <a:extLst>
                    <a:ext uri="{FF2B5EF4-FFF2-40B4-BE49-F238E27FC236}">
                      <a16:creationId xmlns:a16="http://schemas.microsoft.com/office/drawing/2014/main" id="{1063EE70-5E18-0E16-3DF4-CD2C42F15A7F}"/>
                    </a:ext>
                  </a:extLst>
                </p:cNvPr>
                <p:cNvCxnSpPr/>
                <p:nvPr/>
              </p:nvCxnSpPr>
              <p:spPr bwMode="auto">
                <a:xfrm flipH="1">
                  <a:off x="8237755" y="3602267"/>
                  <a:ext cx="485708" cy="0"/>
                </a:xfrm>
                <a:prstGeom prst="straightConnector1">
                  <a:avLst/>
                </a:prstGeom>
                <a:ln w="38100">
                  <a:solidFill>
                    <a:srgbClr val="00FF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AutoShape 31">
                  <a:extLst>
                    <a:ext uri="{FF2B5EF4-FFF2-40B4-BE49-F238E27FC236}">
                      <a16:creationId xmlns:a16="http://schemas.microsoft.com/office/drawing/2014/main" id="{E2E9AE8C-0D43-26B6-C63E-9AC273307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007267" y="3633987"/>
                  <a:ext cx="273140" cy="346904"/>
                </a:xfrm>
                <a:prstGeom prst="cube">
                  <a:avLst>
                    <a:gd name="adj" fmla="val 33898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46" name="AutoShape 216">
                  <a:extLst>
                    <a:ext uri="{FF2B5EF4-FFF2-40B4-BE49-F238E27FC236}">
                      <a16:creationId xmlns:a16="http://schemas.microsoft.com/office/drawing/2014/main" id="{7FD20883-1757-EC3D-68ED-790651CD4F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8468589" y="3877019"/>
                  <a:ext cx="1908000" cy="290479"/>
                </a:xfrm>
                <a:prstGeom prst="cube">
                  <a:avLst>
                    <a:gd name="adj" fmla="val 23245"/>
                  </a:avLst>
                </a:prstGeom>
                <a:solidFill>
                  <a:srgbClr val="595959">
                    <a:alpha val="89018"/>
                  </a:srgb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47" name="AutoShape 216">
                  <a:extLst>
                    <a:ext uri="{FF2B5EF4-FFF2-40B4-BE49-F238E27FC236}">
                      <a16:creationId xmlns:a16="http://schemas.microsoft.com/office/drawing/2014/main" id="{22A410E5-507C-269E-C5D3-6A7809D0F8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8263553" y="3874646"/>
                  <a:ext cx="287968" cy="970407"/>
                </a:xfrm>
                <a:prstGeom prst="cube">
                  <a:avLst>
                    <a:gd name="adj" fmla="val 25537"/>
                  </a:avLst>
                </a:prstGeom>
                <a:solidFill>
                  <a:srgbClr val="595959">
                    <a:alpha val="89803"/>
                  </a:srgb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48" name="원통 91">
                  <a:extLst>
                    <a:ext uri="{FF2B5EF4-FFF2-40B4-BE49-F238E27FC236}">
                      <a16:creationId xmlns:a16="http://schemas.microsoft.com/office/drawing/2014/main" id="{B9B820D7-34E6-78F5-6A74-D32953F0783E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009871" y="4091864"/>
                  <a:ext cx="46729" cy="526529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49" name="원통 91">
                  <a:extLst>
                    <a:ext uri="{FF2B5EF4-FFF2-40B4-BE49-F238E27FC236}">
                      <a16:creationId xmlns:a16="http://schemas.microsoft.com/office/drawing/2014/main" id="{8A6682F9-B64E-664C-F53B-91A295111C85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009871" y="4358885"/>
                  <a:ext cx="46729" cy="526529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50" name="AutoShape 31">
                  <a:extLst>
                    <a:ext uri="{FF2B5EF4-FFF2-40B4-BE49-F238E27FC236}">
                      <a16:creationId xmlns:a16="http://schemas.microsoft.com/office/drawing/2014/main" id="{DCDDFB35-B54F-E67E-C40F-173371AE67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030890" y="3927200"/>
                  <a:ext cx="273140" cy="341118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51" name="AutoShape 31">
                  <a:extLst>
                    <a:ext uri="{FF2B5EF4-FFF2-40B4-BE49-F238E27FC236}">
                      <a16:creationId xmlns:a16="http://schemas.microsoft.com/office/drawing/2014/main" id="{1A739275-1563-C130-D9E1-AEF6340044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030890" y="4204957"/>
                  <a:ext cx="273140" cy="338862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sp>
              <p:nvSpPr>
                <p:cNvPr id="52" name="원통 91">
                  <a:extLst>
                    <a:ext uri="{FF2B5EF4-FFF2-40B4-BE49-F238E27FC236}">
                      <a16:creationId xmlns:a16="http://schemas.microsoft.com/office/drawing/2014/main" id="{6328426D-8C75-8987-1BB4-C4394030854F}"/>
                    </a:ext>
                  </a:extLst>
                </p:cNvPr>
                <p:cNvSpPr/>
                <p:nvPr/>
              </p:nvSpPr>
              <p:spPr bwMode="auto">
                <a:xfrm rot="2743493" flipH="1">
                  <a:off x="8009871" y="4645939"/>
                  <a:ext cx="46729" cy="526529"/>
                </a:xfrm>
                <a:prstGeom prst="can">
                  <a:avLst>
                    <a:gd name="adj" fmla="val 69658"/>
                  </a:avLst>
                </a:prstGeom>
                <a:pattFill prst="openDmnd">
                  <a:fgClr>
                    <a:schemeClr val="tx1"/>
                  </a:fgClr>
                  <a:bgClr>
                    <a:srgbClr val="FFFF00"/>
                  </a:bgClr>
                </a:pattFill>
                <a:ln>
                  <a:solidFill>
                    <a:schemeClr val="tx1"/>
                  </a:solidFill>
                </a:ln>
              </p:spPr>
              <p:style>
                <a:lnRef idx="0">
                  <a:schemeClr val="accent6"/>
                </a:lnRef>
                <a:fillRef idx="3">
                  <a:schemeClr val="accent6"/>
                </a:fillRef>
                <a:effectRef idx="3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ko-KR" altLang="en-US" sz="1000" dirty="0"/>
                </a:p>
              </p:txBody>
            </p:sp>
            <p:sp>
              <p:nvSpPr>
                <p:cNvPr id="53" name="AutoShape 31">
                  <a:extLst>
                    <a:ext uri="{FF2B5EF4-FFF2-40B4-BE49-F238E27FC236}">
                      <a16:creationId xmlns:a16="http://schemas.microsoft.com/office/drawing/2014/main" id="{0640AC38-DC8D-A4E4-0BEE-251BFBB9F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>
                  <a:off x="8030890" y="4474703"/>
                  <a:ext cx="273140" cy="338862"/>
                </a:xfrm>
                <a:prstGeom prst="cube">
                  <a:avLst>
                    <a:gd name="adj" fmla="val 33898"/>
                  </a:avLst>
                </a:prstGeom>
                <a:solidFill>
                  <a:srgbClr val="FAC09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cxnSp>
              <p:nvCxnSpPr>
                <p:cNvPr id="54" name="직선 화살표 연결선 53">
                  <a:extLst>
                    <a:ext uri="{FF2B5EF4-FFF2-40B4-BE49-F238E27FC236}">
                      <a16:creationId xmlns:a16="http://schemas.microsoft.com/office/drawing/2014/main" id="{9138E7CF-FA37-56D7-D3BC-9D3EA14D4911}"/>
                    </a:ext>
                  </a:extLst>
                </p:cNvPr>
                <p:cNvCxnSpPr/>
                <p:nvPr/>
              </p:nvCxnSpPr>
              <p:spPr bwMode="auto">
                <a:xfrm flipH="1">
                  <a:off x="8391000" y="4017658"/>
                  <a:ext cx="0" cy="494441"/>
                </a:xfrm>
                <a:prstGeom prst="straightConnector1">
                  <a:avLst/>
                </a:prstGeom>
                <a:ln w="38100">
                  <a:solidFill>
                    <a:srgbClr val="00FF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AutoShape 216">
                  <a:extLst>
                    <a:ext uri="{FF2B5EF4-FFF2-40B4-BE49-F238E27FC236}">
                      <a16:creationId xmlns:a16="http://schemas.microsoft.com/office/drawing/2014/main" id="{0E22C820-0D62-2760-F316-BF27D2A58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7762641" y="3583621"/>
                  <a:ext cx="297132" cy="1366986"/>
                </a:xfrm>
                <a:prstGeom prst="cube">
                  <a:avLst>
                    <a:gd name="adj" fmla="val 53662"/>
                  </a:avLst>
                </a:prstGeom>
                <a:solidFill>
                  <a:srgbClr val="595959">
                    <a:alpha val="89803"/>
                  </a:srgb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000" dirty="0"/>
                </a:p>
              </p:txBody>
            </p:sp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9FFF844B-BFFF-E89B-CA8D-3F98488D3599}"/>
                    </a:ext>
                  </a:extLst>
                </p:cNvPr>
                <p:cNvGrpSpPr/>
                <p:nvPr/>
              </p:nvGrpSpPr>
              <p:grpSpPr>
                <a:xfrm rot="20351958">
                  <a:off x="10202558" y="4427817"/>
                  <a:ext cx="214872" cy="696510"/>
                  <a:chOff x="9665719" y="4241222"/>
                  <a:chExt cx="224227" cy="984350"/>
                </a:xfrm>
              </p:grpSpPr>
              <p:sp>
                <p:nvSpPr>
                  <p:cNvPr id="58" name="원통형 57">
                    <a:extLst>
                      <a:ext uri="{FF2B5EF4-FFF2-40B4-BE49-F238E27FC236}">
                        <a16:creationId xmlns:a16="http://schemas.microsoft.com/office/drawing/2014/main" id="{2FC4B58B-A7C9-581D-0EA8-4759B37108DB}"/>
                      </a:ext>
                    </a:extLst>
                  </p:cNvPr>
                  <p:cNvSpPr/>
                  <p:nvPr/>
                </p:nvSpPr>
                <p:spPr>
                  <a:xfrm>
                    <a:off x="9665719" y="4569096"/>
                    <a:ext cx="224227" cy="656476"/>
                  </a:xfrm>
                  <a:prstGeom prst="can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59" name="원통형 58">
                    <a:extLst>
                      <a:ext uri="{FF2B5EF4-FFF2-40B4-BE49-F238E27FC236}">
                        <a16:creationId xmlns:a16="http://schemas.microsoft.com/office/drawing/2014/main" id="{FBD413C8-2808-CB67-D644-FCA4B0584930}"/>
                      </a:ext>
                    </a:extLst>
                  </p:cNvPr>
                  <p:cNvSpPr/>
                  <p:nvPr/>
                </p:nvSpPr>
                <p:spPr>
                  <a:xfrm rot="16189">
                    <a:off x="9720158" y="4241222"/>
                    <a:ext cx="97721" cy="381149"/>
                  </a:xfrm>
                  <a:prstGeom prst="can">
                    <a:avLst/>
                  </a:prstGeom>
                  <a:solidFill>
                    <a:srgbClr val="00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  <p:cxnSp>
              <p:nvCxnSpPr>
                <p:cNvPr id="57" name="직선 화살표 연결선 56">
                  <a:extLst>
                    <a:ext uri="{FF2B5EF4-FFF2-40B4-BE49-F238E27FC236}">
                      <a16:creationId xmlns:a16="http://schemas.microsoft.com/office/drawing/2014/main" id="{C88EE266-505C-5172-46A7-CD618DB5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9927896" y="3810780"/>
                  <a:ext cx="234169" cy="654435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2329EE1-4B82-8297-1293-6FD2B76AF488}"/>
                  </a:ext>
                </a:extLst>
              </p:cNvPr>
              <p:cNvSpPr txBox="1"/>
              <p:nvPr/>
            </p:nvSpPr>
            <p:spPr>
              <a:xfrm>
                <a:off x="9587498" y="4097776"/>
                <a:ext cx="1492661" cy="544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 </a:t>
                </a:r>
                <a:r>
                  <a:rPr lang="ko-KR" altLang="en-US" sz="1000" b="1" dirty="0">
                    <a:solidFill>
                      <a:srgbClr val="0000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결품</a:t>
                </a:r>
                <a:endParaRPr lang="en-US" altLang="ko-KR" sz="1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ko-KR" altLang="en-US" sz="1000" b="1" dirty="0">
                    <a:solidFill>
                      <a:srgbClr val="0000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감지 센서</a:t>
                </a:r>
              </a:p>
            </p:txBody>
          </p:sp>
        </p:grp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3DA5E5B9-49AB-302C-149F-7CF8CAE4B61A}"/>
                </a:ext>
              </a:extLst>
            </p:cNvPr>
            <p:cNvSpPr/>
            <p:nvPr/>
          </p:nvSpPr>
          <p:spPr>
            <a:xfrm>
              <a:off x="10453998" y="4813592"/>
              <a:ext cx="104829" cy="99283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rgbClr val="00FF0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8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9BD0F5C-8A49-9427-5AEF-54CB8DCCDDE0}"/>
                </a:ext>
              </a:extLst>
            </p:cNvPr>
            <p:cNvSpPr txBox="1"/>
            <p:nvPr/>
          </p:nvSpPr>
          <p:spPr>
            <a:xfrm rot="16200000">
              <a:off x="9106672" y="5035720"/>
              <a:ext cx="2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FF0000"/>
                  </a:solidFill>
                </a:rPr>
                <a:t>x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A55EC295-937A-AFCC-EE28-54EE4BCC49DF}"/>
                </a:ext>
              </a:extLst>
            </p:cNvPr>
            <p:cNvSpPr txBox="1"/>
            <p:nvPr/>
          </p:nvSpPr>
          <p:spPr>
            <a:xfrm>
              <a:off x="9183157" y="4512670"/>
              <a:ext cx="2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FF0000"/>
                  </a:solidFill>
                </a:rPr>
                <a:t>x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CF6F6659-0A91-3612-3DF8-22D9C0BAF768}"/>
                </a:ext>
              </a:extLst>
            </p:cNvPr>
            <p:cNvSpPr txBox="1"/>
            <p:nvPr/>
          </p:nvSpPr>
          <p:spPr>
            <a:xfrm>
              <a:off x="9783271" y="4529170"/>
              <a:ext cx="2928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b="1" dirty="0">
                  <a:solidFill>
                    <a:srgbClr val="FF0000"/>
                  </a:solidFill>
                </a:rPr>
                <a:t>x</a:t>
              </a:r>
              <a:endParaRPr lang="ko-KR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036C3577-87A5-E93B-E4C1-D741EEF14C56}"/>
              </a:ext>
            </a:extLst>
          </p:cNvPr>
          <p:cNvGrpSpPr/>
          <p:nvPr/>
        </p:nvGrpSpPr>
        <p:grpSpPr>
          <a:xfrm>
            <a:off x="8801149" y="4756836"/>
            <a:ext cx="1984549" cy="1430401"/>
            <a:chOff x="8888383" y="4937299"/>
            <a:chExt cx="2121327" cy="1488466"/>
          </a:xfrm>
        </p:grpSpPr>
        <p:grpSp>
          <p:nvGrpSpPr>
            <p:cNvPr id="465" name="그룹 464">
              <a:extLst>
                <a:ext uri="{FF2B5EF4-FFF2-40B4-BE49-F238E27FC236}">
                  <a16:creationId xmlns:a16="http://schemas.microsoft.com/office/drawing/2014/main" id="{99DE03B3-8250-34EE-4BAE-4CD448AD0B2F}"/>
                </a:ext>
              </a:extLst>
            </p:cNvPr>
            <p:cNvGrpSpPr/>
            <p:nvPr/>
          </p:nvGrpSpPr>
          <p:grpSpPr>
            <a:xfrm>
              <a:off x="8888383" y="5048745"/>
              <a:ext cx="2121327" cy="1377020"/>
              <a:chOff x="5727488" y="4437502"/>
              <a:chExt cx="1776585" cy="1462283"/>
            </a:xfrm>
          </p:grpSpPr>
          <p:sp>
            <p:nvSpPr>
              <p:cNvPr id="480" name="AutoShape 216">
                <a:extLst>
                  <a:ext uri="{FF2B5EF4-FFF2-40B4-BE49-F238E27FC236}">
                    <a16:creationId xmlns:a16="http://schemas.microsoft.com/office/drawing/2014/main" id="{66BF94F9-9087-B0EB-C8F1-DDF2F5E4F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5767164" y="4623924"/>
                <a:ext cx="1437155" cy="239517"/>
              </a:xfrm>
              <a:prstGeom prst="cube">
                <a:avLst>
                  <a:gd name="adj" fmla="val 46954"/>
                </a:avLst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81" name="원통 91">
                <a:extLst>
                  <a:ext uri="{FF2B5EF4-FFF2-40B4-BE49-F238E27FC236}">
                    <a16:creationId xmlns:a16="http://schemas.microsoft.com/office/drawing/2014/main" id="{B1BC8A99-974F-A065-C01C-87B6DBDAA339}"/>
                  </a:ext>
                </a:extLst>
              </p:cNvPr>
              <p:cNvSpPr/>
              <p:nvPr/>
            </p:nvSpPr>
            <p:spPr bwMode="auto">
              <a:xfrm rot="2743493" flipH="1">
                <a:off x="6277877" y="4900490"/>
                <a:ext cx="34971" cy="308017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482" name="원통 91">
                <a:extLst>
                  <a:ext uri="{FF2B5EF4-FFF2-40B4-BE49-F238E27FC236}">
                    <a16:creationId xmlns:a16="http://schemas.microsoft.com/office/drawing/2014/main" id="{06899F19-3786-5C59-EF67-E4E8FDFB4724}"/>
                  </a:ext>
                </a:extLst>
              </p:cNvPr>
              <p:cNvSpPr/>
              <p:nvPr/>
            </p:nvSpPr>
            <p:spPr bwMode="auto">
              <a:xfrm rot="2743493" flipH="1">
                <a:off x="6496219" y="4898083"/>
                <a:ext cx="34971" cy="312829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483" name="AutoShape 31">
                <a:extLst>
                  <a:ext uri="{FF2B5EF4-FFF2-40B4-BE49-F238E27FC236}">
                    <a16:creationId xmlns:a16="http://schemas.microsoft.com/office/drawing/2014/main" id="{70158CD0-E670-EB02-7BE7-5A2078641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6496072" y="4776854"/>
                <a:ext cx="163019" cy="234111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84" name="AutoShape 31">
                <a:extLst>
                  <a:ext uri="{FF2B5EF4-FFF2-40B4-BE49-F238E27FC236}">
                    <a16:creationId xmlns:a16="http://schemas.microsoft.com/office/drawing/2014/main" id="{95CB14F7-724F-AB3E-6557-A4E41B9B2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6284019" y="4776854"/>
                <a:ext cx="163019" cy="234111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85" name="AutoShape 216">
                <a:extLst>
                  <a:ext uri="{FF2B5EF4-FFF2-40B4-BE49-F238E27FC236}">
                    <a16:creationId xmlns:a16="http://schemas.microsoft.com/office/drawing/2014/main" id="{3C7CD69F-0272-09A4-90E7-D2E9686B9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6255344" y="4987016"/>
                <a:ext cx="975014" cy="199562"/>
              </a:xfrm>
              <a:prstGeom prst="cube">
                <a:avLst>
                  <a:gd name="adj" fmla="val 23245"/>
                </a:avLst>
              </a:prstGeom>
              <a:solidFill>
                <a:srgbClr val="595959">
                  <a:alpha val="89018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86" name="AutoShape 216">
                <a:extLst>
                  <a:ext uri="{FF2B5EF4-FFF2-40B4-BE49-F238E27FC236}">
                    <a16:creationId xmlns:a16="http://schemas.microsoft.com/office/drawing/2014/main" id="{7E20A537-B88C-684F-1DEC-88D2E7D3F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6098435" y="4996237"/>
                <a:ext cx="192151" cy="726236"/>
              </a:xfrm>
              <a:prstGeom prst="cube">
                <a:avLst>
                  <a:gd name="adj" fmla="val 25537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87" name="AutoShape 31">
                <a:extLst>
                  <a:ext uri="{FF2B5EF4-FFF2-40B4-BE49-F238E27FC236}">
                    <a16:creationId xmlns:a16="http://schemas.microsoft.com/office/drawing/2014/main" id="{C6D185E0-65D3-85D6-6907-594F857CF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962864">
                <a:off x="6027383" y="4796348"/>
                <a:ext cx="193063" cy="245084"/>
              </a:xfrm>
              <a:prstGeom prst="cube">
                <a:avLst>
                  <a:gd name="adj" fmla="val 33898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88" name="원통 91">
                <a:extLst>
                  <a:ext uri="{FF2B5EF4-FFF2-40B4-BE49-F238E27FC236}">
                    <a16:creationId xmlns:a16="http://schemas.microsoft.com/office/drawing/2014/main" id="{513E31CF-C37F-2E9C-342E-CCDAC0A23F2C}"/>
                  </a:ext>
                </a:extLst>
              </p:cNvPr>
              <p:cNvSpPr/>
              <p:nvPr/>
            </p:nvSpPr>
            <p:spPr bwMode="auto">
              <a:xfrm rot="2743493" flipH="1">
                <a:off x="5933794" y="5129643"/>
                <a:ext cx="34972" cy="351331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489" name="AutoShape 31">
                <a:extLst>
                  <a:ext uri="{FF2B5EF4-FFF2-40B4-BE49-F238E27FC236}">
                    <a16:creationId xmlns:a16="http://schemas.microsoft.com/office/drawing/2014/main" id="{FF9D5A64-089D-74B6-089D-D38E2AAC7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49716" y="4997103"/>
                <a:ext cx="182255" cy="255287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90" name="원통 91">
                <a:extLst>
                  <a:ext uri="{FF2B5EF4-FFF2-40B4-BE49-F238E27FC236}">
                    <a16:creationId xmlns:a16="http://schemas.microsoft.com/office/drawing/2014/main" id="{3C247540-ACF1-5E7C-C064-5F2C2B7D128A}"/>
                  </a:ext>
                </a:extLst>
              </p:cNvPr>
              <p:cNvSpPr/>
              <p:nvPr/>
            </p:nvSpPr>
            <p:spPr bwMode="auto">
              <a:xfrm rot="2743493" flipH="1">
                <a:off x="5933794" y="5329480"/>
                <a:ext cx="34972" cy="351331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491" name="AutoShape 31">
                <a:extLst>
                  <a:ext uri="{FF2B5EF4-FFF2-40B4-BE49-F238E27FC236}">
                    <a16:creationId xmlns:a16="http://schemas.microsoft.com/office/drawing/2014/main" id="{30D5199A-AEDA-5B31-FEA1-E5FD9EAA9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49716" y="5204974"/>
                <a:ext cx="182255" cy="253599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92" name="원통 91">
                <a:extLst>
                  <a:ext uri="{FF2B5EF4-FFF2-40B4-BE49-F238E27FC236}">
                    <a16:creationId xmlns:a16="http://schemas.microsoft.com/office/drawing/2014/main" id="{FEAFA3CA-4C69-B72D-F3D3-804E4E156513}"/>
                  </a:ext>
                </a:extLst>
              </p:cNvPr>
              <p:cNvSpPr/>
              <p:nvPr/>
            </p:nvSpPr>
            <p:spPr bwMode="auto">
              <a:xfrm rot="2743493" flipH="1">
                <a:off x="5933794" y="5544304"/>
                <a:ext cx="34971" cy="351331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493" name="AutoShape 31">
                <a:extLst>
                  <a:ext uri="{FF2B5EF4-FFF2-40B4-BE49-F238E27FC236}">
                    <a16:creationId xmlns:a16="http://schemas.microsoft.com/office/drawing/2014/main" id="{F0A8659C-D28F-784D-C63E-7C4CFA8F4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5949716" y="5412844"/>
                <a:ext cx="182255" cy="253599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94" name="AutoShape 216">
                <a:extLst>
                  <a:ext uri="{FF2B5EF4-FFF2-40B4-BE49-F238E27FC236}">
                    <a16:creationId xmlns:a16="http://schemas.microsoft.com/office/drawing/2014/main" id="{BE354C5A-0D6A-1AEE-C463-89AB0DDD4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5773275" y="4745391"/>
                <a:ext cx="198265" cy="1023029"/>
              </a:xfrm>
              <a:prstGeom prst="cube">
                <a:avLst>
                  <a:gd name="adj" fmla="val 53662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95" name="폭발 1 207">
                <a:extLst>
                  <a:ext uri="{FF2B5EF4-FFF2-40B4-BE49-F238E27FC236}">
                    <a16:creationId xmlns:a16="http://schemas.microsoft.com/office/drawing/2014/main" id="{92978E3E-0B1B-07D0-D52F-1959C1FA73C5}"/>
                  </a:ext>
                </a:extLst>
              </p:cNvPr>
              <p:cNvSpPr/>
              <p:nvPr/>
            </p:nvSpPr>
            <p:spPr bwMode="auto">
              <a:xfrm>
                <a:off x="5727488" y="4437502"/>
                <a:ext cx="789293" cy="83931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496" name="원호 495">
                <a:extLst>
                  <a:ext uri="{FF2B5EF4-FFF2-40B4-BE49-F238E27FC236}">
                    <a16:creationId xmlns:a16="http://schemas.microsoft.com/office/drawing/2014/main" id="{9B0B9519-CF0F-E896-7738-B8538D9D2466}"/>
                  </a:ext>
                </a:extLst>
              </p:cNvPr>
              <p:cNvSpPr/>
              <p:nvPr/>
            </p:nvSpPr>
            <p:spPr bwMode="auto">
              <a:xfrm rot="20309156" flipH="1">
                <a:off x="5875219" y="4603202"/>
                <a:ext cx="401718" cy="422965"/>
              </a:xfrm>
              <a:prstGeom prst="arc">
                <a:avLst>
                  <a:gd name="adj1" fmla="val 12997280"/>
                  <a:gd name="adj2" fmla="val 1397191"/>
                </a:avLst>
              </a:prstGeom>
              <a:noFill/>
              <a:ln w="7620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cxnSp>
            <p:nvCxnSpPr>
              <p:cNvPr id="498" name="직선 화살표 연결선 497">
                <a:extLst>
                  <a:ext uri="{FF2B5EF4-FFF2-40B4-BE49-F238E27FC236}">
                    <a16:creationId xmlns:a16="http://schemas.microsoft.com/office/drawing/2014/main" id="{5C365DFE-9D9D-F948-A2B9-DAB0FACCC9E0}"/>
                  </a:ext>
                </a:extLst>
              </p:cNvPr>
              <p:cNvCxnSpPr/>
              <p:nvPr/>
            </p:nvCxnSpPr>
            <p:spPr bwMode="auto">
              <a:xfrm flipH="1">
                <a:off x="6086689" y="5211701"/>
                <a:ext cx="0" cy="264924"/>
              </a:xfrm>
              <a:prstGeom prst="straightConnector1">
                <a:avLst/>
              </a:prstGeom>
              <a:ln w="28575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B3941018-6277-90D3-E609-321AEA23036F}"/>
                  </a:ext>
                </a:extLst>
              </p:cNvPr>
              <p:cNvSpPr txBox="1"/>
              <p:nvPr/>
            </p:nvSpPr>
            <p:spPr>
              <a:xfrm>
                <a:off x="6275542" y="5360510"/>
                <a:ext cx="1228531" cy="539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결품 → </a:t>
                </a:r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 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간에</a:t>
                </a:r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유격 </a:t>
                </a:r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틈</a:t>
                </a:r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발생</a:t>
                </a:r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→ </a:t>
                </a:r>
                <a:r>
                  <a:rPr lang="en-US" altLang="ko-KR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Brush 180</a:t>
                </a:r>
                <a:r>
                  <a:rPr lang="ko-KR" altLang="en-US" sz="900" b="1" dirty="0">
                    <a:solidFill>
                      <a:srgbClr val="FF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도 회전함</a:t>
                </a:r>
              </a:p>
            </p:txBody>
          </p:sp>
        </p:grpSp>
        <p:sp>
          <p:nvSpPr>
            <p:cNvPr id="501" name="십자형 500">
              <a:extLst>
                <a:ext uri="{FF2B5EF4-FFF2-40B4-BE49-F238E27FC236}">
                  <a16:creationId xmlns:a16="http://schemas.microsoft.com/office/drawing/2014/main" id="{6FF51590-0B06-21DF-FE0C-5E0BD5740612}"/>
                </a:ext>
              </a:extLst>
            </p:cNvPr>
            <p:cNvSpPr/>
            <p:nvPr/>
          </p:nvSpPr>
          <p:spPr>
            <a:xfrm rot="2551012">
              <a:off x="9497855" y="4937299"/>
              <a:ext cx="1043454" cy="1025098"/>
            </a:xfrm>
            <a:prstGeom prst="plus">
              <a:avLst>
                <a:gd name="adj" fmla="val 40568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40" name="모서리가 둥근 직사각형 79">
            <a:extLst>
              <a:ext uri="{FF2B5EF4-FFF2-40B4-BE49-F238E27FC236}">
                <a16:creationId xmlns:a16="http://schemas.microsoft.com/office/drawing/2014/main" id="{9772846C-56E4-1D20-5BF2-6A6AA05C55F7}"/>
              </a:ext>
            </a:extLst>
          </p:cNvPr>
          <p:cNvSpPr/>
          <p:nvPr/>
        </p:nvSpPr>
        <p:spPr>
          <a:xfrm>
            <a:off x="6425397" y="4627195"/>
            <a:ext cx="1246116" cy="242170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lIns="0" tIns="0" rIns="0" bIns="0" rtlCol="0" anchor="ctr" anchorCtr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1" dirty="0">
                <a:latin typeface="+mn-ea"/>
              </a:rPr>
              <a:t>Brush</a:t>
            </a:r>
            <a:r>
              <a:rPr lang="ko-KR" altLang="en-US" sz="1000" b="1" dirty="0">
                <a:latin typeface="+mn-ea"/>
              </a:rPr>
              <a:t> 결품 감지</a:t>
            </a:r>
          </a:p>
        </p:txBody>
      </p:sp>
      <p:sp>
        <p:nvSpPr>
          <p:cNvPr id="243" name="모서리가 둥근 직사각형 30">
            <a:extLst>
              <a:ext uri="{FF2B5EF4-FFF2-40B4-BE49-F238E27FC236}">
                <a16:creationId xmlns:a16="http://schemas.microsoft.com/office/drawing/2014/main" id="{EECC79C9-76F3-23BD-3D7E-A01F7C6EA61E}"/>
              </a:ext>
            </a:extLst>
          </p:cNvPr>
          <p:cNvSpPr/>
          <p:nvPr/>
        </p:nvSpPr>
        <p:spPr>
          <a:xfrm>
            <a:off x="8823139" y="6259134"/>
            <a:ext cx="1855227" cy="229497"/>
          </a:xfrm>
          <a:prstGeom prst="round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b="1" kern="0" dirty="0">
                <a:solidFill>
                  <a:srgbClr val="0000FF"/>
                </a:solidFill>
                <a:cs typeface="Arial" panose="020B0604020202020204" pitchFamily="34" charset="0"/>
              </a:rPr>
              <a:t>제품</a:t>
            </a:r>
            <a:r>
              <a:rPr lang="en-US" altLang="ko-KR" sz="900" b="1" kern="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kumimoji="0" lang="ko-KR" altLang="en-US" sz="900" b="1" kern="0" dirty="0">
                <a:solidFill>
                  <a:srgbClr val="0000FF"/>
                </a:solidFill>
                <a:cs typeface="Arial" panose="020B0604020202020204" pitchFamily="34" charset="0"/>
              </a:rPr>
              <a:t>결품 시 장비 </a:t>
            </a:r>
            <a:r>
              <a:rPr kumimoji="0" lang="en-US" altLang="ko-KR" sz="900" b="1" kern="0" dirty="0">
                <a:solidFill>
                  <a:srgbClr val="0000FF"/>
                </a:solidFill>
                <a:cs typeface="Arial" panose="020B0604020202020204" pitchFamily="34" charset="0"/>
              </a:rPr>
              <a:t>AUTO-STOP.</a:t>
            </a:r>
            <a:endParaRPr kumimoji="0" lang="ko-KR" altLang="en-US" sz="900" b="1" kern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246" name="화살표: 오른쪽 245">
            <a:extLst>
              <a:ext uri="{FF2B5EF4-FFF2-40B4-BE49-F238E27FC236}">
                <a16:creationId xmlns:a16="http://schemas.microsoft.com/office/drawing/2014/main" id="{68098541-4AC8-1533-206D-1671B40CF583}"/>
              </a:ext>
            </a:extLst>
          </p:cNvPr>
          <p:cNvSpPr/>
          <p:nvPr/>
        </p:nvSpPr>
        <p:spPr>
          <a:xfrm>
            <a:off x="8268011" y="5334674"/>
            <a:ext cx="334800" cy="442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216C7EA-C748-DE3A-F121-262525F30B59}"/>
              </a:ext>
            </a:extLst>
          </p:cNvPr>
          <p:cNvGrpSpPr/>
          <p:nvPr/>
        </p:nvGrpSpPr>
        <p:grpSpPr>
          <a:xfrm>
            <a:off x="5947469" y="2359002"/>
            <a:ext cx="5006281" cy="1983212"/>
            <a:chOff x="5947469" y="2273277"/>
            <a:chExt cx="5006281" cy="1983212"/>
          </a:xfrm>
        </p:grpSpPr>
        <p:sp>
          <p:nvSpPr>
            <p:cNvPr id="25" name="모서리가 둥근 직사각형 85">
              <a:extLst>
                <a:ext uri="{FF2B5EF4-FFF2-40B4-BE49-F238E27FC236}">
                  <a16:creationId xmlns:a16="http://schemas.microsoft.com/office/drawing/2014/main" id="{21D92BD3-2B25-5644-525E-E3FA911DEA25}"/>
                </a:ext>
              </a:extLst>
            </p:cNvPr>
            <p:cNvSpPr/>
            <p:nvPr/>
          </p:nvSpPr>
          <p:spPr>
            <a:xfrm>
              <a:off x="5947469" y="2410107"/>
              <a:ext cx="5006281" cy="1846382"/>
            </a:xfrm>
            <a:prstGeom prst="roundRect">
              <a:avLst>
                <a:gd name="adj" fmla="val 5262"/>
              </a:avLst>
            </a:prstGeom>
            <a:noFill/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D6FA5D5B-BC4A-E824-C9ED-8E41558CE1A8}"/>
                </a:ext>
              </a:extLst>
            </p:cNvPr>
            <p:cNvGrpSpPr/>
            <p:nvPr/>
          </p:nvGrpSpPr>
          <p:grpSpPr>
            <a:xfrm>
              <a:off x="6190437" y="2273277"/>
              <a:ext cx="4513551" cy="1858976"/>
              <a:chOff x="6106159" y="2486432"/>
              <a:chExt cx="4706594" cy="1587695"/>
            </a:xfrm>
          </p:grpSpPr>
          <p:sp>
            <p:nvSpPr>
              <p:cNvPr id="238" name="모서리가 둥근 직사각형 79">
                <a:extLst>
                  <a:ext uri="{FF2B5EF4-FFF2-40B4-BE49-F238E27FC236}">
                    <a16:creationId xmlns:a16="http://schemas.microsoft.com/office/drawing/2014/main" id="{BB018747-2E38-5346-EE37-D9EE3633F731}"/>
                  </a:ext>
                </a:extLst>
              </p:cNvPr>
              <p:cNvSpPr/>
              <p:nvPr/>
            </p:nvSpPr>
            <p:spPr>
              <a:xfrm>
                <a:off x="6348890" y="2486432"/>
                <a:ext cx="1332000" cy="252000"/>
              </a:xfrm>
              <a:prstGeom prst="roundRect">
                <a:avLst/>
              </a:prstGeom>
              <a:gradFill rotWithShape="1">
                <a:gsLst>
                  <a:gs pos="0">
                    <a:srgbClr val="4BACC6">
                      <a:tint val="50000"/>
                      <a:satMod val="300000"/>
                    </a:srgbClr>
                  </a:gs>
                  <a:gs pos="35000">
                    <a:srgbClr val="4BACC6">
                      <a:tint val="37000"/>
                      <a:satMod val="300000"/>
                    </a:srgbClr>
                  </a:gs>
                  <a:gs pos="100000">
                    <a:srgbClr val="4BACC6">
                      <a:tint val="15000"/>
                      <a:satMod val="350000"/>
                    </a:srgbClr>
                  </a:gs>
                </a:gsLst>
                <a:lin ang="16200000" scaled="1"/>
              </a:gradFill>
              <a:ln w="9525" cap="flat" cmpd="sng" algn="ctr">
                <a:solidFill>
                  <a:srgbClr val="4BACC6">
                    <a:shade val="95000"/>
                    <a:satMod val="105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lIns="0" tIns="18000" rIns="0" bIns="0" anchor="ctr" anchorCtr="1"/>
              <a:lstStyle>
                <a:lvl1pPr marL="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ko-KR" sz="1000" b="1" kern="0" dirty="0">
                    <a:solidFill>
                      <a:sysClr val="windowText" lastClr="000000"/>
                    </a:solidFill>
                    <a:cs typeface="Arial" panose="020B0604020202020204" pitchFamily="34" charset="0"/>
                  </a:rPr>
                  <a:t>Brush</a:t>
                </a:r>
                <a:r>
                  <a:rPr lang="ko-KR" altLang="en-US" sz="1000" b="1" kern="0" dirty="0">
                    <a:solidFill>
                      <a:sysClr val="windowText" lastClr="000000"/>
                    </a:solidFill>
                    <a:cs typeface="Arial" panose="020B0604020202020204" pitchFamily="34" charset="0"/>
                  </a:rPr>
                  <a:t> 공급 양호</a:t>
                </a:r>
                <a:endParaRPr kumimoji="0" lang="ko-KR" altLang="en-US" sz="1000" b="1" kern="0" dirty="0">
                  <a:solidFill>
                    <a:sysClr val="windowText" lastClr="000000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247" name="그룹 246">
                <a:extLst>
                  <a:ext uri="{FF2B5EF4-FFF2-40B4-BE49-F238E27FC236}">
                    <a16:creationId xmlns:a16="http://schemas.microsoft.com/office/drawing/2014/main" id="{A239B443-B517-948C-E7E8-464C436907D6}"/>
                  </a:ext>
                </a:extLst>
              </p:cNvPr>
              <p:cNvGrpSpPr/>
              <p:nvPr/>
            </p:nvGrpSpPr>
            <p:grpSpPr>
              <a:xfrm>
                <a:off x="6106159" y="2903689"/>
                <a:ext cx="4706594" cy="1170438"/>
                <a:chOff x="6106159" y="2903689"/>
                <a:chExt cx="4706594" cy="1170438"/>
              </a:xfrm>
            </p:grpSpPr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6F836A42-D335-EC19-CD91-94BC2946B790}"/>
                    </a:ext>
                  </a:extLst>
                </p:cNvPr>
                <p:cNvGrpSpPr/>
                <p:nvPr/>
              </p:nvGrpSpPr>
              <p:grpSpPr>
                <a:xfrm>
                  <a:off x="6106159" y="2949660"/>
                  <a:ext cx="1923455" cy="1124467"/>
                  <a:chOff x="8683454" y="3124898"/>
                  <a:chExt cx="2449214" cy="1514944"/>
                </a:xfrm>
              </p:grpSpPr>
              <p:grpSp>
                <p:nvGrpSpPr>
                  <p:cNvPr id="455" name="그룹 454">
                    <a:extLst>
                      <a:ext uri="{FF2B5EF4-FFF2-40B4-BE49-F238E27FC236}">
                        <a16:creationId xmlns:a16="http://schemas.microsoft.com/office/drawing/2014/main" id="{4D6EF9A7-DAC9-8E47-F7B5-FE6F95AA96D9}"/>
                      </a:ext>
                    </a:extLst>
                  </p:cNvPr>
                  <p:cNvGrpSpPr/>
                  <p:nvPr/>
                </p:nvGrpSpPr>
                <p:grpSpPr>
                  <a:xfrm>
                    <a:off x="8683454" y="3124898"/>
                    <a:ext cx="2418650" cy="1512996"/>
                    <a:chOff x="7757294" y="3413301"/>
                    <a:chExt cx="2694989" cy="1726271"/>
                  </a:xfrm>
                </p:grpSpPr>
                <p:sp>
                  <p:nvSpPr>
                    <p:cNvPr id="394" name="AutoShape 216">
                      <a:extLst>
                        <a:ext uri="{FF2B5EF4-FFF2-40B4-BE49-F238E27FC236}">
                          <a16:creationId xmlns:a16="http://schemas.microsoft.com/office/drawing/2014/main" id="{88F50FDF-30F0-ED6B-D1CC-B947796297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7757294" y="3413301"/>
                      <a:ext cx="2592000" cy="307512"/>
                    </a:xfrm>
                    <a:prstGeom prst="cube">
                      <a:avLst>
                        <a:gd name="adj" fmla="val 46954"/>
                      </a:avLst>
                    </a:prstGeom>
                    <a:solidFill>
                      <a:srgbClr val="7F7F7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396" name="원통 91">
                      <a:extLst>
                        <a:ext uri="{FF2B5EF4-FFF2-40B4-BE49-F238E27FC236}">
                          <a16:creationId xmlns:a16="http://schemas.microsoft.com/office/drawing/2014/main" id="{8CE7320C-C0E8-1752-2CA5-079D6B2EC73E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10050918" y="3715915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399" name="원통 91">
                      <a:extLst>
                        <a:ext uri="{FF2B5EF4-FFF2-40B4-BE49-F238E27FC236}">
                          <a16:creationId xmlns:a16="http://schemas.microsoft.com/office/drawing/2014/main" id="{D0C7FB7A-3695-20B2-4691-798C43FBC610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427940" y="3750827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00" name="원통 91">
                      <a:extLst>
                        <a:ext uri="{FF2B5EF4-FFF2-40B4-BE49-F238E27FC236}">
                          <a16:creationId xmlns:a16="http://schemas.microsoft.com/office/drawing/2014/main" id="{40EADA17-6E0E-42E2-095E-D60F25EFA0F7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660840" y="3713396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01" name="원통 91">
                      <a:extLst>
                        <a:ext uri="{FF2B5EF4-FFF2-40B4-BE49-F238E27FC236}">
                          <a16:creationId xmlns:a16="http://schemas.microsoft.com/office/drawing/2014/main" id="{4842C78F-4A4B-E399-DEDC-EA0B77414C2E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861772" y="3710878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06" name="AutoShape 31">
                      <a:extLst>
                        <a:ext uri="{FF2B5EF4-FFF2-40B4-BE49-F238E27FC236}">
                          <a16:creationId xmlns:a16="http://schemas.microsoft.com/office/drawing/2014/main" id="{915B857D-1D42-E7B4-E358-DECDDB527C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10116740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08" name="AutoShape 31">
                      <a:extLst>
                        <a:ext uri="{FF2B5EF4-FFF2-40B4-BE49-F238E27FC236}">
                          <a16:creationId xmlns:a16="http://schemas.microsoft.com/office/drawing/2014/main" id="{11A818D2-E9EA-4723-7EAA-076FF72E09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929863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09" name="AutoShape 31">
                      <a:extLst>
                        <a:ext uri="{FF2B5EF4-FFF2-40B4-BE49-F238E27FC236}">
                          <a16:creationId xmlns:a16="http://schemas.microsoft.com/office/drawing/2014/main" id="{8FC5D227-03D4-18F8-BDD4-6EA409B5847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747489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00FF0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0" name="AutoShape 31">
                      <a:extLst>
                        <a:ext uri="{FF2B5EF4-FFF2-40B4-BE49-F238E27FC236}">
                          <a16:creationId xmlns:a16="http://schemas.microsoft.com/office/drawing/2014/main" id="{60D19A0B-906E-B1DF-9915-69DF6B04D2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561675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cxnSp>
                  <p:nvCxnSpPr>
                    <p:cNvPr id="411" name="직선 화살표 연결선 410">
                      <a:extLst>
                        <a:ext uri="{FF2B5EF4-FFF2-40B4-BE49-F238E27FC236}">
                          <a16:creationId xmlns:a16="http://schemas.microsoft.com/office/drawing/2014/main" id="{7629F5BA-1EB5-7F9B-D8F3-CFDFA7C56C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>
                      <a:off x="9690548" y="3554694"/>
                      <a:ext cx="367848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2" name="원통 91">
                      <a:extLst>
                        <a:ext uri="{FF2B5EF4-FFF2-40B4-BE49-F238E27FC236}">
                          <a16:creationId xmlns:a16="http://schemas.microsoft.com/office/drawing/2014/main" id="{98DD3EC1-A3DB-2AA2-6BA8-84AEB12E878F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311987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3" name="원통 91">
                      <a:extLst>
                        <a:ext uri="{FF2B5EF4-FFF2-40B4-BE49-F238E27FC236}">
                          <a16:creationId xmlns:a16="http://schemas.microsoft.com/office/drawing/2014/main" id="{AC3F3983-A52A-E8DA-C457-CA4A219D9738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336289" y="3710881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4" name="원통 91">
                      <a:extLst>
                        <a:ext uri="{FF2B5EF4-FFF2-40B4-BE49-F238E27FC236}">
                          <a16:creationId xmlns:a16="http://schemas.microsoft.com/office/drawing/2014/main" id="{1019D2A3-E516-9D1C-6D25-BF42328FD99D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517630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6" name="원통 91">
                      <a:extLst>
                        <a:ext uri="{FF2B5EF4-FFF2-40B4-BE49-F238E27FC236}">
                          <a16:creationId xmlns:a16="http://schemas.microsoft.com/office/drawing/2014/main" id="{FBEF4C36-EA49-EAC1-DCB8-02839DFEED62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683522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7" name="원통 91">
                      <a:extLst>
                        <a:ext uri="{FF2B5EF4-FFF2-40B4-BE49-F238E27FC236}">
                          <a16:creationId xmlns:a16="http://schemas.microsoft.com/office/drawing/2014/main" id="{9C60E276-4127-D981-18A8-CFC638740B56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900928" y="3715918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8" name="원통 91">
                      <a:extLst>
                        <a:ext uri="{FF2B5EF4-FFF2-40B4-BE49-F238E27FC236}">
                          <a16:creationId xmlns:a16="http://schemas.microsoft.com/office/drawing/2014/main" id="{8DCFAC7A-C49D-E0A9-1135-A4AEB06756C4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094645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19" name="원통 91">
                      <a:extLst>
                        <a:ext uri="{FF2B5EF4-FFF2-40B4-BE49-F238E27FC236}">
                          <a16:creationId xmlns:a16="http://schemas.microsoft.com/office/drawing/2014/main" id="{4A1176AE-EB67-2F3E-333D-5201CF913D49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295577" y="3710881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0" name="AutoShape 31">
                      <a:extLst>
                        <a:ext uri="{FF2B5EF4-FFF2-40B4-BE49-F238E27FC236}">
                          <a16:creationId xmlns:a16="http://schemas.microsoft.com/office/drawing/2014/main" id="{22ABA272-29BF-A898-9D44-6866ED781C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352156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1" name="AutoShape 31">
                      <a:extLst>
                        <a:ext uri="{FF2B5EF4-FFF2-40B4-BE49-F238E27FC236}">
                          <a16:creationId xmlns:a16="http://schemas.microsoft.com/office/drawing/2014/main" id="{58924955-CA06-7E31-6730-9649FDB5A5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156019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2" name="AutoShape 31">
                      <a:extLst>
                        <a:ext uri="{FF2B5EF4-FFF2-40B4-BE49-F238E27FC236}">
                          <a16:creationId xmlns:a16="http://schemas.microsoft.com/office/drawing/2014/main" id="{81BEF9B7-B81A-8F3A-5AA9-4D7C4B2DA4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978402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3" name="AutoShape 31">
                      <a:extLst>
                        <a:ext uri="{FF2B5EF4-FFF2-40B4-BE49-F238E27FC236}">
                          <a16:creationId xmlns:a16="http://schemas.microsoft.com/office/drawing/2014/main" id="{4D0608AA-FE61-7529-40EB-13D2339745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804225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4" name="AutoShape 31">
                      <a:extLst>
                        <a:ext uri="{FF2B5EF4-FFF2-40B4-BE49-F238E27FC236}">
                          <a16:creationId xmlns:a16="http://schemas.microsoft.com/office/drawing/2014/main" id="{78D57813-D4DB-F1BD-E879-BAD26A52DD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621851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5" name="AutoShape 31">
                      <a:extLst>
                        <a:ext uri="{FF2B5EF4-FFF2-40B4-BE49-F238E27FC236}">
                          <a16:creationId xmlns:a16="http://schemas.microsoft.com/office/drawing/2014/main" id="{02BCC051-6BC4-DF6C-17A6-544FA4A5527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436037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26" name="AutoShape 31">
                      <a:extLst>
                        <a:ext uri="{FF2B5EF4-FFF2-40B4-BE49-F238E27FC236}">
                          <a16:creationId xmlns:a16="http://schemas.microsoft.com/office/drawing/2014/main" id="{C0A780EA-039D-19A8-21E1-D207B642AC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239901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cxnSp>
                  <p:nvCxnSpPr>
                    <p:cNvPr id="427" name="직선 화살표 연결선 426">
                      <a:extLst>
                        <a:ext uri="{FF2B5EF4-FFF2-40B4-BE49-F238E27FC236}">
                          <a16:creationId xmlns:a16="http://schemas.microsoft.com/office/drawing/2014/main" id="{89F7E314-1B3A-3106-E85F-3DFC1E99D5C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9049847" y="3554696"/>
                      <a:ext cx="375060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" name="직선 화살표 연결선 427">
                      <a:extLst>
                        <a:ext uri="{FF2B5EF4-FFF2-40B4-BE49-F238E27FC236}">
                          <a16:creationId xmlns:a16="http://schemas.microsoft.com/office/drawing/2014/main" id="{BD94BB78-D8AC-99F8-C4FA-AF13C04C5B0E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8389670" y="3554696"/>
                      <a:ext cx="367848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29" name="AutoShape 31">
                      <a:extLst>
                        <a:ext uri="{FF2B5EF4-FFF2-40B4-BE49-F238E27FC236}">
                          <a16:creationId xmlns:a16="http://schemas.microsoft.com/office/drawing/2014/main" id="{99840118-A3DB-2573-4AAA-F0877108541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07267" y="3633987"/>
                      <a:ext cx="273140" cy="346904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1" name="AutoShape 216">
                      <a:extLst>
                        <a:ext uri="{FF2B5EF4-FFF2-40B4-BE49-F238E27FC236}">
                          <a16:creationId xmlns:a16="http://schemas.microsoft.com/office/drawing/2014/main" id="{4E7D8A56-FA90-17BE-8E54-A0442DB8D0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8468589" y="3877019"/>
                      <a:ext cx="1908000" cy="290479"/>
                    </a:xfrm>
                    <a:prstGeom prst="cube">
                      <a:avLst>
                        <a:gd name="adj" fmla="val 23245"/>
                      </a:avLst>
                    </a:prstGeom>
                    <a:solidFill>
                      <a:srgbClr val="595959">
                        <a:alpha val="89018"/>
                      </a:srgb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2" name="AutoShape 216">
                      <a:extLst>
                        <a:ext uri="{FF2B5EF4-FFF2-40B4-BE49-F238E27FC236}">
                          <a16:creationId xmlns:a16="http://schemas.microsoft.com/office/drawing/2014/main" id="{8EA0E4E1-3EEA-EA33-9F34-28DB12EC21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8263553" y="3874646"/>
                      <a:ext cx="287968" cy="970407"/>
                    </a:xfrm>
                    <a:prstGeom prst="cube">
                      <a:avLst>
                        <a:gd name="adj" fmla="val 25537"/>
                      </a:avLst>
                    </a:prstGeom>
                    <a:solidFill>
                      <a:srgbClr val="595959">
                        <a:alpha val="89803"/>
                      </a:srgb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3" name="원통 91">
                      <a:extLst>
                        <a:ext uri="{FF2B5EF4-FFF2-40B4-BE49-F238E27FC236}">
                          <a16:creationId xmlns:a16="http://schemas.microsoft.com/office/drawing/2014/main" id="{90A9D84E-F9F0-69AA-38DF-799CF78F1396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009871" y="4091864"/>
                      <a:ext cx="46729" cy="526529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4" name="원통 91">
                      <a:extLst>
                        <a:ext uri="{FF2B5EF4-FFF2-40B4-BE49-F238E27FC236}">
                          <a16:creationId xmlns:a16="http://schemas.microsoft.com/office/drawing/2014/main" id="{944DE73F-5105-AFF1-560F-3488E0C8FFBF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009871" y="4358885"/>
                      <a:ext cx="46729" cy="526529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5" name="AutoShape 31">
                      <a:extLst>
                        <a:ext uri="{FF2B5EF4-FFF2-40B4-BE49-F238E27FC236}">
                          <a16:creationId xmlns:a16="http://schemas.microsoft.com/office/drawing/2014/main" id="{3F10BD8F-EE78-1678-11CF-8ECFD82FAD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30890" y="3927200"/>
                      <a:ext cx="273140" cy="341118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6" name="AutoShape 31">
                      <a:extLst>
                        <a:ext uri="{FF2B5EF4-FFF2-40B4-BE49-F238E27FC236}">
                          <a16:creationId xmlns:a16="http://schemas.microsoft.com/office/drawing/2014/main" id="{06E9AC5D-FBDB-1BC3-D583-8CB61E9041D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30890" y="4204957"/>
                      <a:ext cx="273140" cy="338862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7" name="원통 91">
                      <a:extLst>
                        <a:ext uri="{FF2B5EF4-FFF2-40B4-BE49-F238E27FC236}">
                          <a16:creationId xmlns:a16="http://schemas.microsoft.com/office/drawing/2014/main" id="{FF85108C-8A33-F580-9FAC-9B47538F9D5F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009871" y="4645939"/>
                      <a:ext cx="46729" cy="526529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438" name="AutoShape 31">
                      <a:extLst>
                        <a:ext uri="{FF2B5EF4-FFF2-40B4-BE49-F238E27FC236}">
                          <a16:creationId xmlns:a16="http://schemas.microsoft.com/office/drawing/2014/main" id="{A0BF253F-8D2C-11F9-8D7F-7ACEEE0C07A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30890" y="4474703"/>
                      <a:ext cx="273140" cy="338862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cxnSp>
                  <p:nvCxnSpPr>
                    <p:cNvPr id="439" name="직선 화살표 연결선 438">
                      <a:extLst>
                        <a:ext uri="{FF2B5EF4-FFF2-40B4-BE49-F238E27FC236}">
                          <a16:creationId xmlns:a16="http://schemas.microsoft.com/office/drawing/2014/main" id="{A543440F-597D-3F00-64F9-D3399321D25B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8374567" y="4151308"/>
                      <a:ext cx="0" cy="494441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40" name="AutoShape 216">
                      <a:extLst>
                        <a:ext uri="{FF2B5EF4-FFF2-40B4-BE49-F238E27FC236}">
                          <a16:creationId xmlns:a16="http://schemas.microsoft.com/office/drawing/2014/main" id="{E8A4B3B8-4F20-5FB4-0F86-EE88A38F05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7762641" y="3583621"/>
                      <a:ext cx="297132" cy="1366986"/>
                    </a:xfrm>
                    <a:prstGeom prst="cube">
                      <a:avLst>
                        <a:gd name="adj" fmla="val 53662"/>
                      </a:avLst>
                    </a:prstGeom>
                    <a:solidFill>
                      <a:srgbClr val="595959">
                        <a:alpha val="89803"/>
                      </a:srgb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grpSp>
                  <p:nvGrpSpPr>
                    <p:cNvPr id="444" name="그룹 443">
                      <a:extLst>
                        <a:ext uri="{FF2B5EF4-FFF2-40B4-BE49-F238E27FC236}">
                          <a16:creationId xmlns:a16="http://schemas.microsoft.com/office/drawing/2014/main" id="{D0016BB6-C73A-594C-9AC8-63DD577FB612}"/>
                        </a:ext>
                      </a:extLst>
                    </p:cNvPr>
                    <p:cNvGrpSpPr/>
                    <p:nvPr/>
                  </p:nvGrpSpPr>
                  <p:grpSpPr>
                    <a:xfrm rot="20351958">
                      <a:off x="10219498" y="4422112"/>
                      <a:ext cx="214871" cy="717460"/>
                      <a:chOff x="9680523" y="4241222"/>
                      <a:chExt cx="224227" cy="1013958"/>
                    </a:xfrm>
                  </p:grpSpPr>
                  <p:sp>
                    <p:nvSpPr>
                      <p:cNvPr id="442" name="원통형 441">
                        <a:extLst>
                          <a:ext uri="{FF2B5EF4-FFF2-40B4-BE49-F238E27FC236}">
                            <a16:creationId xmlns:a16="http://schemas.microsoft.com/office/drawing/2014/main" id="{ABFF60E4-72C8-1E53-47BA-9EA0623CE0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80523" y="4598705"/>
                        <a:ext cx="224227" cy="656475"/>
                      </a:xfrm>
                      <a:prstGeom prst="ca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 dirty="0"/>
                      </a:p>
                    </p:txBody>
                  </p:sp>
                  <p:sp>
                    <p:nvSpPr>
                      <p:cNvPr id="443" name="원통형 442">
                        <a:extLst>
                          <a:ext uri="{FF2B5EF4-FFF2-40B4-BE49-F238E27FC236}">
                            <a16:creationId xmlns:a16="http://schemas.microsoft.com/office/drawing/2014/main" id="{2816FF0D-F555-4B3A-3C87-C892F93A75DA}"/>
                          </a:ext>
                        </a:extLst>
                      </p:cNvPr>
                      <p:cNvSpPr/>
                      <p:nvPr/>
                    </p:nvSpPr>
                    <p:spPr>
                      <a:xfrm rot="16189">
                        <a:off x="9720158" y="4241222"/>
                        <a:ext cx="97721" cy="381149"/>
                      </a:xfrm>
                      <a:prstGeom prst="can">
                        <a:avLst/>
                      </a:prstGeom>
                      <a:solidFill>
                        <a:srgbClr val="00FF0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 dirty="0"/>
                      </a:p>
                    </p:txBody>
                  </p:sp>
                </p:grpSp>
                <p:cxnSp>
                  <p:nvCxnSpPr>
                    <p:cNvPr id="446" name="직선 화살표 연결선 445">
                      <a:extLst>
                        <a:ext uri="{FF2B5EF4-FFF2-40B4-BE49-F238E27FC236}">
                          <a16:creationId xmlns:a16="http://schemas.microsoft.com/office/drawing/2014/main" id="{F79E934D-537D-9BC8-D408-E85E127797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927896" y="3810780"/>
                      <a:ext cx="234169" cy="654435"/>
                    </a:xfrm>
                    <a:prstGeom prst="straightConnector1">
                      <a:avLst/>
                    </a:prstGeom>
                    <a:ln w="38100">
                      <a:solidFill>
                        <a:srgbClr val="0000FF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59" name="TextBox 458">
                    <a:extLst>
                      <a:ext uri="{FF2B5EF4-FFF2-40B4-BE49-F238E27FC236}">
                        <a16:creationId xmlns:a16="http://schemas.microsoft.com/office/drawing/2014/main" id="{8E21FD8B-ED43-78DA-D144-B896E7226A08}"/>
                      </a:ext>
                    </a:extLst>
                  </p:cNvPr>
                  <p:cNvSpPr txBox="1"/>
                  <p:nvPr/>
                </p:nvSpPr>
                <p:spPr>
                  <a:xfrm>
                    <a:off x="9555331" y="4100792"/>
                    <a:ext cx="1577337" cy="5390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Brush </a:t>
                    </a:r>
                    <a:r>
                      <a:rPr lang="ko-KR" altLang="en-US" sz="10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결품 감지센서</a:t>
                    </a:r>
                  </a:p>
                </p:txBody>
              </p:sp>
            </p:grpSp>
            <p:grpSp>
              <p:nvGrpSpPr>
                <p:cNvPr id="502" name="그룹 501">
                  <a:extLst>
                    <a:ext uri="{FF2B5EF4-FFF2-40B4-BE49-F238E27FC236}">
                      <a16:creationId xmlns:a16="http://schemas.microsoft.com/office/drawing/2014/main" id="{847F1819-C1EF-4912-7FFB-B62180076571}"/>
                    </a:ext>
                  </a:extLst>
                </p:cNvPr>
                <p:cNvGrpSpPr/>
                <p:nvPr/>
              </p:nvGrpSpPr>
              <p:grpSpPr>
                <a:xfrm>
                  <a:off x="8873500" y="2903689"/>
                  <a:ext cx="1939253" cy="1114144"/>
                  <a:chOff x="8683453" y="3124901"/>
                  <a:chExt cx="2469331" cy="1501035"/>
                </a:xfrm>
              </p:grpSpPr>
              <p:grpSp>
                <p:nvGrpSpPr>
                  <p:cNvPr id="503" name="그룹 502">
                    <a:extLst>
                      <a:ext uri="{FF2B5EF4-FFF2-40B4-BE49-F238E27FC236}">
                        <a16:creationId xmlns:a16="http://schemas.microsoft.com/office/drawing/2014/main" id="{39A7C831-A2D8-345B-AD5D-8F9A1A8458CF}"/>
                      </a:ext>
                    </a:extLst>
                  </p:cNvPr>
                  <p:cNvGrpSpPr/>
                  <p:nvPr/>
                </p:nvGrpSpPr>
                <p:grpSpPr>
                  <a:xfrm>
                    <a:off x="8683453" y="3124901"/>
                    <a:ext cx="2418650" cy="1498878"/>
                    <a:chOff x="7757294" y="3413301"/>
                    <a:chExt cx="2694989" cy="1710161"/>
                  </a:xfrm>
                </p:grpSpPr>
                <p:sp>
                  <p:nvSpPr>
                    <p:cNvPr id="505" name="AutoShape 216">
                      <a:extLst>
                        <a:ext uri="{FF2B5EF4-FFF2-40B4-BE49-F238E27FC236}">
                          <a16:creationId xmlns:a16="http://schemas.microsoft.com/office/drawing/2014/main" id="{A99CEB48-0029-4466-3627-D94D6B604AF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7757294" y="3413301"/>
                      <a:ext cx="2592000" cy="307512"/>
                    </a:xfrm>
                    <a:prstGeom prst="cube">
                      <a:avLst>
                        <a:gd name="adj" fmla="val 46954"/>
                      </a:avLst>
                    </a:prstGeom>
                    <a:solidFill>
                      <a:srgbClr val="7F7F7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506" name="원통 91">
                      <a:extLst>
                        <a:ext uri="{FF2B5EF4-FFF2-40B4-BE49-F238E27FC236}">
                          <a16:creationId xmlns:a16="http://schemas.microsoft.com/office/drawing/2014/main" id="{2741EBAB-AE77-3E3F-F8B7-F3821261F0AE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10050918" y="3715915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507" name="원통 91">
                      <a:extLst>
                        <a:ext uri="{FF2B5EF4-FFF2-40B4-BE49-F238E27FC236}">
                          <a16:creationId xmlns:a16="http://schemas.microsoft.com/office/drawing/2014/main" id="{2BD72FD9-2800-0F0D-CBE8-B9B47BF5A428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427940" y="3750827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508" name="원통 91">
                      <a:extLst>
                        <a:ext uri="{FF2B5EF4-FFF2-40B4-BE49-F238E27FC236}">
                          <a16:creationId xmlns:a16="http://schemas.microsoft.com/office/drawing/2014/main" id="{BECB6309-C076-F913-35F1-88614AE2218A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660840" y="3713396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509" name="원통 91">
                      <a:extLst>
                        <a:ext uri="{FF2B5EF4-FFF2-40B4-BE49-F238E27FC236}">
                          <a16:creationId xmlns:a16="http://schemas.microsoft.com/office/drawing/2014/main" id="{1E08B095-7395-C9E3-A766-E1E8D5DF742F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861772" y="3710878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510" name="AutoShape 31">
                      <a:extLst>
                        <a:ext uri="{FF2B5EF4-FFF2-40B4-BE49-F238E27FC236}">
                          <a16:creationId xmlns:a16="http://schemas.microsoft.com/office/drawing/2014/main" id="{4B8DF050-2B05-3761-4290-90A6F1B0688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10116740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511" name="AutoShape 31">
                      <a:extLst>
                        <a:ext uri="{FF2B5EF4-FFF2-40B4-BE49-F238E27FC236}">
                          <a16:creationId xmlns:a16="http://schemas.microsoft.com/office/drawing/2014/main" id="{F31AF363-DE93-5D14-F5C8-B19973D7A5E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929863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192" name="AutoShape 31">
                      <a:extLst>
                        <a:ext uri="{FF2B5EF4-FFF2-40B4-BE49-F238E27FC236}">
                          <a16:creationId xmlns:a16="http://schemas.microsoft.com/office/drawing/2014/main" id="{61EC53BA-8B1E-64DB-E158-E7578F9D395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747489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193" name="AutoShape 31">
                      <a:extLst>
                        <a:ext uri="{FF2B5EF4-FFF2-40B4-BE49-F238E27FC236}">
                          <a16:creationId xmlns:a16="http://schemas.microsoft.com/office/drawing/2014/main" id="{CC4B30CF-995F-32C9-E364-6DFDFEB42F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561675" y="3617647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cxnSp>
                  <p:nvCxnSpPr>
                    <p:cNvPr id="194" name="직선 화살표 연결선 193">
                      <a:extLst>
                        <a:ext uri="{FF2B5EF4-FFF2-40B4-BE49-F238E27FC236}">
                          <a16:creationId xmlns:a16="http://schemas.microsoft.com/office/drawing/2014/main" id="{145A02C1-04F0-3AE5-70A7-B9E495E919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>
                      <a:off x="9690548" y="3554694"/>
                      <a:ext cx="367848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95" name="원통 91">
                      <a:extLst>
                        <a:ext uri="{FF2B5EF4-FFF2-40B4-BE49-F238E27FC236}">
                          <a16:creationId xmlns:a16="http://schemas.microsoft.com/office/drawing/2014/main" id="{E517D316-0D8D-3357-FD77-C0BD8EE8E06D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311987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196" name="원통 91">
                      <a:extLst>
                        <a:ext uri="{FF2B5EF4-FFF2-40B4-BE49-F238E27FC236}">
                          <a16:creationId xmlns:a16="http://schemas.microsoft.com/office/drawing/2014/main" id="{DB604A85-F8BB-5697-1A36-A97103BAAF8C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336289" y="3710881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197" name="원통 91">
                      <a:extLst>
                        <a:ext uri="{FF2B5EF4-FFF2-40B4-BE49-F238E27FC236}">
                          <a16:creationId xmlns:a16="http://schemas.microsoft.com/office/drawing/2014/main" id="{A50B3D15-B491-5F3A-B874-892D6B7D1F91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517630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198" name="원통 91">
                      <a:extLst>
                        <a:ext uri="{FF2B5EF4-FFF2-40B4-BE49-F238E27FC236}">
                          <a16:creationId xmlns:a16="http://schemas.microsoft.com/office/drawing/2014/main" id="{EC5243E0-9AA5-028C-65B5-E52576A613A7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683522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199" name="원통 91">
                      <a:extLst>
                        <a:ext uri="{FF2B5EF4-FFF2-40B4-BE49-F238E27FC236}">
                          <a16:creationId xmlns:a16="http://schemas.microsoft.com/office/drawing/2014/main" id="{214EFEE1-ADD9-B251-25B3-4BF94E91F011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900928" y="3715918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0" name="원통 91">
                      <a:extLst>
                        <a:ext uri="{FF2B5EF4-FFF2-40B4-BE49-F238E27FC236}">
                          <a16:creationId xmlns:a16="http://schemas.microsoft.com/office/drawing/2014/main" id="{34398D3D-534A-5A2F-E943-8898776EE1A0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094645" y="3713399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1" name="원통 91">
                      <a:extLst>
                        <a:ext uri="{FF2B5EF4-FFF2-40B4-BE49-F238E27FC236}">
                          <a16:creationId xmlns:a16="http://schemas.microsoft.com/office/drawing/2014/main" id="{25A6B087-475E-2646-31FD-2A357B8133EA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9295577" y="3710881"/>
                      <a:ext cx="46729" cy="756000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2" name="AutoShape 31">
                      <a:extLst>
                        <a:ext uri="{FF2B5EF4-FFF2-40B4-BE49-F238E27FC236}">
                          <a16:creationId xmlns:a16="http://schemas.microsoft.com/office/drawing/2014/main" id="{30D0D918-07A9-2337-8429-72A9A4A2E5A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352156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3" name="AutoShape 31">
                      <a:extLst>
                        <a:ext uri="{FF2B5EF4-FFF2-40B4-BE49-F238E27FC236}">
                          <a16:creationId xmlns:a16="http://schemas.microsoft.com/office/drawing/2014/main" id="{AA499CD6-B3A3-7C0D-7F37-750E22A14B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9156019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4" name="AutoShape 31">
                      <a:extLst>
                        <a:ext uri="{FF2B5EF4-FFF2-40B4-BE49-F238E27FC236}">
                          <a16:creationId xmlns:a16="http://schemas.microsoft.com/office/drawing/2014/main" id="{0F8A1F36-C8C6-C4DE-F755-2B01D52683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978402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5" name="AutoShape 31">
                      <a:extLst>
                        <a:ext uri="{FF2B5EF4-FFF2-40B4-BE49-F238E27FC236}">
                          <a16:creationId xmlns:a16="http://schemas.microsoft.com/office/drawing/2014/main" id="{FF62F673-93BD-603B-CF85-AD60C6F3C6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804225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6" name="AutoShape 31">
                      <a:extLst>
                        <a:ext uri="{FF2B5EF4-FFF2-40B4-BE49-F238E27FC236}">
                          <a16:creationId xmlns:a16="http://schemas.microsoft.com/office/drawing/2014/main" id="{C87F1968-0823-790D-4A2C-76E873B420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621851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7" name="AutoShape 31">
                      <a:extLst>
                        <a:ext uri="{FF2B5EF4-FFF2-40B4-BE49-F238E27FC236}">
                          <a16:creationId xmlns:a16="http://schemas.microsoft.com/office/drawing/2014/main" id="{A78D42D0-9400-6DA9-4AF1-DF5D1ED874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436037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08" name="AutoShape 31">
                      <a:extLst>
                        <a:ext uri="{FF2B5EF4-FFF2-40B4-BE49-F238E27FC236}">
                          <a16:creationId xmlns:a16="http://schemas.microsoft.com/office/drawing/2014/main" id="{1D522309-93D5-C6DE-8E4F-98C521397D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239901" y="3617649"/>
                      <a:ext cx="244309" cy="312823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cxnSp>
                  <p:nvCxnSpPr>
                    <p:cNvPr id="209" name="직선 화살표 연결선 208">
                      <a:extLst>
                        <a:ext uri="{FF2B5EF4-FFF2-40B4-BE49-F238E27FC236}">
                          <a16:creationId xmlns:a16="http://schemas.microsoft.com/office/drawing/2014/main" id="{CEDA21B6-D8F8-1E79-D6F6-F332B24A57C5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9049847" y="3554696"/>
                      <a:ext cx="375060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직선 화살표 연결선 209">
                      <a:extLst>
                        <a:ext uri="{FF2B5EF4-FFF2-40B4-BE49-F238E27FC236}">
                          <a16:creationId xmlns:a16="http://schemas.microsoft.com/office/drawing/2014/main" id="{57C1E6B5-EEE2-2D05-829C-1A9AA2E01020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8389670" y="3554696"/>
                      <a:ext cx="367848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1" name="AutoShape 31">
                      <a:extLst>
                        <a:ext uri="{FF2B5EF4-FFF2-40B4-BE49-F238E27FC236}">
                          <a16:creationId xmlns:a16="http://schemas.microsoft.com/office/drawing/2014/main" id="{B1AA8EC6-3E6F-2482-345A-36004F176D9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07266" y="3649844"/>
                      <a:ext cx="273140" cy="346904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2" name="AutoShape 216">
                      <a:extLst>
                        <a:ext uri="{FF2B5EF4-FFF2-40B4-BE49-F238E27FC236}">
                          <a16:creationId xmlns:a16="http://schemas.microsoft.com/office/drawing/2014/main" id="{45163783-0515-9C38-56A2-42EA5C701A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8468589" y="3877019"/>
                      <a:ext cx="1908000" cy="290479"/>
                    </a:xfrm>
                    <a:prstGeom prst="cube">
                      <a:avLst>
                        <a:gd name="adj" fmla="val 23245"/>
                      </a:avLst>
                    </a:prstGeom>
                    <a:solidFill>
                      <a:srgbClr val="595959">
                        <a:alpha val="89018"/>
                      </a:srgb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3" name="AutoShape 216">
                      <a:extLst>
                        <a:ext uri="{FF2B5EF4-FFF2-40B4-BE49-F238E27FC236}">
                          <a16:creationId xmlns:a16="http://schemas.microsoft.com/office/drawing/2014/main" id="{7C6CA25C-78EE-2BFE-C291-E0CA13C7694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8263553" y="3874646"/>
                      <a:ext cx="287968" cy="970407"/>
                    </a:xfrm>
                    <a:prstGeom prst="cube">
                      <a:avLst>
                        <a:gd name="adj" fmla="val 25537"/>
                      </a:avLst>
                    </a:prstGeom>
                    <a:solidFill>
                      <a:srgbClr val="595959">
                        <a:alpha val="89803"/>
                      </a:srgb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4" name="원통 91">
                      <a:extLst>
                        <a:ext uri="{FF2B5EF4-FFF2-40B4-BE49-F238E27FC236}">
                          <a16:creationId xmlns:a16="http://schemas.microsoft.com/office/drawing/2014/main" id="{5709229A-C7CB-20BF-E83E-3AA6921F6621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009871" y="4091864"/>
                      <a:ext cx="46729" cy="526529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5" name="원통 91">
                      <a:extLst>
                        <a:ext uri="{FF2B5EF4-FFF2-40B4-BE49-F238E27FC236}">
                          <a16:creationId xmlns:a16="http://schemas.microsoft.com/office/drawing/2014/main" id="{09A79F06-F668-0DC2-0B62-1FFD201399C5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009871" y="4358885"/>
                      <a:ext cx="46729" cy="526529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6" name="AutoShape 31">
                      <a:extLst>
                        <a:ext uri="{FF2B5EF4-FFF2-40B4-BE49-F238E27FC236}">
                          <a16:creationId xmlns:a16="http://schemas.microsoft.com/office/drawing/2014/main" id="{32EFE283-F2B6-1D6A-38AE-FBACDC35FDE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30890" y="3927200"/>
                      <a:ext cx="273140" cy="341118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00FF0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8" name="AutoShape 31">
                      <a:extLst>
                        <a:ext uri="{FF2B5EF4-FFF2-40B4-BE49-F238E27FC236}">
                          <a16:creationId xmlns:a16="http://schemas.microsoft.com/office/drawing/2014/main" id="{EDEADB44-7E67-7863-2DAB-3F700E7F58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30890" y="4204957"/>
                      <a:ext cx="273140" cy="338862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19" name="원통 91">
                      <a:extLst>
                        <a:ext uri="{FF2B5EF4-FFF2-40B4-BE49-F238E27FC236}">
                          <a16:creationId xmlns:a16="http://schemas.microsoft.com/office/drawing/2014/main" id="{7B96156E-EF19-BE12-7F41-B5C01B78006A}"/>
                        </a:ext>
                      </a:extLst>
                    </p:cNvPr>
                    <p:cNvSpPr/>
                    <p:nvPr/>
                  </p:nvSpPr>
                  <p:spPr bwMode="auto">
                    <a:xfrm rot="2743493" flipH="1">
                      <a:off x="8009871" y="4645939"/>
                      <a:ext cx="46729" cy="526529"/>
                    </a:xfrm>
                    <a:prstGeom prst="can">
                      <a:avLst>
                        <a:gd name="adj" fmla="val 69658"/>
                      </a:avLst>
                    </a:prstGeom>
                    <a:pattFill prst="openDmnd">
                      <a:fgClr>
                        <a:schemeClr val="tx1"/>
                      </a:fgClr>
                      <a:bgClr>
                        <a:srgbClr val="FFFF00"/>
                      </a:bgClr>
                    </a:pattFill>
                    <a:ln>
                      <a:solidFill>
                        <a:schemeClr val="tx1"/>
                      </a:solidFill>
                    </a:ln>
                  </p:spPr>
                  <p:style>
                    <a:lnRef idx="0">
                      <a:schemeClr val="accent6"/>
                    </a:lnRef>
                    <a:fillRef idx="3">
                      <a:schemeClr val="accent6"/>
                    </a:fillRef>
                    <a:effectRef idx="3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lvl1pPr marL="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ko-KR" altLang="en-US" sz="1000" dirty="0"/>
                    </a:p>
                  </p:txBody>
                </p:sp>
                <p:sp>
                  <p:nvSpPr>
                    <p:cNvPr id="220" name="AutoShape 31">
                      <a:extLst>
                        <a:ext uri="{FF2B5EF4-FFF2-40B4-BE49-F238E27FC236}">
                          <a16:creationId xmlns:a16="http://schemas.microsoft.com/office/drawing/2014/main" id="{FFBF2E9B-9BC5-2589-F68F-E6857CAA09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rot="10800000">
                      <a:off x="8030890" y="4474703"/>
                      <a:ext cx="273140" cy="338862"/>
                    </a:xfrm>
                    <a:prstGeom prst="cube">
                      <a:avLst>
                        <a:gd name="adj" fmla="val 33898"/>
                      </a:avLst>
                    </a:prstGeom>
                    <a:solidFill>
                      <a:srgbClr val="FAC090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cxnSp>
                  <p:nvCxnSpPr>
                    <p:cNvPr id="221" name="직선 화살표 연결선 220">
                      <a:extLst>
                        <a:ext uri="{FF2B5EF4-FFF2-40B4-BE49-F238E27FC236}">
                          <a16:creationId xmlns:a16="http://schemas.microsoft.com/office/drawing/2014/main" id="{1009DF7E-917D-AFC4-F487-3992BADEA9E8}"/>
                        </a:ext>
                      </a:extLst>
                    </p:cNvPr>
                    <p:cNvCxnSpPr/>
                    <p:nvPr/>
                  </p:nvCxnSpPr>
                  <p:spPr bwMode="auto">
                    <a:xfrm flipH="1">
                      <a:off x="8374567" y="4151308"/>
                      <a:ext cx="0" cy="494441"/>
                    </a:xfrm>
                    <a:prstGeom prst="straightConnector1">
                      <a:avLst/>
                    </a:prstGeom>
                    <a:ln w="38100">
                      <a:solidFill>
                        <a:srgbClr val="00FF00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3" name="AutoShape 216">
                      <a:extLst>
                        <a:ext uri="{FF2B5EF4-FFF2-40B4-BE49-F238E27FC236}">
                          <a16:creationId xmlns:a16="http://schemas.microsoft.com/office/drawing/2014/main" id="{7E615D7D-89E3-8368-2655-47F8144712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 flipH="1" flipV="1">
                      <a:off x="7762641" y="3583621"/>
                      <a:ext cx="297132" cy="1366986"/>
                    </a:xfrm>
                    <a:prstGeom prst="cube">
                      <a:avLst>
                        <a:gd name="adj" fmla="val 53662"/>
                      </a:avLst>
                    </a:prstGeom>
                    <a:solidFill>
                      <a:srgbClr val="595959">
                        <a:alpha val="89803"/>
                      </a:srgbClr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ko-KR" altLang="en-US" sz="1000" dirty="0"/>
                    </a:p>
                  </p:txBody>
                </p:sp>
                <p:grpSp>
                  <p:nvGrpSpPr>
                    <p:cNvPr id="234" name="그룹 233">
                      <a:extLst>
                        <a:ext uri="{FF2B5EF4-FFF2-40B4-BE49-F238E27FC236}">
                          <a16:creationId xmlns:a16="http://schemas.microsoft.com/office/drawing/2014/main" id="{F8B373D7-F5EC-79AE-07A3-C927A599CB8B}"/>
                        </a:ext>
                      </a:extLst>
                    </p:cNvPr>
                    <p:cNvGrpSpPr/>
                    <p:nvPr/>
                  </p:nvGrpSpPr>
                  <p:grpSpPr>
                    <a:xfrm rot="20351958">
                      <a:off x="10207452" y="4425997"/>
                      <a:ext cx="214871" cy="697465"/>
                      <a:chOff x="9671037" y="4241220"/>
                      <a:chExt cx="224227" cy="985698"/>
                    </a:xfrm>
                  </p:grpSpPr>
                  <p:sp>
                    <p:nvSpPr>
                      <p:cNvPr id="236" name="원통형 235">
                        <a:extLst>
                          <a:ext uri="{FF2B5EF4-FFF2-40B4-BE49-F238E27FC236}">
                            <a16:creationId xmlns:a16="http://schemas.microsoft.com/office/drawing/2014/main" id="{281EE56E-0B5D-A09A-9A1D-D644498344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71037" y="4570438"/>
                        <a:ext cx="224227" cy="656480"/>
                      </a:xfrm>
                      <a:prstGeom prst="ca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 dirty="0"/>
                      </a:p>
                    </p:txBody>
                  </p:sp>
                  <p:sp>
                    <p:nvSpPr>
                      <p:cNvPr id="237" name="원통형 236">
                        <a:extLst>
                          <a:ext uri="{FF2B5EF4-FFF2-40B4-BE49-F238E27FC236}">
                            <a16:creationId xmlns:a16="http://schemas.microsoft.com/office/drawing/2014/main" id="{F293345A-4769-3C6E-49E4-AE71C9CB1499}"/>
                          </a:ext>
                        </a:extLst>
                      </p:cNvPr>
                      <p:cNvSpPr/>
                      <p:nvPr/>
                    </p:nvSpPr>
                    <p:spPr>
                      <a:xfrm rot="16189">
                        <a:off x="9720160" y="4241220"/>
                        <a:ext cx="97721" cy="381148"/>
                      </a:xfrm>
                      <a:prstGeom prst="can">
                        <a:avLst/>
                      </a:prstGeom>
                      <a:solidFill>
                        <a:srgbClr val="00FF0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 dirty="0"/>
                      </a:p>
                    </p:txBody>
                  </p:sp>
                </p:grpSp>
                <p:cxnSp>
                  <p:nvCxnSpPr>
                    <p:cNvPr id="235" name="직선 화살표 연결선 234">
                      <a:extLst>
                        <a:ext uri="{FF2B5EF4-FFF2-40B4-BE49-F238E27FC236}">
                          <a16:creationId xmlns:a16="http://schemas.microsoft.com/office/drawing/2014/main" id="{EB4CA81A-68A6-8947-5C93-8C4AF2F2426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927896" y="3810780"/>
                      <a:ext cx="234169" cy="654435"/>
                    </a:xfrm>
                    <a:prstGeom prst="straightConnector1">
                      <a:avLst/>
                    </a:prstGeom>
                    <a:ln w="38100">
                      <a:solidFill>
                        <a:srgbClr val="0000FF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4" name="TextBox 503">
                    <a:extLst>
                      <a:ext uri="{FF2B5EF4-FFF2-40B4-BE49-F238E27FC236}">
                        <a16:creationId xmlns:a16="http://schemas.microsoft.com/office/drawing/2014/main" id="{00ECC456-8A87-819C-98D9-46DBA4E89EA0}"/>
                      </a:ext>
                    </a:extLst>
                  </p:cNvPr>
                  <p:cNvSpPr txBox="1"/>
                  <p:nvPr/>
                </p:nvSpPr>
                <p:spPr>
                  <a:xfrm>
                    <a:off x="9555240" y="4086886"/>
                    <a:ext cx="1597544" cy="5390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Brush </a:t>
                    </a:r>
                    <a:r>
                      <a:rPr lang="ko-KR" altLang="en-US" sz="10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결품</a:t>
                    </a:r>
                    <a:endParaRPr lang="en-US" altLang="ko-KR" sz="1000" b="1" dirty="0">
                      <a:solidFill>
                        <a:srgbClr val="0000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  <a:p>
                    <a:pPr algn="ctr"/>
                    <a:r>
                      <a:rPr lang="ko-KR" altLang="en-US" sz="10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감지 센서</a:t>
                    </a:r>
                  </a:p>
                </p:txBody>
              </p:sp>
            </p:grpSp>
            <p:sp>
              <p:nvSpPr>
                <p:cNvPr id="245" name="화살표: 오른쪽 244">
                  <a:extLst>
                    <a:ext uri="{FF2B5EF4-FFF2-40B4-BE49-F238E27FC236}">
                      <a16:creationId xmlns:a16="http://schemas.microsoft.com/office/drawing/2014/main" id="{E926BCDC-F440-120D-B652-BB2309BC1D87}"/>
                    </a:ext>
                  </a:extLst>
                </p:cNvPr>
                <p:cNvSpPr/>
                <p:nvPr/>
              </p:nvSpPr>
              <p:spPr>
                <a:xfrm>
                  <a:off x="8318500" y="3200444"/>
                  <a:ext cx="350196" cy="393740"/>
                </a:xfrm>
                <a:prstGeom prst="right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471075984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8DF808-E571-DC63-87ED-DDCD449B1D8E}"/>
              </a:ext>
            </a:extLst>
          </p:cNvPr>
          <p:cNvSpPr txBox="1"/>
          <p:nvPr/>
        </p:nvSpPr>
        <p:spPr>
          <a:xfrm>
            <a:off x="610809" y="1206817"/>
            <a:ext cx="6200269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 dirty="0"/>
              <a:t>■ </a:t>
            </a:r>
            <a:r>
              <a:rPr lang="en-US" altLang="ko-KR" sz="1100" dirty="0"/>
              <a:t>Brush </a:t>
            </a:r>
            <a:r>
              <a:rPr lang="ko-KR" altLang="en-US" sz="1100" dirty="0"/>
              <a:t>동선 위치 감지 센서 설치</a:t>
            </a:r>
            <a:endParaRPr lang="en-US" altLang="ko-KR" sz="1100" dirty="0"/>
          </a:p>
          <a:p>
            <a:pPr>
              <a:lnSpc>
                <a:spcPct val="100000"/>
              </a:lnSpc>
            </a:pPr>
            <a:r>
              <a:rPr lang="en-US" altLang="ko-KR" sz="1100" dirty="0"/>
              <a:t>   : </a:t>
            </a:r>
            <a:r>
              <a:rPr lang="ko-KR" altLang="en-US" sz="1100" dirty="0">
                <a:solidFill>
                  <a:srgbClr val="FF0000"/>
                </a:solidFill>
              </a:rPr>
              <a:t>역방향 </a:t>
            </a:r>
            <a:r>
              <a:rPr lang="en-US" altLang="ko-KR" sz="1100" dirty="0">
                <a:solidFill>
                  <a:srgbClr val="FF0000"/>
                </a:solidFill>
              </a:rPr>
              <a:t>(180</a:t>
            </a:r>
            <a:r>
              <a:rPr lang="ko-KR" altLang="en-US" sz="1100" dirty="0">
                <a:solidFill>
                  <a:srgbClr val="FF0000"/>
                </a:solidFill>
              </a:rPr>
              <a:t>도 회전</a:t>
            </a:r>
            <a:r>
              <a:rPr lang="en-US" altLang="ko-KR" sz="1100" dirty="0">
                <a:solidFill>
                  <a:srgbClr val="FF0000"/>
                </a:solidFill>
              </a:rPr>
              <a:t>)  </a:t>
            </a:r>
            <a:r>
              <a:rPr lang="ko-KR" altLang="en-US" sz="1100" dirty="0">
                <a:solidFill>
                  <a:srgbClr val="FF0000"/>
                </a:solidFill>
              </a:rPr>
              <a:t>투입품 동선 방향 다름 → 동선 정위치 불일치를 감지해 불량 검출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D53EF2-D9D8-AE0A-D8C9-EBEFFD15A676}"/>
              </a:ext>
            </a:extLst>
          </p:cNvPr>
          <p:cNvSpPr txBox="1"/>
          <p:nvPr/>
        </p:nvSpPr>
        <p:spPr>
          <a:xfrm>
            <a:off x="11068050" y="1364339"/>
            <a:ext cx="923479" cy="169277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100" dirty="0"/>
              <a:t>2025.07.31</a:t>
            </a:r>
            <a:endParaRPr lang="ko-KR" altLang="en-US" sz="1100" dirty="0"/>
          </a:p>
        </p:txBody>
      </p:sp>
      <p:sp>
        <p:nvSpPr>
          <p:cNvPr id="8" name="TextBox 18">
            <a:extLst>
              <a:ext uri="{FF2B5EF4-FFF2-40B4-BE49-F238E27FC236}">
                <a16:creationId xmlns:a16="http://schemas.microsoft.com/office/drawing/2014/main" id="{64C35CC3-B7B1-67B4-9648-CEF795954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0286" y="142649"/>
            <a:ext cx="7820947" cy="4921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BRUSH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R</a:t>
            </a:r>
            <a:r>
              <a:rPr lang="ko-KR" altLang="en-US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역방향 가공 불량 </a:t>
            </a:r>
            <a:r>
              <a:rPr lang="en-US" altLang="ko-KR" sz="3200" b="1" i="1" dirty="0">
                <a:solidFill>
                  <a:srgbClr val="336699"/>
                </a:solidFill>
                <a:latin typeface="Calibri"/>
                <a:ea typeface="Calibri" panose="020F0502020204030204" pitchFamily="34" charset="0"/>
                <a:cs typeface="Calibri"/>
              </a:rPr>
              <a:t>(6/6)</a:t>
            </a:r>
            <a:endParaRPr lang="ru-RU" altLang="en-US" sz="1600" b="1" i="1" dirty="0">
              <a:solidFill>
                <a:srgbClr val="00FF99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ECDE8DE-5B28-362F-4571-D12B2EA5931C}"/>
              </a:ext>
            </a:extLst>
          </p:cNvPr>
          <p:cNvGrpSpPr/>
          <p:nvPr/>
        </p:nvGrpSpPr>
        <p:grpSpPr>
          <a:xfrm>
            <a:off x="6606634" y="1892869"/>
            <a:ext cx="2311279" cy="1753276"/>
            <a:chOff x="6543561" y="1838767"/>
            <a:chExt cx="3213397" cy="231485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A32BC36-FA4A-4BB6-EA88-E1F96A08A9F1}"/>
                </a:ext>
              </a:extLst>
            </p:cNvPr>
            <p:cNvGrpSpPr/>
            <p:nvPr/>
          </p:nvGrpSpPr>
          <p:grpSpPr>
            <a:xfrm>
              <a:off x="6543561" y="1838767"/>
              <a:ext cx="3213397" cy="1747117"/>
              <a:chOff x="0" y="56034"/>
              <a:chExt cx="16759089" cy="7446498"/>
            </a:xfrm>
          </p:grpSpPr>
          <p:sp>
            <p:nvSpPr>
              <p:cNvPr id="15" name="원통 91">
                <a:extLst>
                  <a:ext uri="{FF2B5EF4-FFF2-40B4-BE49-F238E27FC236}">
                    <a16:creationId xmlns:a16="http://schemas.microsoft.com/office/drawing/2014/main" id="{B2DDE85D-AAC8-F306-BD27-5DCD6D3DBAA7}"/>
                  </a:ext>
                </a:extLst>
              </p:cNvPr>
              <p:cNvSpPr/>
              <p:nvPr/>
            </p:nvSpPr>
            <p:spPr bwMode="auto">
              <a:xfrm rot="2099698" flipH="1">
                <a:off x="14958244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6" name="원통 91">
                <a:extLst>
                  <a:ext uri="{FF2B5EF4-FFF2-40B4-BE49-F238E27FC236}">
                    <a16:creationId xmlns:a16="http://schemas.microsoft.com/office/drawing/2014/main" id="{2953C05C-A43C-9CB3-BFFD-C916B53E2018}"/>
                  </a:ext>
                </a:extLst>
              </p:cNvPr>
              <p:cNvSpPr/>
              <p:nvPr/>
            </p:nvSpPr>
            <p:spPr bwMode="auto">
              <a:xfrm rot="2099698" flipH="1">
                <a:off x="13336881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7" name="원통 91">
                <a:extLst>
                  <a:ext uri="{FF2B5EF4-FFF2-40B4-BE49-F238E27FC236}">
                    <a16:creationId xmlns:a16="http://schemas.microsoft.com/office/drawing/2014/main" id="{7A137BDD-2F9B-EF84-FE3A-C0033EB51A02}"/>
                  </a:ext>
                </a:extLst>
              </p:cNvPr>
              <p:cNvSpPr/>
              <p:nvPr/>
            </p:nvSpPr>
            <p:spPr bwMode="auto">
              <a:xfrm rot="2099698" flipH="1">
                <a:off x="10862336" y="3537125"/>
                <a:ext cx="252001" cy="3240000"/>
              </a:xfrm>
              <a:prstGeom prst="can">
                <a:avLst>
                  <a:gd name="adj" fmla="val 69658"/>
                </a:avLst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8" name="원통 91">
                <a:extLst>
                  <a:ext uri="{FF2B5EF4-FFF2-40B4-BE49-F238E27FC236}">
                    <a16:creationId xmlns:a16="http://schemas.microsoft.com/office/drawing/2014/main" id="{9F7C2614-27B7-04AC-5B53-263E6EB99DA2}"/>
                  </a:ext>
                </a:extLst>
              </p:cNvPr>
              <p:cNvSpPr/>
              <p:nvPr/>
            </p:nvSpPr>
            <p:spPr bwMode="auto">
              <a:xfrm rot="2099698" flipH="1">
                <a:off x="10094147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19" name="원통 91">
                <a:extLst>
                  <a:ext uri="{FF2B5EF4-FFF2-40B4-BE49-F238E27FC236}">
                    <a16:creationId xmlns:a16="http://schemas.microsoft.com/office/drawing/2014/main" id="{0C4B9303-4226-248D-70F3-2D0AABF8F14E}"/>
                  </a:ext>
                </a:extLst>
              </p:cNvPr>
              <p:cNvSpPr/>
              <p:nvPr/>
            </p:nvSpPr>
            <p:spPr bwMode="auto">
              <a:xfrm rot="2099698" flipH="1">
                <a:off x="8472780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20" name="원통 91">
                <a:extLst>
                  <a:ext uri="{FF2B5EF4-FFF2-40B4-BE49-F238E27FC236}">
                    <a16:creationId xmlns:a16="http://schemas.microsoft.com/office/drawing/2014/main" id="{895D0D9F-B4AD-B9D1-8D37-691D56965D7F}"/>
                  </a:ext>
                </a:extLst>
              </p:cNvPr>
              <p:cNvSpPr/>
              <p:nvPr/>
            </p:nvSpPr>
            <p:spPr bwMode="auto">
              <a:xfrm rot="2099698" flipH="1">
                <a:off x="6851413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21" name="원통 91">
                <a:extLst>
                  <a:ext uri="{FF2B5EF4-FFF2-40B4-BE49-F238E27FC236}">
                    <a16:creationId xmlns:a16="http://schemas.microsoft.com/office/drawing/2014/main" id="{E3308E5B-A6F2-D484-E05B-4DAFCA5AC6E7}"/>
                  </a:ext>
                </a:extLst>
              </p:cNvPr>
              <p:cNvSpPr/>
              <p:nvPr/>
            </p:nvSpPr>
            <p:spPr bwMode="auto">
              <a:xfrm rot="2099698" flipH="1">
                <a:off x="5230046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22" name="원통 91">
                <a:extLst>
                  <a:ext uri="{FF2B5EF4-FFF2-40B4-BE49-F238E27FC236}">
                    <a16:creationId xmlns:a16="http://schemas.microsoft.com/office/drawing/2014/main" id="{3B844711-3AD8-8AC5-B4A9-01CD1D8D84E9}"/>
                  </a:ext>
                </a:extLst>
              </p:cNvPr>
              <p:cNvSpPr/>
              <p:nvPr/>
            </p:nvSpPr>
            <p:spPr bwMode="auto">
              <a:xfrm rot="2099698" flipH="1">
                <a:off x="3608679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23" name="원통 91">
                <a:extLst>
                  <a:ext uri="{FF2B5EF4-FFF2-40B4-BE49-F238E27FC236}">
                    <a16:creationId xmlns:a16="http://schemas.microsoft.com/office/drawing/2014/main" id="{C4A7414C-4126-2157-B1A5-769D80BB9B44}"/>
                  </a:ext>
                </a:extLst>
              </p:cNvPr>
              <p:cNvSpPr/>
              <p:nvPr/>
            </p:nvSpPr>
            <p:spPr bwMode="auto">
              <a:xfrm rot="2099698" flipH="1">
                <a:off x="1987312" y="3526799"/>
                <a:ext cx="216000" cy="3240000"/>
              </a:xfrm>
              <a:prstGeom prst="can">
                <a:avLst>
                  <a:gd name="adj" fmla="val 69658"/>
                </a:avLst>
              </a:prstGeom>
              <a:pattFill prst="openDmnd">
                <a:fgClr>
                  <a:schemeClr val="tx1"/>
                </a:fgClr>
                <a:bgClr>
                  <a:srgbClr val="FFFF00"/>
                </a:bgClr>
              </a:pattFill>
              <a:ln>
                <a:solidFill>
                  <a:schemeClr val="tx1"/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ko-KR" altLang="en-US" dirty="0"/>
              </a:p>
            </p:txBody>
          </p:sp>
          <p:sp>
            <p:nvSpPr>
              <p:cNvPr id="24" name="AutoShape 216">
                <a:extLst>
                  <a:ext uri="{FF2B5EF4-FFF2-40B4-BE49-F238E27FC236}">
                    <a16:creationId xmlns:a16="http://schemas.microsoft.com/office/drawing/2014/main" id="{982AD6FA-E8A5-32C4-3D3D-08B3104DC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4526948" y="1793037"/>
                <a:ext cx="12223517" cy="1651572"/>
              </a:xfrm>
              <a:prstGeom prst="cube">
                <a:avLst>
                  <a:gd name="adj" fmla="val 46954"/>
                </a:avLst>
              </a:prstGeom>
              <a:solidFill>
                <a:srgbClr val="7F7F7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5" name="AutoShape 216">
                <a:extLst>
                  <a:ext uri="{FF2B5EF4-FFF2-40B4-BE49-F238E27FC236}">
                    <a16:creationId xmlns:a16="http://schemas.microsoft.com/office/drawing/2014/main" id="{C14E2812-441F-B203-40BA-AB79A6CC8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3334063" y="56034"/>
                <a:ext cx="2275748" cy="3084817"/>
              </a:xfrm>
              <a:prstGeom prst="cube">
                <a:avLst>
                  <a:gd name="adj" fmla="val 25537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6" name="AutoShape 31">
                <a:extLst>
                  <a:ext uri="{FF2B5EF4-FFF2-40B4-BE49-F238E27FC236}">
                    <a16:creationId xmlns:a16="http://schemas.microsoft.com/office/drawing/2014/main" id="{CC8C9A12-8DAF-9FF2-D392-44D15A3DD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4707089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" name="AutoShape 31">
                <a:extLst>
                  <a:ext uri="{FF2B5EF4-FFF2-40B4-BE49-F238E27FC236}">
                    <a16:creationId xmlns:a16="http://schemas.microsoft.com/office/drawing/2014/main" id="{06D52601-957E-088C-255D-513D59AF5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310263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1" name="AutoShape 31">
                <a:extLst>
                  <a:ext uri="{FF2B5EF4-FFF2-40B4-BE49-F238E27FC236}">
                    <a16:creationId xmlns:a16="http://schemas.microsoft.com/office/drawing/2014/main" id="{D141A2AC-2F5F-42C1-CEAC-E84390C1C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146008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F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3" name="AutoShape 31">
                <a:extLst>
                  <a:ext uri="{FF2B5EF4-FFF2-40B4-BE49-F238E27FC236}">
                    <a16:creationId xmlns:a16="http://schemas.microsoft.com/office/drawing/2014/main" id="{60DAFD2A-9D27-71F4-539D-0B7159532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977943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5" name="AutoShape 31">
                <a:extLst>
                  <a:ext uri="{FF2B5EF4-FFF2-40B4-BE49-F238E27FC236}">
                    <a16:creationId xmlns:a16="http://schemas.microsoft.com/office/drawing/2014/main" id="{50DF0BC4-6A18-DA27-A8F9-2477AF964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813688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7" name="AutoShape 31">
                <a:extLst>
                  <a:ext uri="{FF2B5EF4-FFF2-40B4-BE49-F238E27FC236}">
                    <a16:creationId xmlns:a16="http://schemas.microsoft.com/office/drawing/2014/main" id="{DB74FA20-7678-5979-1CBD-434B29A18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649433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8" name="AutoShape 31">
                <a:extLst>
                  <a:ext uri="{FF2B5EF4-FFF2-40B4-BE49-F238E27FC236}">
                    <a16:creationId xmlns:a16="http://schemas.microsoft.com/office/drawing/2014/main" id="{29CA7BC1-E8FF-B805-5EBB-5E2D91188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488988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39" name="AutoShape 31">
                <a:extLst>
                  <a:ext uri="{FF2B5EF4-FFF2-40B4-BE49-F238E27FC236}">
                    <a16:creationId xmlns:a16="http://schemas.microsoft.com/office/drawing/2014/main" id="{734A3C52-A0DF-508F-7A72-F7FB6A4DB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3285437" y="2770269"/>
                <a:ext cx="2052000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20234C6E-B01E-FE06-672B-7EDEFFB725E9}"/>
                  </a:ext>
                </a:extLst>
              </p:cNvPr>
              <p:cNvCxnSpPr/>
              <p:nvPr/>
            </p:nvCxnSpPr>
            <p:spPr bwMode="auto">
              <a:xfrm>
                <a:off x="3389963" y="3198691"/>
                <a:ext cx="2478462" cy="0"/>
              </a:xfrm>
              <a:prstGeom prst="straightConnector1">
                <a:avLst/>
              </a:prstGeom>
              <a:ln w="5715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AutoShape 31">
                <a:extLst>
                  <a:ext uri="{FF2B5EF4-FFF2-40B4-BE49-F238E27FC236}">
                    <a16:creationId xmlns:a16="http://schemas.microsoft.com/office/drawing/2014/main" id="{002CC09B-A9FE-971C-4E08-0657399380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613228" y="95639"/>
                <a:ext cx="2052001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2" name="AutoShape 31">
                <a:extLst>
                  <a:ext uri="{FF2B5EF4-FFF2-40B4-BE49-F238E27FC236}">
                    <a16:creationId xmlns:a16="http://schemas.microsoft.com/office/drawing/2014/main" id="{024B4865-BA9D-DE46-E52A-59420A58F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613228" y="984782"/>
                <a:ext cx="2052001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3" name="AutoShape 31">
                <a:extLst>
                  <a:ext uri="{FF2B5EF4-FFF2-40B4-BE49-F238E27FC236}">
                    <a16:creationId xmlns:a16="http://schemas.microsoft.com/office/drawing/2014/main" id="{651E056C-D71E-0403-A28B-02985D34A0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613228" y="1891097"/>
                <a:ext cx="2052001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4" name="AutoShape 31">
                <a:extLst>
                  <a:ext uri="{FF2B5EF4-FFF2-40B4-BE49-F238E27FC236}">
                    <a16:creationId xmlns:a16="http://schemas.microsoft.com/office/drawing/2014/main" id="{CBFBD63F-9756-FA31-3FDB-DE43B52FC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1613228" y="2768931"/>
                <a:ext cx="2052001" cy="1260000"/>
              </a:xfrm>
              <a:prstGeom prst="cube">
                <a:avLst>
                  <a:gd name="adj" fmla="val 33898"/>
                </a:avLst>
              </a:prstGeom>
              <a:solidFill>
                <a:srgbClr val="FAC09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45" name="AutoShape 216">
                <a:extLst>
                  <a:ext uri="{FF2B5EF4-FFF2-40B4-BE49-F238E27FC236}">
                    <a16:creationId xmlns:a16="http://schemas.microsoft.com/office/drawing/2014/main" id="{6585D17E-51F2-7886-ECAB-9DCDDE29E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0" y="105026"/>
                <a:ext cx="2047523" cy="4168128"/>
              </a:xfrm>
              <a:prstGeom prst="cube">
                <a:avLst>
                  <a:gd name="adj" fmla="val 40637"/>
                </a:avLst>
              </a:prstGeom>
              <a:solidFill>
                <a:srgbClr val="595959">
                  <a:alpha val="89803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cxnSp>
            <p:nvCxnSpPr>
              <p:cNvPr id="46" name="직선 화살표 연결선 45">
                <a:extLst>
                  <a:ext uri="{FF2B5EF4-FFF2-40B4-BE49-F238E27FC236}">
                    <a16:creationId xmlns:a16="http://schemas.microsoft.com/office/drawing/2014/main" id="{376E885E-D3C3-6F09-0EF9-00203F27766B}"/>
                  </a:ext>
                </a:extLst>
              </p:cNvPr>
              <p:cNvCxnSpPr/>
              <p:nvPr/>
            </p:nvCxnSpPr>
            <p:spPr bwMode="auto">
              <a:xfrm>
                <a:off x="7590742" y="3198691"/>
                <a:ext cx="2478462" cy="0"/>
              </a:xfrm>
              <a:prstGeom prst="straightConnector1">
                <a:avLst/>
              </a:prstGeom>
              <a:ln w="5715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C71CD5EB-5576-885B-7C12-4D18F52FA227}"/>
                  </a:ext>
                </a:extLst>
              </p:cNvPr>
              <p:cNvCxnSpPr/>
              <p:nvPr/>
            </p:nvCxnSpPr>
            <p:spPr bwMode="auto">
              <a:xfrm>
                <a:off x="14166871" y="3198690"/>
                <a:ext cx="2478462" cy="0"/>
              </a:xfrm>
              <a:prstGeom prst="straightConnector1">
                <a:avLst/>
              </a:prstGeom>
              <a:ln w="5715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60E49D46-995F-64D2-B74A-CB38D7B767BA}"/>
                  </a:ext>
                </a:extLst>
              </p:cNvPr>
              <p:cNvCxnSpPr>
                <a:cxnSpLocks/>
                <a:stCxn id="14" idx="1"/>
              </p:cNvCxnSpPr>
              <p:nvPr/>
            </p:nvCxnSpPr>
            <p:spPr bwMode="auto">
              <a:xfrm flipV="1">
                <a:off x="10276551" y="4647572"/>
                <a:ext cx="2223668" cy="285496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CC6C641-71EB-5871-2492-ED1879CC5244}"/>
                </a:ext>
              </a:extLst>
            </p:cNvPr>
            <p:cNvGrpSpPr>
              <a:grpSpLocks/>
            </p:cNvGrpSpPr>
            <p:nvPr/>
          </p:nvGrpSpPr>
          <p:grpSpPr bwMode="auto">
            <a:xfrm rot="1363572">
              <a:off x="8208582" y="3525390"/>
              <a:ext cx="228005" cy="628227"/>
              <a:chOff x="2884275" y="3084935"/>
              <a:chExt cx="224357" cy="1289662"/>
            </a:xfrm>
          </p:grpSpPr>
          <p:sp>
            <p:nvSpPr>
              <p:cNvPr id="13" name="원통형 12">
                <a:extLst>
                  <a:ext uri="{FF2B5EF4-FFF2-40B4-BE49-F238E27FC236}">
                    <a16:creationId xmlns:a16="http://schemas.microsoft.com/office/drawing/2014/main" id="{7A20DF0A-079D-584C-D8CC-15ED329A80A2}"/>
                  </a:ext>
                </a:extLst>
              </p:cNvPr>
              <p:cNvSpPr/>
              <p:nvPr/>
            </p:nvSpPr>
            <p:spPr>
              <a:xfrm rot="796495">
                <a:off x="2884275" y="3519902"/>
                <a:ext cx="224357" cy="854695"/>
              </a:xfrm>
              <a:prstGeom prst="ca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  <p:sp>
            <p:nvSpPr>
              <p:cNvPr id="14" name="원통형 13">
                <a:extLst>
                  <a:ext uri="{FF2B5EF4-FFF2-40B4-BE49-F238E27FC236}">
                    <a16:creationId xmlns:a16="http://schemas.microsoft.com/office/drawing/2014/main" id="{798B7603-8BD7-8D27-E7CB-7BF02734E676}"/>
                  </a:ext>
                </a:extLst>
              </p:cNvPr>
              <p:cNvSpPr/>
              <p:nvPr/>
            </p:nvSpPr>
            <p:spPr>
              <a:xfrm rot="822958">
                <a:off x="3017844" y="3084935"/>
                <a:ext cx="60495" cy="526711"/>
              </a:xfrm>
              <a:prstGeom prst="can">
                <a:avLst/>
              </a:prstGeom>
              <a:solidFill>
                <a:srgbClr val="00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/>
              </a:p>
            </p:txBody>
          </p:sp>
        </p:grp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7F23519-D566-1FAC-E494-8B196CE2B258}"/>
                </a:ext>
              </a:extLst>
            </p:cNvPr>
            <p:cNvSpPr/>
            <p:nvPr/>
          </p:nvSpPr>
          <p:spPr>
            <a:xfrm>
              <a:off x="8901789" y="2752593"/>
              <a:ext cx="175673" cy="156324"/>
            </a:xfrm>
            <a:prstGeom prst="ellipse">
              <a:avLst/>
            </a:prstGeom>
            <a:solidFill>
              <a:srgbClr val="0000FF"/>
            </a:solidFill>
            <a:ln w="38100">
              <a:solidFill>
                <a:srgbClr val="00FF00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280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330CAF7-3DD8-DD8F-EC8D-DD3F780946FF}"/>
              </a:ext>
            </a:extLst>
          </p:cNvPr>
          <p:cNvGrpSpPr/>
          <p:nvPr/>
        </p:nvGrpSpPr>
        <p:grpSpPr>
          <a:xfrm>
            <a:off x="1069708" y="1849222"/>
            <a:ext cx="4774590" cy="1996726"/>
            <a:chOff x="827412" y="1839449"/>
            <a:chExt cx="5048130" cy="183624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487F9E0-10C1-C06F-AC52-DBD898739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412" y="1839449"/>
              <a:ext cx="2380525" cy="183624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23C2226-D3D2-FFB1-D089-22A338F6F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31848" y="1839449"/>
              <a:ext cx="2443694" cy="1830888"/>
            </a:xfrm>
            <a:prstGeom prst="rect">
              <a:avLst/>
            </a:prstGeom>
          </p:spPr>
        </p:pic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0D280C92-0DBD-2425-86C3-F0481AA1774D}"/>
                </a:ext>
              </a:extLst>
            </p:cNvPr>
            <p:cNvSpPr/>
            <p:nvPr/>
          </p:nvSpPr>
          <p:spPr>
            <a:xfrm>
              <a:off x="1562141" y="2369060"/>
              <a:ext cx="1013450" cy="862494"/>
            </a:xfrm>
            <a:prstGeom prst="ellipse">
              <a:avLst/>
            </a:prstGeom>
            <a:noFill/>
            <a:ln w="28575">
              <a:solidFill>
                <a:srgbClr val="00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/>
            </a:p>
          </p:txBody>
        </p: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BD0F95F8-09FF-1D5F-3284-B918E99DF58B}"/>
                </a:ext>
              </a:extLst>
            </p:cNvPr>
            <p:cNvCxnSpPr>
              <a:cxnSpLocks/>
              <a:stCxn id="49" idx="6"/>
            </p:cNvCxnSpPr>
            <p:nvPr/>
          </p:nvCxnSpPr>
          <p:spPr>
            <a:xfrm flipV="1">
              <a:off x="2575591" y="2730070"/>
              <a:ext cx="1015788" cy="70237"/>
            </a:xfrm>
            <a:prstGeom prst="straightConnector1">
              <a:avLst/>
            </a:prstGeom>
            <a:ln w="19050">
              <a:solidFill>
                <a:srgbClr val="00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모서리가 둥근 직사각형 30">
            <a:extLst>
              <a:ext uri="{FF2B5EF4-FFF2-40B4-BE49-F238E27FC236}">
                <a16:creationId xmlns:a16="http://schemas.microsoft.com/office/drawing/2014/main" id="{7F7FDCBF-F81F-86CC-577E-8479213D9580}"/>
              </a:ext>
            </a:extLst>
          </p:cNvPr>
          <p:cNvSpPr/>
          <p:nvPr/>
        </p:nvSpPr>
        <p:spPr>
          <a:xfrm>
            <a:off x="8182753" y="3469470"/>
            <a:ext cx="1836890" cy="387628"/>
          </a:xfrm>
          <a:prstGeom prst="round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0000FF"/>
                </a:solidFill>
                <a:cs typeface="Arial" panose="020B0604020202020204" pitchFamily="34" charset="0"/>
              </a:rPr>
              <a:t>180</a:t>
            </a:r>
            <a:r>
              <a:rPr kumimoji="0" lang="ko-KR" altLang="en-US" sz="1000" b="1" kern="0" dirty="0">
                <a:solidFill>
                  <a:srgbClr val="0000FF"/>
                </a:solidFill>
                <a:cs typeface="Arial" panose="020B0604020202020204" pitchFamily="34" charset="0"/>
              </a:rPr>
              <a:t>도 회전 </a:t>
            </a:r>
            <a:r>
              <a:rPr kumimoji="0" lang="en-US" altLang="ko-KR" sz="1000" b="1" kern="0" dirty="0">
                <a:solidFill>
                  <a:srgbClr val="0000FF"/>
                </a:solidFill>
                <a:cs typeface="Arial" panose="020B0604020202020204" pitchFamily="34" charset="0"/>
              </a:rPr>
              <a:t>Brush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kern="0" dirty="0">
                <a:solidFill>
                  <a:srgbClr val="0000FF"/>
                </a:solidFill>
                <a:cs typeface="Arial" panose="020B0604020202020204" pitchFamily="34" charset="0"/>
              </a:rPr>
              <a:t>→ 동선 정렬 위치 다름 </a:t>
            </a:r>
            <a:r>
              <a:rPr lang="en-US" altLang="ko-KR" sz="1000" b="1" kern="0" dirty="0">
                <a:solidFill>
                  <a:srgbClr val="0000FF"/>
                </a:solidFill>
                <a:cs typeface="Arial" panose="020B0604020202020204" pitchFamily="34" charset="0"/>
              </a:rPr>
              <a:t> </a:t>
            </a:r>
            <a:r>
              <a:rPr lang="ko-KR" altLang="en-US" sz="1000" b="1" kern="0" dirty="0">
                <a:solidFill>
                  <a:srgbClr val="0000FF"/>
                </a:solidFill>
                <a:cs typeface="Arial" panose="020B0604020202020204" pitchFamily="34" charset="0"/>
              </a:rPr>
              <a:t>검출</a:t>
            </a:r>
            <a:endParaRPr kumimoji="0" lang="ko-KR" altLang="en-US" sz="1000" b="1" kern="0" dirty="0">
              <a:solidFill>
                <a:srgbClr val="0000FF"/>
              </a:solidFill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B3D430-B288-1588-A00F-4BE20FE81E2D}"/>
              </a:ext>
            </a:extLst>
          </p:cNvPr>
          <p:cNvSpPr txBox="1"/>
          <p:nvPr/>
        </p:nvSpPr>
        <p:spPr>
          <a:xfrm>
            <a:off x="618478" y="4142974"/>
            <a:ext cx="6200269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100" dirty="0"/>
              <a:t>■ 작업표준서에 외관검사 항목 추가</a:t>
            </a:r>
            <a:endParaRPr lang="en-US" altLang="ko-KR" sz="1100" dirty="0"/>
          </a:p>
          <a:p>
            <a:pPr>
              <a:lnSpc>
                <a:spcPct val="100000"/>
              </a:lnSpc>
            </a:pPr>
            <a:r>
              <a:rPr lang="en-US" altLang="ko-KR" sz="1100" dirty="0"/>
              <a:t>   : R</a:t>
            </a:r>
            <a:r>
              <a:rPr lang="ko-KR" altLang="en-US" sz="1100" dirty="0"/>
              <a:t>역방향 가공 불량사진 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C6240-6B8F-AF81-309B-9DE596C4272D}"/>
              </a:ext>
            </a:extLst>
          </p:cNvPr>
          <p:cNvSpPr txBox="1"/>
          <p:nvPr/>
        </p:nvSpPr>
        <p:spPr>
          <a:xfrm>
            <a:off x="11068050" y="4435403"/>
            <a:ext cx="923479" cy="169277"/>
          </a:xfrm>
          <a:prstGeom prst="rect">
            <a:avLst/>
          </a:prstGeom>
          <a:noFill/>
        </p:spPr>
        <p:txBody>
          <a:bodyPr wrap="square" lIns="0" tIns="0" rIns="0" bIns="0" anchor="ctr" anchorCtr="1">
            <a:spAutoFit/>
          </a:bodyPr>
          <a:lstStyle>
            <a:defPPr>
              <a:defRPr lang="fr-FR"/>
            </a:defPPr>
            <a:lvl1pPr eaLnBrk="0" hangingPunct="0">
              <a:lnSpc>
                <a:spcPct val="90000"/>
              </a:lnSpc>
              <a:spcBef>
                <a:spcPct val="50000"/>
              </a:spcBef>
              <a:defRPr sz="1400" b="1">
                <a:solidFill>
                  <a:srgbClr val="000000"/>
                </a:solidFill>
                <a:latin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100" dirty="0"/>
              <a:t>2025.07.31</a:t>
            </a:r>
            <a:endParaRPr lang="ko-KR" altLang="en-US" sz="11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F131997D-CD1C-8AAC-B1B3-A94A25D2F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394" y="4861374"/>
            <a:ext cx="4393694" cy="1511885"/>
          </a:xfrm>
          <a:prstGeom prst="rect">
            <a:avLst/>
          </a:prstGeom>
        </p:spPr>
      </p:pic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8A4B88D-00EF-646F-F1FB-D3906E6815FE}"/>
              </a:ext>
            </a:extLst>
          </p:cNvPr>
          <p:cNvSpPr/>
          <p:nvPr/>
        </p:nvSpPr>
        <p:spPr>
          <a:xfrm>
            <a:off x="1155431" y="5003408"/>
            <a:ext cx="925918" cy="1263171"/>
          </a:xfrm>
          <a:prstGeom prst="roundRect">
            <a:avLst>
              <a:gd name="adj" fmla="val 12580"/>
            </a:avLst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B66798ED-D153-1C83-1820-994290D21E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354" y="4317223"/>
            <a:ext cx="3196080" cy="2225982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2848323-14D6-C5C1-6AD4-3B094A549AFA}"/>
              </a:ext>
            </a:extLst>
          </p:cNvPr>
          <p:cNvCxnSpPr>
            <a:cxnSpLocks/>
          </p:cNvCxnSpPr>
          <p:nvPr/>
        </p:nvCxnSpPr>
        <p:spPr>
          <a:xfrm flipH="1" flipV="1">
            <a:off x="5672926" y="5931861"/>
            <a:ext cx="899492" cy="302051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033137DB-ECA6-E737-781B-34BEFE9DFECA}"/>
              </a:ext>
            </a:extLst>
          </p:cNvPr>
          <p:cNvSpPr/>
          <p:nvPr/>
        </p:nvSpPr>
        <p:spPr>
          <a:xfrm>
            <a:off x="6519075" y="5878041"/>
            <a:ext cx="1531837" cy="686491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295529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F5744E-CF66-754A-BEBA-A0792B95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THANK YOU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69298E-7566-ED1D-0324-504AC40DD406}"/>
              </a:ext>
            </a:extLst>
          </p:cNvPr>
          <p:cNvSpPr txBox="1"/>
          <p:nvPr/>
        </p:nvSpPr>
        <p:spPr>
          <a:xfrm>
            <a:off x="8498042" y="4925532"/>
            <a:ext cx="33921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>
                <a:solidFill>
                  <a:schemeClr val="bg1"/>
                </a:solidFill>
                <a:hlinkClick r:id="rId2"/>
              </a:rPr>
              <a:t>https://www.avocarbon.com/</a:t>
            </a:r>
            <a:r>
              <a:rPr lang="fr-FR" sz="16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A0F6961-DF8E-FAF2-C72A-E19B83AA5307}"/>
              </a:ext>
            </a:extLst>
          </p:cNvPr>
          <p:cNvSpPr txBox="1"/>
          <p:nvPr/>
        </p:nvSpPr>
        <p:spPr>
          <a:xfrm>
            <a:off x="8498042" y="5786142"/>
            <a:ext cx="203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err="1"/>
              <a:t>AVOCarbon</a:t>
            </a:r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336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Thème AVOCarbon">
  <a:themeElements>
    <a:clrScheme name="AVOCarbon">
      <a:dk1>
        <a:sysClr val="windowText" lastClr="000000"/>
      </a:dk1>
      <a:lt1>
        <a:sysClr val="window" lastClr="FFFFFF"/>
      </a:lt1>
      <a:dk2>
        <a:srgbClr val="0E4E78"/>
      </a:dk2>
      <a:lt2>
        <a:srgbClr val="E7E6E6"/>
      </a:lt2>
      <a:accent1>
        <a:srgbClr val="046EAF"/>
      </a:accent1>
      <a:accent2>
        <a:srgbClr val="EF7807"/>
      </a:accent2>
      <a:accent3>
        <a:srgbClr val="585858"/>
      </a:accent3>
      <a:accent4>
        <a:srgbClr val="C5C5C4"/>
      </a:accent4>
      <a:accent5>
        <a:srgbClr val="44546A"/>
      </a:accent5>
      <a:accent6>
        <a:srgbClr val="23C6D7"/>
      </a:accent6>
      <a:hlink>
        <a:srgbClr val="0563C1"/>
      </a:hlink>
      <a:folHlink>
        <a:srgbClr val="954F72"/>
      </a:folHlink>
    </a:clrScheme>
    <a:fontScheme name="AVOCarbon">
      <a:majorFont>
        <a:latin typeface="Montserrat SemiBold"/>
        <a:ea typeface=""/>
        <a:cs typeface=""/>
      </a:majorFont>
      <a:minorFont>
        <a:latin typeface="Hind Madur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marL="85725" indent="-85725">
          <a:lnSpc>
            <a:spcPct val="110000"/>
          </a:lnSpc>
          <a:defRPr sz="1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VOCarbon group PPT model V3" id="{5122D2E9-BD53-4C22-B24C-89F9AE833237}" vid="{831454BD-289B-48D0-965A-7ECB2520FB0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4C4C2A91A79843A3535691A9B4F854" ma:contentTypeVersion="5" ma:contentTypeDescription="새 문서를 만듭니다." ma:contentTypeScope="" ma:versionID="161f31db33f644a23b1a3baa4780539b">
  <xsd:schema xmlns:xsd="http://www.w3.org/2001/XMLSchema" xmlns:xs="http://www.w3.org/2001/XMLSchema" xmlns:p="http://schemas.microsoft.com/office/2006/metadata/properties" xmlns:ns2="973a9676-8bfa-474a-b724-61b32c9ef320" xmlns:ns3="9cba5fa8-b41e-47cf-a97f-879f1f12292d" targetNamespace="http://schemas.microsoft.com/office/2006/metadata/properties" ma:root="true" ma:fieldsID="7bdf67441ca86e56c4fb39b78fd4137e" ns2:_="" ns3:_="">
    <xsd:import namespace="973a9676-8bfa-474a-b724-61b32c9ef320"/>
    <xsd:import namespace="9cba5fa8-b41e-47cf-a97f-879f1f1229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a9676-8bfa-474a-b724-61b32c9ef3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ba5fa8-b41e-47cf-a97f-879f1f12292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6DF287-2F53-47B5-ACBB-D533509C2E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90566A-2F50-4EAB-8412-6E99E832CCF1}">
  <ds:schemaRefs>
    <ds:schemaRef ds:uri="973a9676-8bfa-474a-b724-61b32c9ef320"/>
    <ds:schemaRef ds:uri="9cba5fa8-b41e-47cf-a97f-879f1f1229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4A56304-7F52-471F-84C7-2C4CE38BB2B8}">
  <ds:schemaRefs>
    <ds:schemaRef ds:uri="http://purl.org/dc/elements/1.1/"/>
    <ds:schemaRef ds:uri="http://schemas.microsoft.com/office/2006/metadata/properties"/>
    <ds:schemaRef ds:uri="973a9676-8bfa-474a-b724-61b32c9ef320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cba5fa8-b41e-47cf-a97f-879f1f12292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4983</TotalTime>
  <Words>852</Words>
  <Application>Microsoft Office PowerPoint</Application>
  <PresentationFormat>와이드스크린</PresentationFormat>
  <Paragraphs>206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Mada Medium</vt:lpstr>
      <vt:lpstr>굴림</vt:lpstr>
      <vt:lpstr>맑은 고딕</vt:lpstr>
      <vt:lpstr>현대하모니 L</vt:lpstr>
      <vt:lpstr>Arial</vt:lpstr>
      <vt:lpstr>Calibri</vt:lpstr>
      <vt:lpstr>Hind Madurai</vt:lpstr>
      <vt:lpstr>Montserrat SemiBold</vt:lpstr>
      <vt:lpstr>Wingdings</vt:lpstr>
      <vt:lpstr>Thème AVOCarbon</vt:lpstr>
      <vt:lpstr>2025 품질개선 Report   - NEM2 Carbon Brush  R 역방향 가공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AVOCarbon Title</dc:title>
  <dc:creator>Karen PERROT</dc:creator>
  <cp:lastModifiedBy>Jaeseok Lee</cp:lastModifiedBy>
  <cp:revision>216</cp:revision>
  <dcterms:created xsi:type="dcterms:W3CDTF">2023-07-06T07:23:24Z</dcterms:created>
  <dcterms:modified xsi:type="dcterms:W3CDTF">2025-09-18T10:47:45Z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2303F357-0846-4434-A6AA-574B7640B36F</vt:lpwstr>
  </property>
  <property fmtid="{D5CDD505-2E9C-101B-9397-08002B2CF9AE}" pid="3" name="ArticulatePath">
    <vt:lpwstr>Présentation1</vt:lpwstr>
  </property>
  <property fmtid="{D5CDD505-2E9C-101B-9397-08002B2CF9AE}" pid="4" name="ContentTypeId">
    <vt:lpwstr>0x010100454C4C2A91A79843A3535691A9B4F854</vt:lpwstr>
  </property>
</Properties>
</file>