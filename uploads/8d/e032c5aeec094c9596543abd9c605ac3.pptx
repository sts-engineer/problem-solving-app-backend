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461" r:id="rId5"/>
    <p:sldId id="454" r:id="rId6"/>
    <p:sldId id="472" r:id="rId7"/>
    <p:sldId id="473" r:id="rId8"/>
    <p:sldId id="474" r:id="rId9"/>
    <p:sldId id="477" r:id="rId10"/>
    <p:sldId id="476" r:id="rId11"/>
    <p:sldId id="270" r:id="rId12"/>
  </p:sldIdLst>
  <p:sldSz cx="12192000" cy="6858000"/>
  <p:notesSz cx="6858000" cy="9144000"/>
  <p:custDataLst>
    <p:tags r:id="rId14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143" userDrawn="1">
          <p15:clr>
            <a:srgbClr val="A4A3A4"/>
          </p15:clr>
        </p15:guide>
        <p15:guide id="3" pos="7537" userDrawn="1">
          <p15:clr>
            <a:srgbClr val="A4A3A4"/>
          </p15:clr>
        </p15:guide>
        <p15:guide id="4" orient="horz" pos="4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FFFF"/>
    <a:srgbClr val="00FF00"/>
    <a:srgbClr val="FF00FF"/>
    <a:srgbClr val="66FF33"/>
    <a:srgbClr val="002060"/>
    <a:srgbClr val="0F2D69"/>
    <a:srgbClr val="FF3399"/>
    <a:srgbClr val="00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1266" y="102"/>
      </p:cViewPr>
      <p:guideLst>
        <p:guide orient="horz" pos="414"/>
        <p:guide pos="143"/>
        <p:guide pos="7537"/>
        <p:guide orient="horz" pos="42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6C7EB-E3DB-4C26-B0CD-718C699F6CA0}" type="datetimeFigureOut">
              <a:rPr lang="ko-KR" altLang="en-US" smtClean="0"/>
              <a:t>2025-12-01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BF274-376D-4927-8693-AEC6A6B8EA3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0775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BF274-376D-4927-8693-AEC6A6B8EA31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2002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BF274-376D-4927-8693-AEC6A6B8EA31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091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BF274-376D-4927-8693-AEC6A6B8EA31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150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BA002C-AD8A-86E2-8335-A31A1CFCA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58" y="1304518"/>
            <a:ext cx="6400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4F0397-3ED5-E266-FA5D-B5A7BD7D9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473" y="4359682"/>
            <a:ext cx="5245768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4" name="Image 12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1893462E-3360-47C1-A5D4-3898B6DD0B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759" y="231905"/>
            <a:ext cx="3979327" cy="77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47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705" y="239817"/>
            <a:ext cx="7122695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F5F0676-792A-D96C-629F-CC0C289A24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3540" y="4893391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9AF01875-A481-C7C6-C1CA-71ACBCFE43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3873" y="2953007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EEFBE549-6258-39D5-088D-8B9928B0CD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3540" y="3612195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315A1DE-D951-DCD8-4D72-79E1A2414E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3873" y="4252793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05A65FAA-D1C5-0365-D638-FDBEA0D83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3540" y="2294655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107CD2F-525B-1FE8-918D-ED052816BB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41153" y="2294655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1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EF0E012C-6417-AAE3-F24C-AF6898F34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41153" y="2953007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2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C8A3EC0A-B3FF-D9D0-F3DA-8E201624C7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41153" y="3617645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3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2D3B7AC3-221C-9E38-86BE-6F2FC36359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41153" y="4252792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4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2EBB6C2F-C623-E538-3E8C-CAE6F3B800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41153" y="4947888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5</a:t>
            </a:r>
          </a:p>
        </p:txBody>
      </p:sp>
      <p:pic>
        <p:nvPicPr>
          <p:cNvPr id="3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785B65E1-6056-536A-6784-2F6B18D2C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1DD7E7-E79A-8C5C-8331-2046B2F5C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7" y="1354908"/>
            <a:ext cx="7106653" cy="23134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9E8AF3-7B5F-521C-CA46-E85DD5B63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6747" y="3888115"/>
            <a:ext cx="7106653" cy="1091741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accent3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CA6F4-F185-D060-B451-510F9407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4D5C66-1470-29B2-A701-517B4670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4" name="Image 12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30F7BB4D-8882-C798-3982-ED7DA742EC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802" y="175125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22FE1B-A88E-EA42-9E26-6F5DB0CC2EA8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1907F0-B280-693D-F8CE-E4BAC559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F9A4E2-4CD9-F0BF-3192-9E64E7FA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A27A7-4EAA-A1AA-DFCE-495E95914BF5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44A5A1-ED5D-F3C3-23FD-742C89E5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831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4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C58CB450-A709-E42A-CCDA-22C338487B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7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A85B1F-85C8-CF47-D416-00B4DC8A7FAA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C68B4D-7B4F-1F56-36FA-19A118C1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52831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E3670E-EE5F-7A03-1BF6-966F8D95E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C044B7-FA69-AB20-2BFF-000368A5C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0B616CF-B652-33BF-9DFB-64728645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84D78C3-48E0-4333-4B79-5DD9563F5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EACB2E8-E1C6-2D68-18C7-71A69CFE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7EFFDB-70BB-1D89-E6A3-645E96FA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7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698022F9-2E62-E8E5-A9AE-B0048F1A68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86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Worldmap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37" y="0"/>
            <a:ext cx="7780422" cy="1058779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6" name="Image 5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2D00B0E3-A10D-D1BA-07A3-5DB7F49F2A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40" y="168426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7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phic / Swot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EB29FD-DFF4-EA16-F778-5A465C8400C2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74" y="273524"/>
            <a:ext cx="9188116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3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7342B31C-5ACB-CF80-2CE2-377D9C9319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2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presenta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EB29FD-DFF4-EA16-F778-5A465C8400C2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B690AD54-7564-0FBC-82D4-8EA890833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737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C7C47B8-BB0F-CB99-CE6D-6A02A41961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5832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98F4D228-7221-873D-7DA2-60108FDAEB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48927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DAEF71BB-6F34-A78C-429B-97B95F0474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52284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3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0BDDE54C-56AE-C6AC-8CDC-224B22F0D5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5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13F6AD-56DB-99B7-64A4-863258D8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79C0E8-0F03-3E07-9CE8-A848FDB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2" name="Image 10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D39469E5-6653-6851-2A68-DE6BEF3196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802" y="175125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7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slide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13F6AD-56DB-99B7-64A4-863258D8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79C0E8-0F03-3E07-9CE8-A848FDB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4117" y="635634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2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91214B03-44EC-7E7F-AD57-9E2CA194CB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45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_ vertical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8CC1630-E8BD-7C32-872D-FF2F1B5BE5DD}"/>
              </a:ext>
            </a:extLst>
          </p:cNvPr>
          <p:cNvSpPr/>
          <p:nvPr userDrawn="1"/>
        </p:nvSpPr>
        <p:spPr>
          <a:xfrm>
            <a:off x="-16042" y="0"/>
            <a:ext cx="2743201" cy="6858000"/>
          </a:xfrm>
          <a:prstGeom prst="rect">
            <a:avLst/>
          </a:prstGeom>
          <a:blipFill dpi="0" rotWithShape="1">
            <a:blip r:embed="rId3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blipFill dpi="0"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11516A-0CA2-383B-FA23-F250DC7D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58" y="393700"/>
            <a:ext cx="7040292" cy="720725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9C3035-3B99-AF2F-3857-B0A18AF5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58" y="1762125"/>
            <a:ext cx="8164242" cy="4341812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0D04C0-F272-6FA2-B99E-F177584FB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D8EFFF-9945-C878-5A30-86F60022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5" name="Image 20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29DDE5A9-2799-7ECF-5886-63C5356F0F9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625" y="6354041"/>
            <a:ext cx="2044627" cy="39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45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with ca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55E944-03DD-4C80-71A9-FF5F5F2B4DE8}"/>
              </a:ext>
            </a:extLst>
          </p:cNvPr>
          <p:cNvSpPr/>
          <p:nvPr userDrawn="1"/>
        </p:nvSpPr>
        <p:spPr>
          <a:xfrm>
            <a:off x="-16042" y="0"/>
            <a:ext cx="2743201" cy="6858000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4549D8-333F-A13A-D41C-C440985DD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1" y="457200"/>
            <a:ext cx="2454443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E3363C6-B066-C62B-79BA-20AA4A354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04619" y="9921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C84A64-67DD-7B9D-D23E-A6051725B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0421" y="2301081"/>
            <a:ext cx="2454443" cy="38115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8BA856-0295-35F9-D9FD-B014ACD1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18D470-679A-318D-EA3F-C9CC8B09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5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868849F0-B4D0-92D0-26A9-84ECFA3392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28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end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9910" y="481263"/>
            <a:ext cx="8297780" cy="1187116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err="1"/>
              <a:t>Thank</a:t>
            </a:r>
            <a:r>
              <a:rPr lang="fr-FR"/>
              <a:t> </a:t>
            </a:r>
            <a:r>
              <a:rPr lang="fr-FR" err="1"/>
              <a:t>you</a:t>
            </a:r>
            <a:r>
              <a:rPr lang="fr-FR"/>
              <a:t> message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11" name="Image 10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C60E68A8-E98F-19DB-D117-77559FB969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0728" y="3001580"/>
            <a:ext cx="4726489" cy="92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3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A5100AE-120C-893D-C577-C61DF183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9B272B-73B6-04AB-54DF-040227973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64D6D9-17AB-BE16-6762-9ED451AFB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3735F9-AC65-36E2-0A0F-E7C78BE0D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6242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05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0" r:id="rId2"/>
    <p:sldLayoutId id="2147483678" r:id="rId3"/>
    <p:sldLayoutId id="2147483662" r:id="rId4"/>
    <p:sldLayoutId id="2147483665" r:id="rId5"/>
    <p:sldLayoutId id="2147483672" r:id="rId6"/>
    <p:sldLayoutId id="2147483674" r:id="rId7"/>
    <p:sldLayoutId id="2147483676" r:id="rId8"/>
    <p:sldLayoutId id="2147483667" r:id="rId9"/>
    <p:sldLayoutId id="2147483681" r:id="rId10"/>
    <p:sldLayoutId id="2147483668" r:id="rId11"/>
    <p:sldLayoutId id="2147483669" r:id="rId12"/>
    <p:sldLayoutId id="214748368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pn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0" Type="http://schemas.openxmlformats.org/officeDocument/2006/relationships/image" Target="../media/image28.jpeg"/><Relationship Id="rId4" Type="http://schemas.openxmlformats.org/officeDocument/2006/relationships/image" Target="../media/image22.jpeg"/><Relationship Id="rId9" Type="http://schemas.openxmlformats.org/officeDocument/2006/relationships/image" Target="../media/image27.jpe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vocarbon.com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2B547-67A0-D7B3-FBC4-E70ADDF80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757" y="1094968"/>
            <a:ext cx="6836317" cy="3153182"/>
          </a:xfrm>
        </p:spPr>
        <p:txBody>
          <a:bodyPr anchor="ctr">
            <a:noAutofit/>
          </a:bodyPr>
          <a:lstStyle/>
          <a:p>
            <a:pPr lvl="0">
              <a:lnSpc>
                <a:spcPct val="50000"/>
              </a:lnSpc>
              <a:defRPr/>
            </a:pPr>
            <a:r>
              <a:rPr lang="ko-KR" altLang="en-US" sz="4000" b="1" dirty="0">
                <a:solidFill>
                  <a:srgbClr val="336699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  <a:t>품질개선 </a:t>
            </a:r>
            <a:r>
              <a:rPr lang="en-US" altLang="ko-KR" sz="40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</a:t>
            </a:r>
            <a:br>
              <a:rPr lang="en-US" altLang="ko-KR" sz="40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ko-KR" sz="32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ko-KR" sz="32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32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ko-KR" altLang="en-US" sz="3200" b="1" dirty="0" err="1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유니기전</a:t>
            </a:r>
            <a:r>
              <a:rPr lang="en-US" altLang="ko-KR" sz="32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DN8 Carbon Brush</a:t>
            </a:r>
            <a:br>
              <a:rPr lang="en-US" altLang="ko-KR" sz="32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ko-KR" sz="32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32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ko-KR" altLang="en-US" sz="3200" b="1" dirty="0">
                <a:solidFill>
                  <a:srgbClr val="336699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  <a:t>가공 치우침</a:t>
            </a:r>
            <a:endParaRPr lang="fr-FR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C78FB9-0E54-AE2C-8E1E-2967F229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5889" y="5003062"/>
            <a:ext cx="4933553" cy="1100839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AVOCarbon Korea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November 05, 2025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50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9337" name="Group 1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03545"/>
              </p:ext>
            </p:extLst>
          </p:nvPr>
        </p:nvGraphicFramePr>
        <p:xfrm>
          <a:off x="227014" y="666185"/>
          <a:ext cx="11737974" cy="6057344"/>
        </p:xfrm>
        <a:graphic>
          <a:graphicData uri="http://schemas.openxmlformats.org/drawingml/2006/table">
            <a:tbl>
              <a:tblPr/>
              <a:tblGrid>
                <a:gridCol w="386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2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2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964">
                <a:tc rowSpan="2"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개선대책서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추진부문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AVOCarbon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Korea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96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 고 자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재 석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964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     선     전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     선     후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1" marR="36000" marT="72000" marB="36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1" marR="36000" marT="72000" marB="360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83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marT="45721" marB="4572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45721" marB="4572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46" name="Rectangle 30"/>
          <p:cNvSpPr>
            <a:spLocks noChangeArrowheads="1"/>
          </p:cNvSpPr>
          <p:nvPr/>
        </p:nvSpPr>
        <p:spPr bwMode="auto">
          <a:xfrm>
            <a:off x="423744" y="3860143"/>
            <a:ext cx="1080000" cy="252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현상 및 원인</a:t>
            </a:r>
          </a:p>
        </p:txBody>
      </p:sp>
      <p:sp>
        <p:nvSpPr>
          <p:cNvPr id="9247" name="Rectangle 31"/>
          <p:cNvSpPr>
            <a:spLocks noChangeArrowheads="1"/>
          </p:cNvSpPr>
          <p:nvPr/>
        </p:nvSpPr>
        <p:spPr bwMode="auto">
          <a:xfrm>
            <a:off x="4218934" y="3872336"/>
            <a:ext cx="1080000" cy="252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개선내용</a:t>
            </a:r>
          </a:p>
        </p:txBody>
      </p:sp>
      <p:sp>
        <p:nvSpPr>
          <p:cNvPr id="9248" name="Rectangle 32"/>
          <p:cNvSpPr>
            <a:spLocks noChangeArrowheads="1"/>
          </p:cNvSpPr>
          <p:nvPr/>
        </p:nvSpPr>
        <p:spPr bwMode="auto">
          <a:xfrm>
            <a:off x="8068317" y="3872337"/>
            <a:ext cx="1080000" cy="252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유효성 검증</a:t>
            </a:r>
          </a:p>
        </p:txBody>
      </p:sp>
      <p:sp>
        <p:nvSpPr>
          <p:cNvPr id="9249" name="Rectangle 50"/>
          <p:cNvSpPr>
            <a:spLocks noChangeArrowheads="1"/>
          </p:cNvSpPr>
          <p:nvPr/>
        </p:nvSpPr>
        <p:spPr bwMode="auto">
          <a:xfrm>
            <a:off x="352427" y="1391266"/>
            <a:ext cx="1080000" cy="252412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latinLnBrk="0" hangingPunct="0">
              <a:spcBef>
                <a:spcPct val="50000"/>
              </a:spcBef>
            </a:pP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문제부위</a:t>
            </a:r>
          </a:p>
        </p:txBody>
      </p:sp>
      <p:sp>
        <p:nvSpPr>
          <p:cNvPr id="38" name="TextBox 3"/>
          <p:cNvSpPr txBox="1">
            <a:spLocks noChangeArrowheads="1"/>
          </p:cNvSpPr>
          <p:nvPr/>
        </p:nvSpPr>
        <p:spPr bwMode="auto">
          <a:xfrm>
            <a:off x="6312025" y="765281"/>
            <a:ext cx="13192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ko-KR" altLang="en-US" sz="1000" dirty="0">
                <a:solidFill>
                  <a:srgbClr val="7F7F7F"/>
                </a:solidFill>
                <a:latin typeface="+mn-ea"/>
                <a:ea typeface="+mn-ea"/>
              </a:rPr>
              <a:t>작성일</a:t>
            </a:r>
            <a:r>
              <a:rPr lang="en-US" altLang="ko-KR" sz="1000" dirty="0">
                <a:solidFill>
                  <a:srgbClr val="7F7F7F"/>
                </a:solidFill>
                <a:latin typeface="+mn-ea"/>
                <a:ea typeface="+mn-ea"/>
              </a:rPr>
              <a:t>: 2025.11.05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D0A8D5DD-74CF-E63B-5EB1-8B5B1151E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 R 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치우침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(1/5)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58612-E540-9342-3235-56E03FEF9B89}"/>
              </a:ext>
            </a:extLst>
          </p:cNvPr>
          <p:cNvSpPr txBox="1"/>
          <p:nvPr/>
        </p:nvSpPr>
        <p:spPr>
          <a:xfrm>
            <a:off x="261760" y="4140314"/>
            <a:ext cx="3844523" cy="15672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 marL="88900" indent="-88900">
              <a:lnSpc>
                <a:spcPct val="110000"/>
              </a:lnSpc>
              <a:spcBef>
                <a:spcPts val="0"/>
              </a:spcBef>
            </a:pPr>
            <a:r>
              <a:rPr lang="ko-KR" altLang="en-US" sz="1100" dirty="0"/>
              <a:t>■ </a:t>
            </a:r>
            <a:r>
              <a:rPr lang="ko-KR" altLang="en-US" sz="1100" dirty="0">
                <a:solidFill>
                  <a:schemeClr val="tx1"/>
                </a:solidFill>
              </a:rPr>
              <a:t>가공기 이송레일에 </a:t>
            </a:r>
            <a:r>
              <a:rPr lang="en-US" altLang="ko-KR" sz="1100" dirty="0">
                <a:solidFill>
                  <a:schemeClr val="tx1"/>
                </a:solidFill>
              </a:rPr>
              <a:t>Brush </a:t>
            </a:r>
            <a:r>
              <a:rPr lang="ko-KR" altLang="en-US" sz="1100" dirty="0">
                <a:solidFill>
                  <a:schemeClr val="tx1"/>
                </a:solidFill>
              </a:rPr>
              <a:t>간 유격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틈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r>
              <a:rPr lang="ko-KR" altLang="en-US" sz="1100" dirty="0">
                <a:solidFill>
                  <a:schemeClr val="tx1"/>
                </a:solidFill>
              </a:rPr>
              <a:t>이 발생 </a:t>
            </a:r>
            <a:r>
              <a:rPr lang="ko-KR" altLang="en-US" sz="1100" dirty="0"/>
              <a:t>→ </a:t>
            </a:r>
            <a:r>
              <a:rPr lang="en-US" altLang="ko-KR" sz="1100" dirty="0"/>
              <a:t>R </a:t>
            </a:r>
            <a:r>
              <a:rPr lang="ko-KR" altLang="en-US" sz="1100" dirty="0"/>
              <a:t>가공 중</a:t>
            </a:r>
            <a:r>
              <a:rPr lang="en-US" altLang="ko-KR" sz="1100" dirty="0"/>
              <a:t> Brush</a:t>
            </a:r>
            <a:r>
              <a:rPr lang="ko-KR" altLang="en-US" sz="1100" dirty="0"/>
              <a:t>가 </a:t>
            </a:r>
            <a:r>
              <a:rPr lang="ko-KR" altLang="en-US" sz="1100" dirty="0" err="1"/>
              <a:t>흔</a:t>
            </a:r>
            <a:r>
              <a:rPr lang="en-US" altLang="ko-KR" sz="1100" dirty="0"/>
              <a:t>Brush</a:t>
            </a:r>
            <a:r>
              <a:rPr lang="ko-KR" altLang="en-US" sz="1100" dirty="0"/>
              <a:t> 제거 후 </a:t>
            </a:r>
            <a:r>
              <a:rPr lang="en-US" altLang="ko-KR" sz="1100" dirty="0"/>
              <a:t>Brush</a:t>
            </a:r>
            <a:r>
              <a:rPr lang="ko-KR" altLang="en-US" sz="1100" dirty="0"/>
              <a:t>를 보충하지 않음</a:t>
            </a:r>
            <a:r>
              <a:rPr lang="en-US" altLang="ko-KR" sz="1100" dirty="0"/>
              <a:t>.</a:t>
            </a:r>
          </a:p>
          <a:p>
            <a:pPr marL="88900" indent="-88900">
              <a:lnSpc>
                <a:spcPct val="110000"/>
              </a:lnSpc>
              <a:spcBef>
                <a:spcPts val="0"/>
              </a:spcBef>
            </a:pPr>
            <a:r>
              <a:rPr lang="ko-KR" altLang="en-US" sz="1100" dirty="0"/>
              <a:t>☞ 개선을 위해 설치한 </a:t>
            </a:r>
            <a:r>
              <a:rPr lang="en-US" altLang="ko-KR" sz="1100" dirty="0"/>
              <a:t>Brush </a:t>
            </a:r>
            <a:r>
              <a:rPr lang="ko-KR" altLang="en-US" sz="1100" dirty="0"/>
              <a:t>보충</a:t>
            </a:r>
            <a:r>
              <a:rPr lang="en-US" altLang="ko-KR" sz="1100" dirty="0"/>
              <a:t> </a:t>
            </a:r>
            <a:r>
              <a:rPr lang="ko-KR" altLang="en-US" sz="1100" dirty="0"/>
              <a:t>누락 감지 센서에서 유격 발생을 감지하지 못함</a:t>
            </a:r>
            <a:endParaRPr lang="en-US" altLang="ko-KR" sz="1100" dirty="0"/>
          </a:p>
          <a:p>
            <a:pPr marL="88900" indent="-88900">
              <a:lnSpc>
                <a:spcPct val="110000"/>
              </a:lnSpc>
              <a:spcBef>
                <a:spcPts val="0"/>
              </a:spcBef>
            </a:pPr>
            <a:r>
              <a:rPr lang="ko-KR" altLang="en-US" sz="1100" dirty="0">
                <a:solidFill>
                  <a:schemeClr val="tx1"/>
                </a:solidFill>
              </a:rPr>
              <a:t>→ </a:t>
            </a:r>
            <a:r>
              <a:rPr lang="en-US" altLang="ko-KR" sz="1100" dirty="0">
                <a:solidFill>
                  <a:srgbClr val="FF0000"/>
                </a:solidFill>
              </a:rPr>
              <a:t>Brush </a:t>
            </a:r>
            <a:r>
              <a:rPr lang="ko-KR" altLang="en-US" sz="1100" dirty="0">
                <a:solidFill>
                  <a:srgbClr val="FF0000"/>
                </a:solidFill>
              </a:rPr>
              <a:t>보충 </a:t>
            </a:r>
            <a:r>
              <a:rPr lang="ko-KR" altLang="en-US" sz="1100" dirty="0"/>
              <a:t>들려 </a:t>
            </a:r>
            <a:r>
              <a:rPr lang="en-US" altLang="ko-KR" sz="1100" dirty="0"/>
              <a:t>R </a:t>
            </a:r>
            <a:r>
              <a:rPr lang="ko-KR" altLang="en-US" sz="1100" dirty="0"/>
              <a:t>치우침 가공 발생</a:t>
            </a:r>
            <a:r>
              <a:rPr lang="en-US" altLang="ko-KR" sz="1100" dirty="0"/>
              <a:t>. </a:t>
            </a:r>
            <a:r>
              <a:rPr lang="ko-KR" altLang="en-US" sz="1100" dirty="0"/>
              <a:t>→ </a:t>
            </a:r>
            <a:r>
              <a:rPr lang="en-US" altLang="ko-KR" sz="1100" dirty="0"/>
              <a:t>Brush </a:t>
            </a:r>
            <a:r>
              <a:rPr lang="ko-KR" altLang="en-US" sz="1100" dirty="0"/>
              <a:t>공급 에러 시 문제 </a:t>
            </a:r>
            <a:r>
              <a:rPr lang="ko-KR" altLang="en-US" sz="1100" dirty="0">
                <a:solidFill>
                  <a:srgbClr val="FF0000"/>
                </a:solidFill>
              </a:rPr>
              <a:t>누락 감지 센서의 감지 부분인 </a:t>
            </a:r>
            <a:r>
              <a:rPr lang="en-US" altLang="ko-KR" sz="1100" dirty="0">
                <a:solidFill>
                  <a:srgbClr val="FF0000"/>
                </a:solidFill>
              </a:rPr>
              <a:t>Brush feeding jig </a:t>
            </a:r>
            <a:r>
              <a:rPr lang="ko-KR" altLang="en-US" sz="1100" dirty="0">
                <a:solidFill>
                  <a:srgbClr val="FF0000"/>
                </a:solidFill>
              </a:rPr>
              <a:t>형상이</a:t>
            </a:r>
            <a:r>
              <a:rPr lang="en-US" altLang="ko-KR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>
                <a:solidFill>
                  <a:srgbClr val="FF0000"/>
                </a:solidFill>
              </a:rPr>
              <a:t>사선형으로 기울어져 있어 센서 감지 에러를 발생 시킴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1781B-6FDF-79F1-C87F-103FE52E7469}"/>
              </a:ext>
            </a:extLst>
          </p:cNvPr>
          <p:cNvSpPr txBox="1"/>
          <p:nvPr/>
        </p:nvSpPr>
        <p:spPr>
          <a:xfrm>
            <a:off x="4140325" y="4195141"/>
            <a:ext cx="3794000" cy="13768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ko-KR" sz="1100" dirty="0"/>
              <a:t>1. Brush </a:t>
            </a:r>
            <a:r>
              <a:rPr lang="ko-KR" altLang="en-US" sz="1100" dirty="0"/>
              <a:t>이송  </a:t>
            </a:r>
            <a:r>
              <a:rPr lang="en-US" altLang="ko-KR" sz="1100" dirty="0"/>
              <a:t>jig</a:t>
            </a:r>
            <a:r>
              <a:rPr lang="ko-KR" altLang="en-US" sz="1100" dirty="0"/>
              <a:t> 형상 변경하여 감지 센서 에러 발생 제거</a:t>
            </a:r>
            <a:endParaRPr lang="en-US" altLang="ko-KR" sz="1100" dirty="0"/>
          </a:p>
          <a:p>
            <a:pPr>
              <a:lnSpc>
                <a:spcPct val="120000"/>
              </a:lnSpc>
            </a:pPr>
            <a:r>
              <a:rPr lang="ko-KR" altLang="en-US" sz="1100" dirty="0"/>
              <a:t> </a:t>
            </a:r>
            <a:r>
              <a:rPr lang="en-US" altLang="ko-KR" sz="1100" dirty="0"/>
              <a:t>- Brush feeding jig </a:t>
            </a:r>
            <a:r>
              <a:rPr lang="ko-KR" altLang="en-US" sz="1100" dirty="0"/>
              <a:t>형상이 사선형으로 기울어져 있어 </a:t>
            </a:r>
            <a:r>
              <a:rPr lang="en-US" altLang="ko-KR" sz="1100" dirty="0"/>
              <a:t>brush </a:t>
            </a:r>
            <a:r>
              <a:rPr lang="ko-KR" altLang="en-US" sz="1100" dirty="0"/>
              <a:t>투입</a:t>
            </a:r>
            <a:r>
              <a:rPr lang="en-US" altLang="ko-KR" sz="1100" dirty="0"/>
              <a:t> </a:t>
            </a:r>
            <a:r>
              <a:rPr lang="ko-KR" altLang="en-US" sz="1100" dirty="0"/>
              <a:t>누락 감지 센서에 에러로 인해 </a:t>
            </a:r>
            <a:r>
              <a:rPr lang="en-US" altLang="ko-KR" sz="1100" dirty="0"/>
              <a:t>R</a:t>
            </a:r>
            <a:r>
              <a:rPr lang="ko-KR" altLang="en-US" sz="1100" dirty="0"/>
              <a:t>가공 치우침 발생함</a:t>
            </a:r>
            <a:r>
              <a:rPr lang="en-US" altLang="ko-KR" sz="1100" dirty="0"/>
              <a:t>. </a:t>
            </a:r>
            <a:r>
              <a:rPr lang="ko-KR" altLang="en-US" sz="1100" dirty="0"/>
              <a:t>이를 개선하기 위해 </a:t>
            </a:r>
            <a:r>
              <a:rPr lang="en-US" altLang="ko-KR" sz="1100" dirty="0"/>
              <a:t>Brush feeding jig </a:t>
            </a:r>
            <a:r>
              <a:rPr lang="ko-KR" altLang="en-US" sz="1100" dirty="0"/>
              <a:t>형상을 일자형</a:t>
            </a:r>
            <a:r>
              <a:rPr lang="en-US" altLang="ko-KR" sz="1100" dirty="0"/>
              <a:t>(</a:t>
            </a:r>
            <a:r>
              <a:rPr lang="ko-KR" altLang="en-US" sz="1100" dirty="0" err="1"/>
              <a:t>풀레이트판</a:t>
            </a:r>
            <a:r>
              <a:rPr lang="ko-KR" altLang="en-US" sz="1100" dirty="0"/>
              <a:t> 설치</a:t>
            </a:r>
            <a:r>
              <a:rPr lang="en-US" altLang="ko-KR" sz="1100" dirty="0"/>
              <a:t>)</a:t>
            </a:r>
            <a:r>
              <a:rPr lang="ko-KR" altLang="en-US" sz="1100" dirty="0"/>
              <a:t>으로 개선함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DB514D-F681-87D1-4ECF-F297850D77A5}"/>
              </a:ext>
            </a:extLst>
          </p:cNvPr>
          <p:cNvSpPr txBox="1"/>
          <p:nvPr/>
        </p:nvSpPr>
        <p:spPr>
          <a:xfrm>
            <a:off x="4140325" y="1602360"/>
            <a:ext cx="3667097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 dirty="0"/>
              <a:t>■ </a:t>
            </a:r>
            <a:r>
              <a:rPr lang="en-US" altLang="ko-KR" sz="1100" dirty="0"/>
              <a:t>Brush feeding jig </a:t>
            </a:r>
            <a:r>
              <a:rPr lang="ko-KR" altLang="en-US" sz="1100" dirty="0"/>
              <a:t>형상 </a:t>
            </a:r>
            <a:r>
              <a:rPr lang="en-US" altLang="ko-KR" sz="1100" dirty="0"/>
              <a:t>: </a:t>
            </a:r>
            <a:r>
              <a:rPr lang="ko-KR" altLang="en-US" sz="1100" dirty="0"/>
              <a:t>사선형</a:t>
            </a:r>
            <a:endParaRPr lang="en-US" altLang="ko-KR" sz="1100" dirty="0"/>
          </a:p>
          <a:p>
            <a:pPr>
              <a:lnSpc>
                <a:spcPct val="100000"/>
              </a:lnSpc>
            </a:pPr>
            <a:r>
              <a:rPr lang="en-US" altLang="ko-KR" sz="1100" dirty="0"/>
              <a:t>  : </a:t>
            </a:r>
            <a:r>
              <a:rPr lang="en-US" altLang="ko-KR" sz="1100" dirty="0">
                <a:solidFill>
                  <a:schemeClr val="tx1"/>
                </a:solidFill>
              </a:rPr>
              <a:t>Brush </a:t>
            </a:r>
            <a:r>
              <a:rPr lang="ko-KR" altLang="en-US" sz="1100" dirty="0">
                <a:solidFill>
                  <a:schemeClr val="tx1"/>
                </a:solidFill>
              </a:rPr>
              <a:t>보충 누락 감지 센서의 감지 에러 발생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2E57FE-F498-EC03-6AF9-2DD3897363FF}"/>
              </a:ext>
            </a:extLst>
          </p:cNvPr>
          <p:cNvSpPr txBox="1"/>
          <p:nvPr/>
        </p:nvSpPr>
        <p:spPr>
          <a:xfrm>
            <a:off x="7978159" y="1602360"/>
            <a:ext cx="3793999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■ </a:t>
            </a:r>
            <a:r>
              <a:rPr lang="en-US" altLang="ko-KR" sz="1100" dirty="0">
                <a:solidFill>
                  <a:schemeClr val="tx1"/>
                </a:solidFill>
              </a:rPr>
              <a:t>Brush feeding </a:t>
            </a:r>
            <a:r>
              <a:rPr lang="en-US" altLang="ko-KR" sz="1100" dirty="0"/>
              <a:t>jig </a:t>
            </a:r>
            <a:r>
              <a:rPr lang="ko-KR" altLang="en-US" sz="1100" dirty="0"/>
              <a:t>형상 </a:t>
            </a:r>
            <a:r>
              <a:rPr lang="en-US" altLang="ko-KR" sz="1100" dirty="0"/>
              <a:t>: </a:t>
            </a:r>
            <a:r>
              <a:rPr lang="ko-KR" altLang="en-US" sz="1100" dirty="0"/>
              <a:t>일자형 </a:t>
            </a:r>
            <a:r>
              <a:rPr lang="en-US" altLang="ko-KR" sz="1100" dirty="0"/>
              <a:t>(</a:t>
            </a:r>
            <a:r>
              <a:rPr lang="ko-KR" altLang="en-US" sz="1100" dirty="0"/>
              <a:t>플레이트판 설치</a:t>
            </a:r>
            <a:r>
              <a:rPr lang="en-US" altLang="ko-KR" sz="1100" dirty="0"/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1100" dirty="0"/>
              <a:t>  : </a:t>
            </a:r>
            <a:r>
              <a:rPr lang="en-US" altLang="ko-KR" sz="1100" dirty="0">
                <a:solidFill>
                  <a:schemeClr val="tx1"/>
                </a:solidFill>
              </a:rPr>
              <a:t>Brush </a:t>
            </a:r>
            <a:r>
              <a:rPr lang="ko-KR" altLang="en-US" sz="1100" dirty="0">
                <a:solidFill>
                  <a:schemeClr val="tx1"/>
                </a:solidFill>
              </a:rPr>
              <a:t>보충 누락 감지 센서의 감지 에러 제거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endParaRPr lang="ko-KR" alt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2612FB-CC7A-C1AD-ED0E-2E9B96DEFB95}"/>
              </a:ext>
            </a:extLst>
          </p:cNvPr>
          <p:cNvSpPr txBox="1"/>
          <p:nvPr/>
        </p:nvSpPr>
        <p:spPr>
          <a:xfrm>
            <a:off x="352427" y="1823565"/>
            <a:ext cx="3597639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r>
              <a:rPr lang="en-US" altLang="ko-KR" dirty="0"/>
              <a:t>Brush  R</a:t>
            </a:r>
            <a:r>
              <a:rPr lang="ko-KR" altLang="en-US" dirty="0"/>
              <a:t> 치우침 가공 불량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D0A6B-28AF-88B8-31E1-CA409333B233}"/>
              </a:ext>
            </a:extLst>
          </p:cNvPr>
          <p:cNvSpPr txBox="1"/>
          <p:nvPr/>
        </p:nvSpPr>
        <p:spPr>
          <a:xfrm>
            <a:off x="2495550" y="1315840"/>
            <a:ext cx="1543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SPM28-DN8</a:t>
            </a:r>
            <a:endParaRPr kumimoji="1" lang="ko-KR" altLang="ko-K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243" name="TextBox 9242">
            <a:extLst>
              <a:ext uri="{FF2B5EF4-FFF2-40B4-BE49-F238E27FC236}">
                <a16:creationId xmlns:a16="http://schemas.microsoft.com/office/drawing/2014/main" id="{746EE941-1854-E436-2618-1795C4C83E51}"/>
              </a:ext>
            </a:extLst>
          </p:cNvPr>
          <p:cNvSpPr txBox="1"/>
          <p:nvPr/>
        </p:nvSpPr>
        <p:spPr>
          <a:xfrm>
            <a:off x="8011532" y="4195141"/>
            <a:ext cx="3794000" cy="4816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100" dirty="0"/>
              <a:t>1.Brush </a:t>
            </a:r>
            <a:r>
              <a:rPr lang="ko-KR" altLang="en-US" sz="1100" dirty="0"/>
              <a:t>전수검사 실시</a:t>
            </a:r>
            <a:endParaRPr lang="en-US" altLang="ko-KR" sz="1100" dirty="0"/>
          </a:p>
          <a:p>
            <a:pPr>
              <a:lnSpc>
                <a:spcPct val="80000"/>
              </a:lnSpc>
            </a:pPr>
            <a:r>
              <a:rPr lang="ko-KR" altLang="en-US" sz="1100" dirty="0"/>
              <a:t> </a:t>
            </a:r>
            <a:r>
              <a:rPr lang="en-US" altLang="ko-KR" sz="1100" dirty="0"/>
              <a:t>- </a:t>
            </a:r>
            <a:r>
              <a:rPr lang="ko-KR" altLang="en-US" sz="1100" dirty="0"/>
              <a:t>시행기간 </a:t>
            </a:r>
            <a:r>
              <a:rPr lang="en-US" altLang="ko-KR" sz="1100" dirty="0"/>
              <a:t>: 2025.11.06~2025.11.07</a:t>
            </a:r>
            <a:endParaRPr lang="ko-KR" alt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46C12-D25D-13B5-7F6E-090B4577E704}"/>
              </a:ext>
            </a:extLst>
          </p:cNvPr>
          <p:cNvSpPr txBox="1"/>
          <p:nvPr/>
        </p:nvSpPr>
        <p:spPr>
          <a:xfrm>
            <a:off x="4140325" y="2676606"/>
            <a:ext cx="36670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 dirty="0"/>
              <a:t>■ </a:t>
            </a:r>
            <a:r>
              <a:rPr lang="en-US" altLang="ko-KR" sz="1100" dirty="0"/>
              <a:t>“R </a:t>
            </a:r>
            <a:r>
              <a:rPr lang="ko-KR" altLang="en-US" sz="1100" dirty="0"/>
              <a:t>치우침 가공</a:t>
            </a:r>
            <a:r>
              <a:rPr lang="en-US" altLang="ko-KR" sz="1100" dirty="0"/>
              <a:t>”</a:t>
            </a:r>
            <a:r>
              <a:rPr lang="ko-KR" altLang="en-US" sz="1100" dirty="0"/>
              <a:t> 검사 누락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68844-1064-0105-34DA-05F8F64E6FC6}"/>
              </a:ext>
            </a:extLst>
          </p:cNvPr>
          <p:cNvSpPr txBox="1"/>
          <p:nvPr/>
        </p:nvSpPr>
        <p:spPr>
          <a:xfrm>
            <a:off x="8016236" y="2676606"/>
            <a:ext cx="3667097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 dirty="0"/>
              <a:t>■ </a:t>
            </a:r>
            <a:r>
              <a:rPr lang="en-US" altLang="ko-KR" sz="1100" dirty="0"/>
              <a:t>“R </a:t>
            </a:r>
            <a:r>
              <a:rPr lang="ko-KR" altLang="en-US" sz="1100" dirty="0"/>
              <a:t>치우침</a:t>
            </a:r>
            <a:r>
              <a:rPr lang="en-US" altLang="ko-KR" sz="1100" dirty="0"/>
              <a:t> </a:t>
            </a:r>
            <a:r>
              <a:rPr lang="ko-KR" altLang="en-US" sz="1100" dirty="0"/>
              <a:t>가공 불량</a:t>
            </a:r>
            <a:r>
              <a:rPr lang="en-US" altLang="ko-KR" sz="1100" dirty="0"/>
              <a:t>”</a:t>
            </a:r>
            <a:r>
              <a:rPr lang="ko-KR" altLang="en-US" sz="1100" dirty="0"/>
              <a:t> 검사항목 추가</a:t>
            </a:r>
            <a:endParaRPr lang="en-US" altLang="ko-KR" sz="1100" dirty="0"/>
          </a:p>
          <a:p>
            <a:pPr>
              <a:lnSpc>
                <a:spcPct val="100000"/>
              </a:lnSpc>
            </a:pPr>
            <a:r>
              <a:rPr lang="en-US" altLang="ko-KR" sz="1100" dirty="0"/>
              <a:t>  :  </a:t>
            </a:r>
            <a:r>
              <a:rPr lang="ko-KR" altLang="en-US" sz="1100" dirty="0"/>
              <a:t>작업표준서의 외관검사 항목에 불량 사진 추가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68B9DAF-82C1-50A1-D1E6-2CCC2748B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11821" t="6557" r="11798" b="4918"/>
          <a:stretch>
            <a:fillRect/>
          </a:stretch>
        </p:blipFill>
        <p:spPr>
          <a:xfrm>
            <a:off x="2492183" y="2590800"/>
            <a:ext cx="654423" cy="96818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C627E9C-D729-71E0-FB09-7BBE28440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5895">
            <a:off x="610480" y="2642102"/>
            <a:ext cx="687986" cy="899977"/>
          </a:xfrm>
          <a:prstGeom prst="rect">
            <a:avLst/>
          </a:prstGeom>
        </p:spPr>
      </p:pic>
      <p:sp>
        <p:nvSpPr>
          <p:cNvPr id="10" name="모서리가 둥근 직사각형 85">
            <a:extLst>
              <a:ext uri="{FF2B5EF4-FFF2-40B4-BE49-F238E27FC236}">
                <a16:creationId xmlns:a16="http://schemas.microsoft.com/office/drawing/2014/main" id="{C902A551-AC49-EB14-D01B-DD75D9D2BBF8}"/>
              </a:ext>
            </a:extLst>
          </p:cNvPr>
          <p:cNvSpPr/>
          <p:nvPr/>
        </p:nvSpPr>
        <p:spPr>
          <a:xfrm>
            <a:off x="421340" y="2266656"/>
            <a:ext cx="1692000" cy="1373015"/>
          </a:xfrm>
          <a:prstGeom prst="roundRect">
            <a:avLst>
              <a:gd name="adj" fmla="val 5513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1" name="모서리가 둥근 직사각형 85">
            <a:extLst>
              <a:ext uri="{FF2B5EF4-FFF2-40B4-BE49-F238E27FC236}">
                <a16:creationId xmlns:a16="http://schemas.microsoft.com/office/drawing/2014/main" id="{2DDB153C-898C-5CC6-B229-89F7FBD5E6D9}"/>
              </a:ext>
            </a:extLst>
          </p:cNvPr>
          <p:cNvSpPr/>
          <p:nvPr/>
        </p:nvSpPr>
        <p:spPr>
          <a:xfrm>
            <a:off x="2321855" y="2266656"/>
            <a:ext cx="1692000" cy="1373015"/>
          </a:xfrm>
          <a:prstGeom prst="roundRect">
            <a:avLst>
              <a:gd name="adj" fmla="val 526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12" name="모서리가 둥근 직사각형 87">
            <a:extLst>
              <a:ext uri="{FF2B5EF4-FFF2-40B4-BE49-F238E27FC236}">
                <a16:creationId xmlns:a16="http://schemas.microsoft.com/office/drawing/2014/main" id="{6D3A7D71-0A84-B6F0-5351-CC2472B12CA6}"/>
              </a:ext>
            </a:extLst>
          </p:cNvPr>
          <p:cNvSpPr/>
          <p:nvPr/>
        </p:nvSpPr>
        <p:spPr>
          <a:xfrm>
            <a:off x="847914" y="2132503"/>
            <a:ext cx="756000" cy="252000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 anchor="ctr" anchorCtr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불량품</a:t>
            </a:r>
          </a:p>
        </p:txBody>
      </p:sp>
      <p:sp>
        <p:nvSpPr>
          <p:cNvPr id="13" name="모서리가 둥근 직사각형 79">
            <a:extLst>
              <a:ext uri="{FF2B5EF4-FFF2-40B4-BE49-F238E27FC236}">
                <a16:creationId xmlns:a16="http://schemas.microsoft.com/office/drawing/2014/main" id="{C4266B14-4B5B-F472-A505-D3F7BD619AFA}"/>
              </a:ext>
            </a:extLst>
          </p:cNvPr>
          <p:cNvSpPr/>
          <p:nvPr/>
        </p:nvSpPr>
        <p:spPr>
          <a:xfrm>
            <a:off x="2789855" y="2141468"/>
            <a:ext cx="756000" cy="252000"/>
          </a:xfrm>
          <a:prstGeom prst="round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 anchorCtr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cs typeface="Arial" panose="020B0604020202020204" pitchFamily="34" charset="0"/>
              </a:rPr>
              <a:t>양호품</a:t>
            </a:r>
            <a:endParaRPr kumimoji="0" lang="ko-KR" altLang="en-US" sz="1000" b="1" kern="0" dirty="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5C557D-F5AA-2E19-04C8-717CDAC727BD}"/>
              </a:ext>
            </a:extLst>
          </p:cNvPr>
          <p:cNvSpPr txBox="1"/>
          <p:nvPr/>
        </p:nvSpPr>
        <p:spPr>
          <a:xfrm>
            <a:off x="1174371" y="3132907"/>
            <a:ext cx="996552" cy="3572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 algn="ctr">
              <a:lnSpc>
                <a:spcPct val="70000"/>
              </a:lnSpc>
            </a:pPr>
            <a:r>
              <a:rPr lang="en-US" altLang="ko-KR" sz="900" dirty="0">
                <a:solidFill>
                  <a:srgbClr val="FF0000"/>
                </a:solidFill>
              </a:rPr>
              <a:t>R </a:t>
            </a:r>
            <a:r>
              <a:rPr lang="ko-KR" altLang="en-US" sz="900" dirty="0">
                <a:solidFill>
                  <a:srgbClr val="FF0000"/>
                </a:solidFill>
              </a:rPr>
              <a:t>치우침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ctr">
              <a:lnSpc>
                <a:spcPct val="70000"/>
              </a:lnSpc>
            </a:pPr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비대칭</a:t>
            </a:r>
            <a:r>
              <a:rPr lang="en-US" altLang="ko-KR" sz="900" dirty="0">
                <a:solidFill>
                  <a:srgbClr val="FF0000"/>
                </a:solidFill>
              </a:rPr>
              <a:t>) </a:t>
            </a:r>
            <a:r>
              <a:rPr lang="ko-KR" altLang="en-US" sz="900" dirty="0">
                <a:solidFill>
                  <a:srgbClr val="FF0000"/>
                </a:solidFill>
              </a:rPr>
              <a:t>가공</a:t>
            </a:r>
          </a:p>
        </p:txBody>
      </p:sp>
      <p:grpSp>
        <p:nvGrpSpPr>
          <p:cNvPr id="9222" name="그룹 9221">
            <a:extLst>
              <a:ext uri="{FF2B5EF4-FFF2-40B4-BE49-F238E27FC236}">
                <a16:creationId xmlns:a16="http://schemas.microsoft.com/office/drawing/2014/main" id="{111A4901-C586-3013-33BF-54D4249C87E4}"/>
              </a:ext>
            </a:extLst>
          </p:cNvPr>
          <p:cNvGrpSpPr>
            <a:grpSpLocks/>
          </p:cNvGrpSpPr>
          <p:nvPr/>
        </p:nvGrpSpPr>
        <p:grpSpPr bwMode="auto">
          <a:xfrm>
            <a:off x="564773" y="2466085"/>
            <a:ext cx="797858" cy="510196"/>
            <a:chOff x="3028950" y="579955"/>
            <a:chExt cx="1038224" cy="991241"/>
          </a:xfrm>
        </p:grpSpPr>
        <p:sp>
          <p:nvSpPr>
            <p:cNvPr id="9231" name="타원 9230">
              <a:extLst>
                <a:ext uri="{FF2B5EF4-FFF2-40B4-BE49-F238E27FC236}">
                  <a16:creationId xmlns:a16="http://schemas.microsoft.com/office/drawing/2014/main" id="{1F5F8D1C-630A-D28B-6CD5-2BE8D528E68C}"/>
                </a:ext>
              </a:extLst>
            </p:cNvPr>
            <p:cNvSpPr/>
            <p:nvPr/>
          </p:nvSpPr>
          <p:spPr bwMode="auto">
            <a:xfrm>
              <a:off x="3028950" y="579955"/>
              <a:ext cx="1038224" cy="991241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32" name="화살표: 아래쪽 9231">
              <a:extLst>
                <a:ext uri="{FF2B5EF4-FFF2-40B4-BE49-F238E27FC236}">
                  <a16:creationId xmlns:a16="http://schemas.microsoft.com/office/drawing/2014/main" id="{C30892FD-6D51-372E-AE2A-B83EABDBDD1C}"/>
                </a:ext>
              </a:extLst>
            </p:cNvPr>
            <p:cNvSpPr/>
            <p:nvPr/>
          </p:nvSpPr>
          <p:spPr>
            <a:xfrm rot="1850671">
              <a:off x="3519453" y="580916"/>
              <a:ext cx="269663" cy="398217"/>
            </a:xfrm>
            <a:prstGeom prst="downArrow">
              <a:avLst/>
            </a:prstGeom>
            <a:solidFill>
              <a:srgbClr val="FF0000"/>
            </a:solidFill>
            <a:ln w="19050" cap="flat" cmpd="sng" algn="ctr">
              <a:solidFill>
                <a:srgbClr val="FFFF00"/>
              </a:solidFill>
              <a:prstDash val="solid"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9" name="타원 18">
            <a:extLst>
              <a:ext uri="{FF2B5EF4-FFF2-40B4-BE49-F238E27FC236}">
                <a16:creationId xmlns:a16="http://schemas.microsoft.com/office/drawing/2014/main" id="{6D1A8E36-BECB-C380-CB21-F3144C527790}"/>
              </a:ext>
            </a:extLst>
          </p:cNvPr>
          <p:cNvSpPr/>
          <p:nvPr/>
        </p:nvSpPr>
        <p:spPr bwMode="auto">
          <a:xfrm>
            <a:off x="2482735" y="2446062"/>
            <a:ext cx="708695" cy="467467"/>
          </a:xfrm>
          <a:prstGeom prst="ellipse">
            <a:avLst/>
          </a:prstGeom>
          <a:noFill/>
          <a:ln w="12700" cap="flat" cmpd="sng" algn="ctr">
            <a:solidFill>
              <a:srgbClr val="0000FF"/>
            </a:solidFill>
            <a:prstDash val="sysDash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AF0AD3-78EF-14CC-0EBB-963D03DE6686}"/>
              </a:ext>
            </a:extLst>
          </p:cNvPr>
          <p:cNvSpPr txBox="1"/>
          <p:nvPr/>
        </p:nvSpPr>
        <p:spPr>
          <a:xfrm>
            <a:off x="3209364" y="3132907"/>
            <a:ext cx="817255" cy="3572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 algn="ctr">
              <a:lnSpc>
                <a:spcPct val="70000"/>
              </a:lnSpc>
            </a:pPr>
            <a:r>
              <a:rPr lang="en-US" altLang="ko-KR" sz="900" dirty="0">
                <a:solidFill>
                  <a:srgbClr val="0000FF"/>
                </a:solidFill>
              </a:rPr>
              <a:t>R </a:t>
            </a:r>
            <a:r>
              <a:rPr lang="ko-KR" altLang="en-US" sz="900" dirty="0">
                <a:solidFill>
                  <a:srgbClr val="0000FF"/>
                </a:solidFill>
              </a:rPr>
              <a:t>치우침</a:t>
            </a:r>
            <a:endParaRPr lang="en-US" altLang="ko-KR" sz="900" dirty="0">
              <a:solidFill>
                <a:srgbClr val="0000FF"/>
              </a:solidFill>
            </a:endParaRPr>
          </a:p>
          <a:p>
            <a:pPr algn="ctr">
              <a:lnSpc>
                <a:spcPct val="70000"/>
              </a:lnSpc>
            </a:pPr>
            <a:r>
              <a:rPr lang="ko-KR" altLang="en-US" sz="900" dirty="0">
                <a:solidFill>
                  <a:srgbClr val="0000FF"/>
                </a:solidFill>
              </a:rPr>
              <a:t>없음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1100C-7C0F-5459-76C4-92C7B68D1EF8}"/>
              </a:ext>
            </a:extLst>
          </p:cNvPr>
          <p:cNvSpPr txBox="1"/>
          <p:nvPr/>
        </p:nvSpPr>
        <p:spPr>
          <a:xfrm>
            <a:off x="2512922" y="1509801"/>
            <a:ext cx="1261220" cy="23775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r>
              <a:rPr lang="ko-KR" altLang="en-US" sz="1000" b="0" dirty="0"/>
              <a:t>발생일 </a:t>
            </a:r>
            <a:r>
              <a:rPr lang="en-US" altLang="ko-KR" sz="1000" b="0" dirty="0"/>
              <a:t>: 25.11.04</a:t>
            </a:r>
            <a:endParaRPr lang="ko-KR" altLang="en-US" sz="10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72915-9321-F714-5DDD-EC702D615278}"/>
              </a:ext>
            </a:extLst>
          </p:cNvPr>
          <p:cNvSpPr txBox="1"/>
          <p:nvPr/>
        </p:nvSpPr>
        <p:spPr>
          <a:xfrm>
            <a:off x="261760" y="5780686"/>
            <a:ext cx="3844523" cy="6362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 marL="88900" indent="-88900">
              <a:lnSpc>
                <a:spcPct val="110000"/>
              </a:lnSpc>
              <a:spcBef>
                <a:spcPts val="0"/>
              </a:spcBef>
            </a:pPr>
            <a:r>
              <a:rPr lang="ko-KR" altLang="en-US" sz="1100" dirty="0"/>
              <a:t>■ 봉쇄조치</a:t>
            </a:r>
            <a:endParaRPr lang="en-US" altLang="ko-KR" sz="1100" dirty="0"/>
          </a:p>
          <a:p>
            <a:pPr marL="88900" indent="-88900">
              <a:lnSpc>
                <a:spcPct val="110000"/>
              </a:lnSpc>
              <a:spcBef>
                <a:spcPts val="0"/>
              </a:spcBef>
            </a:pPr>
            <a:r>
              <a:rPr lang="en-US" altLang="ko-KR" sz="1100" dirty="0"/>
              <a:t>  - </a:t>
            </a:r>
            <a:r>
              <a:rPr lang="ko-KR" altLang="en-US" sz="1100" dirty="0"/>
              <a:t>재고 </a:t>
            </a:r>
            <a:r>
              <a:rPr lang="en-US" altLang="ko-KR" sz="1100" dirty="0"/>
              <a:t>30,000</a:t>
            </a:r>
            <a:r>
              <a:rPr lang="ko-KR" altLang="en-US" sz="1100" dirty="0"/>
              <a:t>개 교체  </a:t>
            </a:r>
            <a:r>
              <a:rPr lang="en-US" altLang="ko-KR" sz="1100" dirty="0"/>
              <a:t>(11/7 </a:t>
            </a:r>
            <a:r>
              <a:rPr lang="ko-KR" altLang="en-US" sz="1100" dirty="0"/>
              <a:t>교체완료</a:t>
            </a:r>
            <a:r>
              <a:rPr lang="en-US" altLang="ko-KR" sz="1100" dirty="0"/>
              <a:t>)</a:t>
            </a:r>
          </a:p>
          <a:p>
            <a:pPr marL="88900" indent="-88900">
              <a:lnSpc>
                <a:spcPct val="110000"/>
              </a:lnSpc>
              <a:spcBef>
                <a:spcPts val="0"/>
              </a:spcBef>
            </a:pPr>
            <a:r>
              <a:rPr lang="en-US" altLang="ko-KR" sz="1100" dirty="0"/>
              <a:t>  - </a:t>
            </a:r>
            <a:r>
              <a:rPr lang="ko-KR" altLang="en-US" sz="1100" dirty="0" err="1"/>
              <a:t>유니기전</a:t>
            </a:r>
            <a:r>
              <a:rPr lang="ko-KR" altLang="en-US" sz="1100" dirty="0"/>
              <a:t> 재고 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유니기전에서</a:t>
            </a:r>
            <a:r>
              <a:rPr lang="ko-KR" altLang="en-US" sz="1100" dirty="0"/>
              <a:t> 전량 선별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51191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roup 77">
            <a:extLst>
              <a:ext uri="{FF2B5EF4-FFF2-40B4-BE49-F238E27FC236}">
                <a16:creationId xmlns:a16="http://schemas.microsoft.com/office/drawing/2014/main" id="{471E6FDC-D612-402C-91C4-A51954DBE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36273"/>
              </p:ext>
            </p:extLst>
          </p:nvPr>
        </p:nvGraphicFramePr>
        <p:xfrm>
          <a:off x="39635" y="645149"/>
          <a:ext cx="12105006" cy="6051486"/>
        </p:xfrm>
        <a:graphic>
          <a:graphicData uri="http://schemas.openxmlformats.org/drawingml/2006/table">
            <a:tbl>
              <a:tblPr/>
              <a:tblGrid>
                <a:gridCol w="917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8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26" marB="457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발생 원인 분석</a:t>
                      </a:r>
                    </a:p>
                  </a:txBody>
                  <a:tcPr marL="91447" marR="91447" marT="45726" marB="457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446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1" fontAlgn="ctr" latinLnBrk="1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1444" marR="91444" marT="45719" marB="45719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7" name="내용 개체 틀 2">
            <a:extLst>
              <a:ext uri="{FF2B5EF4-FFF2-40B4-BE49-F238E27FC236}">
                <a16:creationId xmlns:a16="http://schemas.microsoft.com/office/drawing/2014/main" id="{0C4D7B16-C42B-30D9-7524-F5BF3FC2F779}"/>
              </a:ext>
            </a:extLst>
          </p:cNvPr>
          <p:cNvSpPr txBox="1">
            <a:spLocks/>
          </p:cNvSpPr>
          <p:nvPr/>
        </p:nvSpPr>
        <p:spPr bwMode="auto">
          <a:xfrm>
            <a:off x="75419" y="3096408"/>
            <a:ext cx="3498302" cy="342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600" b="1">
                <a:solidFill>
                  <a:schemeClr val="bg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bg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marL="180975" indent="-180975">
              <a:lnSpc>
                <a:spcPct val="150000"/>
              </a:lnSpc>
              <a:defRPr/>
            </a:pPr>
            <a:r>
              <a:rPr lang="en-US" altLang="ko-KR" sz="1600" b="1" kern="0" dirty="0">
                <a:solidFill>
                  <a:srgbClr val="0000FF"/>
                </a:solidFill>
                <a:latin typeface="Calibri"/>
                <a:cs typeface="Calibri"/>
              </a:rPr>
              <a:t> Brush R </a:t>
            </a:r>
            <a:r>
              <a:rPr lang="ko-KR" altLang="en-US" sz="1600" b="1" kern="0" dirty="0">
                <a:solidFill>
                  <a:srgbClr val="0000FF"/>
                </a:solidFill>
                <a:latin typeface="Calibri"/>
                <a:cs typeface="Calibri"/>
              </a:rPr>
              <a:t>치우침 가공 불량 발생 원인</a:t>
            </a:r>
            <a:endParaRPr lang="en-US" altLang="ko-KR" sz="1600" b="1" i="1" kern="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graphicFrame>
        <p:nvGraphicFramePr>
          <p:cNvPr id="4" name="Group 69">
            <a:extLst>
              <a:ext uri="{FF2B5EF4-FFF2-40B4-BE49-F238E27FC236}">
                <a16:creationId xmlns:a16="http://schemas.microsoft.com/office/drawing/2014/main" id="{5DC545D2-0C83-945B-FE94-80F81438D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408860"/>
              </p:ext>
            </p:extLst>
          </p:nvPr>
        </p:nvGraphicFramePr>
        <p:xfrm>
          <a:off x="468468" y="1091004"/>
          <a:ext cx="10915752" cy="1907451"/>
        </p:xfrm>
        <a:graphic>
          <a:graphicData uri="http://schemas.openxmlformats.org/drawingml/2006/table">
            <a:tbl>
              <a:tblPr/>
              <a:tblGrid>
                <a:gridCol w="75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620609836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87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#10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입고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수입검사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#20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믹싱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#30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성형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#40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열처리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#50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중간검사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#60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가공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#70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출하검사</a:t>
                      </a: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#80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제품 포장</a:t>
                      </a: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7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공정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사진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9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공정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▷동선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원소재 입고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&amp;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수입검사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▷분말 혼합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▷분말을 가압하여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Brush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성형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▷성형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Brush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열처리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(baking)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▷열처리 후 제품 검사 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중간검사 기준서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Brush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가공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두께→습동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R)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▷완제품 검사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출하검사 기준서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▷제품 포장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포장 사양서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3F8AF26C-122F-88E9-9305-A9D8ED155EAB}"/>
              </a:ext>
            </a:extLst>
          </p:cNvPr>
          <p:cNvGrpSpPr/>
          <p:nvPr/>
        </p:nvGrpSpPr>
        <p:grpSpPr>
          <a:xfrm>
            <a:off x="1293159" y="1540689"/>
            <a:ext cx="9960042" cy="811426"/>
            <a:chOff x="1630080" y="1608280"/>
            <a:chExt cx="9960042" cy="608704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761CCD87-6C64-692E-15EB-CEC2E60AC9AD}"/>
                </a:ext>
              </a:extLst>
            </p:cNvPr>
            <p:cNvGrpSpPr/>
            <p:nvPr/>
          </p:nvGrpSpPr>
          <p:grpSpPr>
            <a:xfrm>
              <a:off x="2966728" y="1608280"/>
              <a:ext cx="8623394" cy="608704"/>
              <a:chOff x="2750691" y="1208812"/>
              <a:chExt cx="9012737" cy="809984"/>
            </a:xfrm>
          </p:grpSpPr>
          <p:grpSp>
            <p:nvGrpSpPr>
              <p:cNvPr id="12" name="그룹 1">
                <a:extLst>
                  <a:ext uri="{FF2B5EF4-FFF2-40B4-BE49-F238E27FC236}">
                    <a16:creationId xmlns:a16="http://schemas.microsoft.com/office/drawing/2014/main" id="{E3E2FCF5-3C8F-CF0F-1FD5-6F38A12181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40638" y="1208813"/>
                <a:ext cx="7722790" cy="800579"/>
                <a:chOff x="3486775" y="2060848"/>
                <a:chExt cx="7935431" cy="1001713"/>
              </a:xfrm>
            </p:grpSpPr>
            <p:pic>
              <p:nvPicPr>
                <p:cNvPr id="14" name="Picture 29">
                  <a:extLst>
                    <a:ext uri="{FF2B5EF4-FFF2-40B4-BE49-F238E27FC236}">
                      <a16:creationId xmlns:a16="http://schemas.microsoft.com/office/drawing/2014/main" id="{CE5A15F2-DF63-18ED-6954-5D30D7D41BB2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86775" y="2060848"/>
                  <a:ext cx="1152128" cy="1001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7" name="Picture 27">
                  <a:extLst>
                    <a:ext uri="{FF2B5EF4-FFF2-40B4-BE49-F238E27FC236}">
                      <a16:creationId xmlns:a16="http://schemas.microsoft.com/office/drawing/2014/main" id="{210E2FC4-F475-E353-AB48-C1B349867C18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80039" y="2060848"/>
                  <a:ext cx="1080120" cy="1001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8" name="Picture 27">
                  <a:extLst>
                    <a:ext uri="{FF2B5EF4-FFF2-40B4-BE49-F238E27FC236}">
                      <a16:creationId xmlns:a16="http://schemas.microsoft.com/office/drawing/2014/main" id="{2D65F4C9-C770-19D0-91FE-63C18DE8F508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5" cstate="email">
                  <a:lum bright="20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342086" y="2060848"/>
                  <a:ext cx="1080120" cy="10017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9" name="Picture 6">
                  <a:extLst>
                    <a:ext uri="{FF2B5EF4-FFF2-40B4-BE49-F238E27FC236}">
                      <a16:creationId xmlns:a16="http://schemas.microsoft.com/office/drawing/2014/main" id="{739901B6-4A0B-17E4-9FFB-F583986DC73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81092" y="2060848"/>
                  <a:ext cx="1152128" cy="9699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1" name="Picture 26">
                  <a:extLst>
                    <a:ext uri="{FF2B5EF4-FFF2-40B4-BE49-F238E27FC236}">
                      <a16:creationId xmlns:a16="http://schemas.microsoft.com/office/drawing/2014/main" id="{C0AA64E8-8CCC-68B5-185D-59736EF0D9A5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60953" y="2060848"/>
                  <a:ext cx="1080119" cy="1001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" name="Picture 28">
                  <a:extLst>
                    <a:ext uri="{FF2B5EF4-FFF2-40B4-BE49-F238E27FC236}">
                      <a16:creationId xmlns:a16="http://schemas.microsoft.com/office/drawing/2014/main" id="{2A209A60-9288-E604-9894-72613B3C4475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952890" y="2060848"/>
                  <a:ext cx="1080120" cy="1001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13" name="Picture 5">
                <a:extLst>
                  <a:ext uri="{FF2B5EF4-FFF2-40B4-BE49-F238E27FC236}">
                    <a16:creationId xmlns:a16="http://schemas.microsoft.com/office/drawing/2014/main" id="{F2E9428F-D447-595C-5CE9-44C37A1708B7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0691" y="1208812"/>
                <a:ext cx="1073060" cy="809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" name="Picture 48">
              <a:extLst>
                <a:ext uri="{FF2B5EF4-FFF2-40B4-BE49-F238E27FC236}">
                  <a16:creationId xmlns:a16="http://schemas.microsoft.com/office/drawing/2014/main" id="{A0673726-2160-C813-E424-7D570B0DB850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0840" y="1611410"/>
              <a:ext cx="506871" cy="58256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">
              <a:extLst>
                <a:ext uri="{FF2B5EF4-FFF2-40B4-BE49-F238E27FC236}">
                  <a16:creationId xmlns:a16="http://schemas.microsoft.com/office/drawing/2014/main" id="{00A4526B-7CD6-C542-266F-782A68BC0EA9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0080" y="1611410"/>
              <a:ext cx="550158" cy="582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TextBox 18">
            <a:extLst>
              <a:ext uri="{FF2B5EF4-FFF2-40B4-BE49-F238E27FC236}">
                <a16:creationId xmlns:a16="http://schemas.microsoft.com/office/drawing/2014/main" id="{EBAFED22-6654-E0DA-144A-26C87FB89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 R 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치우침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(2/6)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14371">
            <a:extLst>
              <a:ext uri="{FF2B5EF4-FFF2-40B4-BE49-F238E27FC236}">
                <a16:creationId xmlns:a16="http://schemas.microsoft.com/office/drawing/2014/main" id="{016E8326-46F4-5FAC-EC2E-F0EB2E836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59" y="3505313"/>
            <a:ext cx="11000822" cy="82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80975" indent="-180975">
              <a:lnSpc>
                <a:spcPct val="120000"/>
              </a:lnSpc>
              <a:buFont typeface="Wingdings" panose="05000000000000000000" pitchFamily="2" charset="2"/>
              <a:buChar char="ü"/>
              <a:tabLst>
                <a:tab pos="180975" algn="l"/>
              </a:tabLst>
            </a:pP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이송레일에서 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Brush </a:t>
            </a: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공급 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Trouble </a:t>
            </a: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발생 →  문제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Brush </a:t>
            </a: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제거 후 작업자 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Brush </a:t>
            </a: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보충 누락 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Brush </a:t>
            </a: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간에 유격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틈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이 발생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US" altLang="ko-KR" sz="1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Brush </a:t>
            </a:r>
            <a:r>
              <a:rPr lang="ko-KR" altLang="en-US" sz="1400" b="1" dirty="0">
                <a:solidFill>
                  <a:srgbClr val="FF00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유격 감지센서 </a:t>
            </a:r>
            <a:r>
              <a:rPr lang="ko-KR" altLang="en-US" sz="1400" b="1" dirty="0" err="1">
                <a:solidFill>
                  <a:srgbClr val="FF0000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미작동</a:t>
            </a:r>
            <a:r>
              <a:rPr lang="en-US" altLang="ko-KR" sz="1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Brush </a:t>
            </a: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흔들림으로 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ko-KR" altLang="en-US" sz="1400" b="1" dirty="0"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치우침 가공 불량 발생함</a:t>
            </a:r>
            <a:endParaRPr lang="en-US" altLang="ko-KR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0975" indent="-180975">
              <a:buFont typeface="Wingdings" panose="05000000000000000000" pitchFamily="2" charset="2"/>
              <a:buChar char="ü"/>
              <a:tabLst>
                <a:tab pos="180975" algn="l"/>
              </a:tabLst>
            </a:pPr>
            <a:endParaRPr lang="en-US" altLang="ko-KR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4C4FD8B-0078-F128-5923-8C9182F4B5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272" y="4410075"/>
            <a:ext cx="3931378" cy="19812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960D574-AE8A-2E6D-F9DC-66A64B6126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3674" y="4439666"/>
            <a:ext cx="3787535" cy="196113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3C2ED5-D550-53C6-6CCC-E0274ABDB0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71075" y="4816916"/>
            <a:ext cx="1476866" cy="136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80466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4">
            <a:extLst>
              <a:ext uri="{FF2B5EF4-FFF2-40B4-BE49-F238E27FC236}">
                <a16:creationId xmlns:a16="http://schemas.microsoft.com/office/drawing/2014/main" id="{8893B184-9A6A-F082-9632-37E2F953B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532373"/>
              </p:ext>
            </p:extLst>
          </p:nvPr>
        </p:nvGraphicFramePr>
        <p:xfrm>
          <a:off x="227013" y="624088"/>
          <a:ext cx="11764516" cy="6072547"/>
        </p:xfrm>
        <a:graphic>
          <a:graphicData uri="http://schemas.openxmlformats.org/drawingml/2006/table">
            <a:tbl>
              <a:tblPr/>
              <a:tblGrid>
                <a:gridCol w="89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3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근본 개선대책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6787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3598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E6C0D14-2433-E685-35A1-4709F199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25839"/>
              </p:ext>
            </p:extLst>
          </p:nvPr>
        </p:nvGraphicFramePr>
        <p:xfrm>
          <a:off x="550863" y="1249362"/>
          <a:ext cx="11125203" cy="5272031"/>
        </p:xfrm>
        <a:graphic>
          <a:graphicData uri="http://schemas.openxmlformats.org/drawingml/2006/table">
            <a:tbl>
              <a:tblPr/>
              <a:tblGrid>
                <a:gridCol w="1814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2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4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4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478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9062" marR="99062" marT="45711" marB="4571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Whys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Corrective Action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시정조치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챔피언</a:t>
                      </a: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완료 기한</a:t>
                      </a: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962">
                <a:tc rowSpan="6"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?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 제조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공정은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결함의 생산을 예방하지 못하였는가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?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발생 원인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Quality Assurance </a:t>
                      </a: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M1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R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치우침 가공 불량 발생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M2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R</a:t>
                      </a:r>
                      <a:r>
                        <a:rPr lang="ko-KR" altLang="en-US" sz="1200" dirty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가공 시 </a:t>
                      </a:r>
                      <a:r>
                        <a:rPr lang="en-US" altLang="ko-KR" sz="1200" dirty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Brush </a:t>
                      </a:r>
                      <a:r>
                        <a:rPr lang="ko-KR" altLang="en-US" sz="1200" dirty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흔들림 발생</a:t>
                      </a:r>
                      <a:r>
                        <a:rPr lang="en-US" altLang="ko-KR" sz="1200" dirty="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39000" marR="39000" marT="46794" marB="4679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M3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이송 레일에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간에 유격이 발생함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9000" marR="39000" marT="46794" marB="4679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M4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이송레일에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간 유격 발생 감지 센서 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미작동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0" marR="39000" marT="46794" marB="4679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9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M5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간 유격 발생 감지센서 감지부분인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이송지그가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사선 형상으로 됨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74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M-RC</a:t>
                      </a:r>
                    </a:p>
                  </a:txBody>
                  <a:tcPr marL="39002" marR="39002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Brush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이송 지그가 사선형상으로 됨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위치 감시 광학 센서 오작동 발생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Brush </a:t>
                      </a:r>
                      <a:r>
                        <a:rPr kumimoji="0" lang="ko-KR" altLang="en-US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이송지그를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 일직선 형상으로 변경함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→ 위치 감지 광학센서 오작동 방지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전태욱</a:t>
                      </a: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2025.11.06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8">
            <a:extLst>
              <a:ext uri="{FF2B5EF4-FFF2-40B4-BE49-F238E27FC236}">
                <a16:creationId xmlns:a16="http://schemas.microsoft.com/office/drawing/2014/main" id="{1804EA65-A2F0-EEB7-2837-13AD8321B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 R 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치우침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(3/6)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09795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4">
            <a:extLst>
              <a:ext uri="{FF2B5EF4-FFF2-40B4-BE49-F238E27FC236}">
                <a16:creationId xmlns:a16="http://schemas.microsoft.com/office/drawing/2014/main" id="{8893B184-9A6A-F082-9632-37E2F953B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423082"/>
              </p:ext>
            </p:extLst>
          </p:nvPr>
        </p:nvGraphicFramePr>
        <p:xfrm>
          <a:off x="227013" y="624088"/>
          <a:ext cx="11764516" cy="6099441"/>
        </p:xfrm>
        <a:graphic>
          <a:graphicData uri="http://schemas.openxmlformats.org/drawingml/2006/table">
            <a:tbl>
              <a:tblPr/>
              <a:tblGrid>
                <a:gridCol w="89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3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근본 개선대책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3681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3598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2715737-DFF9-E6F0-7CDC-0189BBBAC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605580"/>
              </p:ext>
            </p:extLst>
          </p:nvPr>
        </p:nvGraphicFramePr>
        <p:xfrm>
          <a:off x="550863" y="1274092"/>
          <a:ext cx="11125198" cy="5247297"/>
        </p:xfrm>
        <a:graphic>
          <a:graphicData uri="http://schemas.openxmlformats.org/drawingml/2006/table">
            <a:tbl>
              <a:tblPr firstRow="1" bandRow="1"/>
              <a:tblGrid>
                <a:gridCol w="1814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8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1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9351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14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9062" marR="99062" marT="45731" marB="45731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 </a:t>
                      </a:r>
                      <a:r>
                        <a:rPr kumimoji="1" lang="en-US" altLang="ko-KR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Whys</a:t>
                      </a:r>
                      <a:endParaRPr kumimoji="1" lang="en-US" altLang="ko-KR" sz="1400" b="0" dirty="0">
                        <a:solidFill>
                          <a:srgbClr val="FF33CC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Corrective Action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시정조치</a:t>
                      </a:r>
                      <a:r>
                        <a:rPr kumimoji="1" lang="en-US" altLang="ko-KR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400" b="0" dirty="0">
                        <a:solidFill>
                          <a:srgbClr val="FF33CC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챔피언</a:t>
                      </a: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dirty="0">
                          <a:solidFill>
                            <a:schemeClr val="tx1"/>
                          </a:solidFill>
                          <a:latin typeface="+mn-lt"/>
                          <a:ea typeface="맑은 고딕" panose="020B0503020000020004" pitchFamily="50" charset="-127"/>
                        </a:rPr>
                        <a:t>완료 기한</a:t>
                      </a: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991">
                <a:tc row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Why  defect  was not able to be found during final inspection?</a:t>
                      </a: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kumimoji="1"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왜</a:t>
                      </a: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?</a:t>
                      </a:r>
                      <a:r>
                        <a:rPr kumimoji="1"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품질검사 </a:t>
                      </a: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kumimoji="1"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공정은 왜 결함이 유출되는 것을 막지 못했는가</a:t>
                      </a: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?</a:t>
                      </a: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Spill cause</a:t>
                      </a: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유출 원인</a:t>
                      </a: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endParaRPr kumimoji="1" lang="en-US" altLang="ko-KR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lang="en-US" altLang="ko-KR" sz="1400" b="1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Quality Control</a:t>
                      </a:r>
                      <a:endParaRPr lang="ko-KR" altLang="en-US" sz="1400" b="1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Q1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R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치우침 가공 불량이 유출됨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39002" marR="39002" marT="46804" marB="46804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9002" marR="39002" marT="46804" marB="46804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>
                        <a:lnSpc>
                          <a:spcPts val="1400"/>
                        </a:lnSpc>
                      </a:pP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45724" marB="45724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45724" marB="45724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Q2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R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치우침 가공 불량에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대한 검사 누락</a:t>
                      </a:r>
                    </a:p>
                  </a:txBody>
                  <a:tcPr marL="39000" marR="39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en-US" altLang="ko-KR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Q3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R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치우침 가공 불량에 대한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검사 항목 미지정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9000" marR="39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Q4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4" marR="78004" marT="46809" marB="46809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4" marR="78004" marT="46809" marB="46809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Q5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4" marR="78004" marT="46809" marB="46809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4" marR="78004" marT="46809" marB="46809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Q-RC</a:t>
                      </a:r>
                    </a:p>
                  </a:txBody>
                  <a:tcPr marL="58503" marR="58503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“R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치우침 가공 불량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”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검사 항목 미지정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9000" marR="39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작업표준서 개정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→ 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“R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치우침 가공 불량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”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검사항목 추가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전종길</a:t>
                      </a:r>
                      <a:endParaRPr lang="en-US" altLang="ko-KR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2025.11.06</a:t>
                      </a:r>
                      <a:endParaRPr lang="ko-KR" altLang="en-US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8">
            <a:extLst>
              <a:ext uri="{FF2B5EF4-FFF2-40B4-BE49-F238E27FC236}">
                <a16:creationId xmlns:a16="http://schemas.microsoft.com/office/drawing/2014/main" id="{34D1BDA6-9548-38E3-4171-FEC254ED9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 R 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치우침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(4/6)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84186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E9C3-97C0-043A-E3D0-E582EB46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4">
            <a:extLst>
              <a:ext uri="{FF2B5EF4-FFF2-40B4-BE49-F238E27FC236}">
                <a16:creationId xmlns:a16="http://schemas.microsoft.com/office/drawing/2014/main" id="{638ABC0E-A8A5-EFA4-FE6C-B665A3E3C156}"/>
              </a:ext>
            </a:extLst>
          </p:cNvPr>
          <p:cNvGraphicFramePr>
            <a:graphicFrameLocks noGrp="1"/>
          </p:cNvGraphicFramePr>
          <p:nvPr/>
        </p:nvGraphicFramePr>
        <p:xfrm>
          <a:off x="227013" y="624087"/>
          <a:ext cx="11764516" cy="6091263"/>
        </p:xfrm>
        <a:graphic>
          <a:graphicData uri="http://schemas.openxmlformats.org/drawingml/2006/table">
            <a:tbl>
              <a:tblPr/>
              <a:tblGrid>
                <a:gridCol w="89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2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근본 개선대책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3473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359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7DD2E67-6E17-395E-C1C3-32294C193640}"/>
              </a:ext>
            </a:extLst>
          </p:cNvPr>
          <p:cNvSpPr txBox="1"/>
          <p:nvPr/>
        </p:nvSpPr>
        <p:spPr>
          <a:xfrm>
            <a:off x="610809" y="1273492"/>
            <a:ext cx="90423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200" dirty="0"/>
              <a:t>■ </a:t>
            </a:r>
            <a:r>
              <a:rPr lang="en-US" altLang="ko-KR" sz="1200" dirty="0"/>
              <a:t>Brush </a:t>
            </a:r>
            <a:r>
              <a:rPr lang="ko-KR" altLang="en-US" sz="1200" dirty="0"/>
              <a:t>이송 지그를 형상</a:t>
            </a:r>
            <a:r>
              <a:rPr lang="en-US" altLang="ko-KR" sz="1200" dirty="0"/>
              <a:t> </a:t>
            </a:r>
            <a:r>
              <a:rPr lang="ko-KR" altLang="en-US" sz="1200" dirty="0"/>
              <a:t>변경 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en-US" altLang="ko-KR" sz="1200" dirty="0"/>
              <a:t>   :  </a:t>
            </a:r>
            <a:r>
              <a:rPr lang="ko-KR" altLang="en-US" sz="1200" dirty="0"/>
              <a:t>개선 전</a:t>
            </a:r>
            <a:r>
              <a:rPr lang="en-US" altLang="ko-KR" sz="1200" dirty="0"/>
              <a:t>)  </a:t>
            </a:r>
            <a:r>
              <a:rPr lang="ko-KR" altLang="en-US" sz="1200" dirty="0"/>
              <a:t>사선형  → 개선 후</a:t>
            </a:r>
            <a:r>
              <a:rPr lang="en-US" altLang="ko-KR" sz="1200" dirty="0"/>
              <a:t>)  </a:t>
            </a:r>
            <a:r>
              <a:rPr lang="ko-KR" altLang="en-US" sz="1200" dirty="0"/>
              <a:t>일자형 </a:t>
            </a:r>
            <a:r>
              <a:rPr lang="en-US" altLang="ko-KR" sz="1200" dirty="0"/>
              <a:t>(</a:t>
            </a:r>
            <a:r>
              <a:rPr lang="ko-KR" altLang="en-US" sz="1200" dirty="0"/>
              <a:t>플레이트판 </a:t>
            </a:r>
            <a:r>
              <a:rPr lang="ko-KR" altLang="en-US" sz="1200" dirty="0" err="1"/>
              <a:t>설처</a:t>
            </a:r>
            <a:r>
              <a:rPr lang="en-US" altLang="ko-KR" sz="1200" dirty="0"/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30BF78-0A11-5042-6B6E-D6B00B426EAA}"/>
              </a:ext>
            </a:extLst>
          </p:cNvPr>
          <p:cNvSpPr txBox="1"/>
          <p:nvPr/>
        </p:nvSpPr>
        <p:spPr>
          <a:xfrm>
            <a:off x="11080376" y="1332430"/>
            <a:ext cx="9111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100" dirty="0"/>
              <a:t>2025.11.06</a:t>
            </a:r>
            <a:endParaRPr lang="ko-KR" altLang="en-US" sz="1100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429849E5-F197-90F8-E035-31D22B65F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 R 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치우침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(5/6)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A786AA2-68BC-8226-6346-0D231A0EC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3" y="4524375"/>
            <a:ext cx="3886322" cy="182450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EC0BA3-1BCD-C4D4-24C6-4D1FE4C56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849" y="1991741"/>
            <a:ext cx="3787535" cy="1961134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0CFABE2-DF6A-A886-F6F5-02068CFD23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552" t="10573" r="5259" b="16566"/>
          <a:stretch>
            <a:fillRect/>
          </a:stretch>
        </p:blipFill>
        <p:spPr>
          <a:xfrm>
            <a:off x="5800725" y="4491816"/>
            <a:ext cx="2586194" cy="1944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58A1AEF-FA51-737D-C2BC-9B6F2A9422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25" r="6588"/>
          <a:stretch>
            <a:fillRect/>
          </a:stretch>
        </p:blipFill>
        <p:spPr>
          <a:xfrm>
            <a:off x="5791199" y="2066768"/>
            <a:ext cx="2524125" cy="1944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BC45242-1C83-0555-2DCF-1FDB5483EC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61" r="8851"/>
          <a:stretch>
            <a:fillRect/>
          </a:stretch>
        </p:blipFill>
        <p:spPr>
          <a:xfrm>
            <a:off x="8829675" y="2238375"/>
            <a:ext cx="1842951" cy="142475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B087541-3430-9E41-CF21-6EA41A43AE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1900" y="5015042"/>
            <a:ext cx="1931616" cy="1424758"/>
          </a:xfrm>
          <a:prstGeom prst="rect">
            <a:avLst/>
          </a:prstGeom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DCF64A2A-2BD4-E86F-261B-C93CE50EA105}"/>
              </a:ext>
            </a:extLst>
          </p:cNvPr>
          <p:cNvSpPr/>
          <p:nvPr/>
        </p:nvSpPr>
        <p:spPr bwMode="auto">
          <a:xfrm>
            <a:off x="6372225" y="5219700"/>
            <a:ext cx="923926" cy="904875"/>
          </a:xfrm>
          <a:prstGeom prst="ellipse">
            <a:avLst/>
          </a:prstGeom>
          <a:noFill/>
          <a:ln w="28575">
            <a:solidFill>
              <a:srgbClr val="00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solidFill>
                <a:srgbClr val="00FF00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D54C255-4A16-C01C-65EE-741A0ADC1B93}"/>
              </a:ext>
            </a:extLst>
          </p:cNvPr>
          <p:cNvSpPr/>
          <p:nvPr/>
        </p:nvSpPr>
        <p:spPr bwMode="auto">
          <a:xfrm>
            <a:off x="6485342" y="2788737"/>
            <a:ext cx="915583" cy="84028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solidFill>
                <a:srgbClr val="00FF00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ACEA7EA-0794-A4DE-34F8-190E64F9E82E}"/>
              </a:ext>
            </a:extLst>
          </p:cNvPr>
          <p:cNvSpPr/>
          <p:nvPr/>
        </p:nvSpPr>
        <p:spPr bwMode="auto">
          <a:xfrm>
            <a:off x="7702160" y="2588055"/>
            <a:ext cx="832240" cy="308079"/>
          </a:xfrm>
          <a:prstGeom prst="roundRect">
            <a:avLst/>
          </a:prstGeom>
          <a:solidFill>
            <a:srgbClr val="66FFFF"/>
          </a:soli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18000" tIns="0" rIns="18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kern="0" dirty="0">
                <a:solidFill>
                  <a:srgbClr val="00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실린더 이동</a:t>
            </a:r>
            <a:endParaRPr lang="en-US" altLang="ko-KR" sz="800" b="1" kern="0" dirty="0">
              <a:solidFill>
                <a:srgbClr val="0033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위치 감지센서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FE8AB83-35A2-5D40-44AA-232859A84B70}"/>
              </a:ext>
            </a:extLst>
          </p:cNvPr>
          <p:cNvSpPr/>
          <p:nvPr/>
        </p:nvSpPr>
        <p:spPr bwMode="auto">
          <a:xfrm>
            <a:off x="5981700" y="3577381"/>
            <a:ext cx="885825" cy="365969"/>
          </a:xfrm>
          <a:prstGeom prst="round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18000" tIns="0" rIns="18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kern="0" dirty="0">
                <a:solidFill>
                  <a:srgbClr val="00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Brush feeding jig : </a:t>
            </a:r>
            <a:r>
              <a:rPr lang="ko-KR" altLang="en-US" sz="800" b="1" kern="0" dirty="0">
                <a:solidFill>
                  <a:srgbClr val="00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사선형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37C71B3-5888-5997-4248-7212895E9028}"/>
              </a:ext>
            </a:extLst>
          </p:cNvPr>
          <p:cNvCxnSpPr>
            <a:cxnSpLocks/>
          </p:cNvCxnSpPr>
          <p:nvPr/>
        </p:nvCxnSpPr>
        <p:spPr bwMode="auto">
          <a:xfrm flipV="1">
            <a:off x="6589664" y="3288839"/>
            <a:ext cx="240340" cy="269493"/>
          </a:xfrm>
          <a:prstGeom prst="straightConnector1">
            <a:avLst/>
          </a:prstGeom>
          <a:noFill/>
          <a:ln w="28575" cap="flat" cmpd="sng" algn="ctr">
            <a:solidFill>
              <a:srgbClr val="FFFF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B192A14-D448-9644-62D4-3C4BC0DDB019}"/>
              </a:ext>
            </a:extLst>
          </p:cNvPr>
          <p:cNvCxnSpPr>
            <a:cxnSpLocks/>
          </p:cNvCxnSpPr>
          <p:nvPr/>
        </p:nvCxnSpPr>
        <p:spPr bwMode="auto">
          <a:xfrm flipH="1">
            <a:off x="7448550" y="2781300"/>
            <a:ext cx="228600" cy="171450"/>
          </a:xfrm>
          <a:prstGeom prst="straightConnector1">
            <a:avLst/>
          </a:prstGeom>
          <a:noFill/>
          <a:ln w="28575" cap="flat" cmpd="sng" algn="ctr">
            <a:solidFill>
              <a:srgbClr val="66FFFF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B195629-66E0-3F0E-A886-0DF3824D99EE}"/>
              </a:ext>
            </a:extLst>
          </p:cNvPr>
          <p:cNvCxnSpPr>
            <a:cxnSpLocks/>
            <a:stCxn id="25" idx="6"/>
          </p:cNvCxnSpPr>
          <p:nvPr/>
        </p:nvCxnSpPr>
        <p:spPr bwMode="auto">
          <a:xfrm flipV="1">
            <a:off x="7400925" y="2952750"/>
            <a:ext cx="2000250" cy="256131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181FAB7-BF1D-AFDD-D51F-E7EE6D6ADCF4}"/>
              </a:ext>
            </a:extLst>
          </p:cNvPr>
          <p:cNvSpPr/>
          <p:nvPr/>
        </p:nvSpPr>
        <p:spPr bwMode="auto">
          <a:xfrm>
            <a:off x="10344151" y="2443164"/>
            <a:ext cx="666749" cy="252412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18000" tIns="36000" rIns="18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50" charset="-127"/>
                <a:cs typeface="+mn-cs"/>
              </a:rPr>
              <a:t>사선형 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50" charset="-127"/>
                <a:cs typeface="+mn-cs"/>
              </a:rPr>
              <a:t>JIG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Narrow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오른쪽 화살표 191">
            <a:extLst>
              <a:ext uri="{FF2B5EF4-FFF2-40B4-BE49-F238E27FC236}">
                <a16:creationId xmlns:a16="http://schemas.microsoft.com/office/drawing/2014/main" id="{09219AA8-3B9F-48DF-01D8-F3B2466D6177}"/>
              </a:ext>
            </a:extLst>
          </p:cNvPr>
          <p:cNvSpPr/>
          <p:nvPr/>
        </p:nvSpPr>
        <p:spPr bwMode="auto">
          <a:xfrm rot="9219592">
            <a:off x="10037744" y="2585215"/>
            <a:ext cx="227492" cy="237088"/>
          </a:xfrm>
          <a:prstGeom prst="rightArrow">
            <a:avLst>
              <a:gd name="adj1" fmla="val 50000"/>
              <a:gd name="adj2" fmla="val 59804"/>
            </a:avLst>
          </a:prstGeom>
          <a:solidFill>
            <a:srgbClr val="FF0000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72B06D0-1E41-D5EC-63ED-E018AF6D437E}"/>
              </a:ext>
            </a:extLst>
          </p:cNvPr>
          <p:cNvSpPr/>
          <p:nvPr/>
        </p:nvSpPr>
        <p:spPr bwMode="auto">
          <a:xfrm>
            <a:off x="7740260" y="5016930"/>
            <a:ext cx="832240" cy="308079"/>
          </a:xfrm>
          <a:prstGeom prst="roundRect">
            <a:avLst/>
          </a:prstGeom>
          <a:solidFill>
            <a:srgbClr val="66FFFF"/>
          </a:soli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18000" tIns="0" rIns="18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kern="0" dirty="0">
                <a:solidFill>
                  <a:srgbClr val="00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실린더 이동</a:t>
            </a:r>
            <a:endParaRPr lang="en-US" altLang="ko-KR" sz="800" b="1" kern="0" dirty="0">
              <a:solidFill>
                <a:srgbClr val="0033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위치 감지센서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5F8310A-440C-558E-730B-2F782E387098}"/>
              </a:ext>
            </a:extLst>
          </p:cNvPr>
          <p:cNvCxnSpPr>
            <a:cxnSpLocks/>
          </p:cNvCxnSpPr>
          <p:nvPr/>
        </p:nvCxnSpPr>
        <p:spPr bwMode="auto">
          <a:xfrm flipH="1">
            <a:off x="7486650" y="5210175"/>
            <a:ext cx="228600" cy="171450"/>
          </a:xfrm>
          <a:prstGeom prst="straightConnector1">
            <a:avLst/>
          </a:prstGeom>
          <a:noFill/>
          <a:ln w="28575" cap="flat" cmpd="sng" algn="ctr">
            <a:solidFill>
              <a:srgbClr val="66FFFF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55B3646-6F71-CEDD-08F4-C19464463F01}"/>
              </a:ext>
            </a:extLst>
          </p:cNvPr>
          <p:cNvSpPr/>
          <p:nvPr/>
        </p:nvSpPr>
        <p:spPr bwMode="auto">
          <a:xfrm>
            <a:off x="5981700" y="5891956"/>
            <a:ext cx="885825" cy="365969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18000" tIns="0" rIns="18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kern="0" dirty="0">
                <a:solidFill>
                  <a:srgbClr val="00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Brush feeding jig : </a:t>
            </a:r>
            <a:r>
              <a:rPr lang="ko-KR" altLang="en-US" sz="800" b="1" kern="0" dirty="0">
                <a:solidFill>
                  <a:srgbClr val="00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플레이트판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EB47CAC-FEB4-0D95-82FF-180CA93D0EFB}"/>
              </a:ext>
            </a:extLst>
          </p:cNvPr>
          <p:cNvCxnSpPr>
            <a:cxnSpLocks/>
          </p:cNvCxnSpPr>
          <p:nvPr/>
        </p:nvCxnSpPr>
        <p:spPr bwMode="auto">
          <a:xfrm flipV="1">
            <a:off x="6589664" y="5603414"/>
            <a:ext cx="240340" cy="26949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cxnSp>
      <p:sp>
        <p:nvSpPr>
          <p:cNvPr id="324" name="사각형: 둥근 모서리 323">
            <a:extLst>
              <a:ext uri="{FF2B5EF4-FFF2-40B4-BE49-F238E27FC236}">
                <a16:creationId xmlns:a16="http://schemas.microsoft.com/office/drawing/2014/main" id="{AA1127B4-D2A5-9852-AF98-783465AD2BCD}"/>
              </a:ext>
            </a:extLst>
          </p:cNvPr>
          <p:cNvSpPr/>
          <p:nvPr/>
        </p:nvSpPr>
        <p:spPr bwMode="auto">
          <a:xfrm>
            <a:off x="10182226" y="5129214"/>
            <a:ext cx="666749" cy="25241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="horz" wrap="square" lIns="18000" tIns="36000" rIns="18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50" charset="-127"/>
                <a:cs typeface="+mn-cs"/>
              </a:rPr>
              <a:t>일자형 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50" charset="-127"/>
                <a:cs typeface="+mn-cs"/>
              </a:rPr>
              <a:t>JIG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ptos Narrow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7" name="오른쪽 화살표 191">
            <a:extLst>
              <a:ext uri="{FF2B5EF4-FFF2-40B4-BE49-F238E27FC236}">
                <a16:creationId xmlns:a16="http://schemas.microsoft.com/office/drawing/2014/main" id="{12F109B4-44A9-EB94-F92B-B166F825ACC2}"/>
              </a:ext>
            </a:extLst>
          </p:cNvPr>
          <p:cNvSpPr/>
          <p:nvPr/>
        </p:nvSpPr>
        <p:spPr bwMode="auto">
          <a:xfrm rot="9219592">
            <a:off x="9875819" y="5271265"/>
            <a:ext cx="227492" cy="237088"/>
          </a:xfrm>
          <a:prstGeom prst="rightArrow">
            <a:avLst>
              <a:gd name="adj1" fmla="val 50000"/>
              <a:gd name="adj2" fmla="val 59804"/>
            </a:avLst>
          </a:prstGeom>
          <a:solidFill>
            <a:srgbClr val="0000FF"/>
          </a:solidFill>
          <a:ln w="19050">
            <a:solidFill>
              <a:srgbClr val="66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605987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4">
            <a:extLst>
              <a:ext uri="{FF2B5EF4-FFF2-40B4-BE49-F238E27FC236}">
                <a16:creationId xmlns:a16="http://schemas.microsoft.com/office/drawing/2014/main" id="{8893B184-9A6A-F082-9632-37E2F953B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592422"/>
              </p:ext>
            </p:extLst>
          </p:nvPr>
        </p:nvGraphicFramePr>
        <p:xfrm>
          <a:off x="227013" y="624088"/>
          <a:ext cx="11764516" cy="6108406"/>
        </p:xfrm>
        <a:graphic>
          <a:graphicData uri="http://schemas.openxmlformats.org/drawingml/2006/table">
            <a:tbl>
              <a:tblPr/>
              <a:tblGrid>
                <a:gridCol w="89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2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근본 개선대책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2646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359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28DF808-E571-DC63-87ED-DDCD449B1D8E}"/>
              </a:ext>
            </a:extLst>
          </p:cNvPr>
          <p:cNvSpPr txBox="1"/>
          <p:nvPr/>
        </p:nvSpPr>
        <p:spPr>
          <a:xfrm>
            <a:off x="610810" y="1206817"/>
            <a:ext cx="4483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200" dirty="0"/>
              <a:t>■ </a:t>
            </a:r>
            <a:r>
              <a:rPr lang="en-US" altLang="ko-KR" sz="1200" dirty="0"/>
              <a:t>“R </a:t>
            </a:r>
            <a:r>
              <a:rPr lang="ko-KR" altLang="en-US" sz="1200" dirty="0"/>
              <a:t>치우침 가공 불량</a:t>
            </a:r>
            <a:r>
              <a:rPr lang="en-US" altLang="ko-KR" sz="1200" dirty="0"/>
              <a:t>”</a:t>
            </a:r>
            <a:r>
              <a:rPr lang="ko-KR" altLang="en-US" sz="1200" dirty="0"/>
              <a:t> 외관검사 항목에</a:t>
            </a:r>
            <a:r>
              <a:rPr lang="en-US" altLang="ko-KR" sz="1200" dirty="0"/>
              <a:t> </a:t>
            </a:r>
            <a:r>
              <a:rPr lang="ko-KR" altLang="en-US" sz="1200" dirty="0"/>
              <a:t>추가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D53EF2-D9D8-AE0A-D8C9-EBEFFD15A676}"/>
              </a:ext>
            </a:extLst>
          </p:cNvPr>
          <p:cNvSpPr txBox="1"/>
          <p:nvPr/>
        </p:nvSpPr>
        <p:spPr>
          <a:xfrm>
            <a:off x="11068050" y="1238830"/>
            <a:ext cx="923479" cy="169277"/>
          </a:xfrm>
          <a:prstGeom prst="rect">
            <a:avLst/>
          </a:prstGeom>
          <a:noFill/>
        </p:spPr>
        <p:txBody>
          <a:bodyPr wrap="square" lIns="0" tIns="0" rIns="0" bIns="0" anchor="ctr" anchorCtr="1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100" dirty="0"/>
              <a:t>2025.11.06</a:t>
            </a:r>
            <a:endParaRPr lang="ko-KR" altLang="en-US" sz="1100" dirty="0"/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3244601D-46CE-367A-6C1E-A3B3B8E3E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 R 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치우침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(6/6)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79701F-DC80-F408-3510-768A03C8C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65" y="1762124"/>
            <a:ext cx="5830660" cy="4448175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4CC9C9F4-809A-DB9F-DD69-DCBEA9DF85DF}"/>
              </a:ext>
            </a:extLst>
          </p:cNvPr>
          <p:cNvGrpSpPr/>
          <p:nvPr/>
        </p:nvGrpSpPr>
        <p:grpSpPr>
          <a:xfrm>
            <a:off x="2328912" y="4400551"/>
            <a:ext cx="5014864" cy="1295400"/>
            <a:chOff x="-5509298" y="6335919"/>
            <a:chExt cx="6065074" cy="1779425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2CCF7B9-89BF-AAC0-9086-8A0454B7C529}"/>
                </a:ext>
              </a:extLst>
            </p:cNvPr>
            <p:cNvSpPr/>
            <p:nvPr/>
          </p:nvSpPr>
          <p:spPr>
            <a:xfrm>
              <a:off x="-5509298" y="6679975"/>
              <a:ext cx="1376547" cy="1435369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46ABA5A-5887-821E-E7FE-42AD6939C2FF}"/>
                </a:ext>
              </a:extLst>
            </p:cNvPr>
            <p:cNvCxnSpPr>
              <a:cxnSpLocks/>
              <a:stCxn id="16" idx="6"/>
            </p:cNvCxnSpPr>
            <p:nvPr/>
          </p:nvCxnSpPr>
          <p:spPr>
            <a:xfrm flipV="1">
              <a:off x="-4132751" y="6335919"/>
              <a:ext cx="4688527" cy="1061742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614DDAB3-E55F-7168-5B32-A80793750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126" y="3571764"/>
            <a:ext cx="1505049" cy="168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83569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5744E-CF66-754A-BEBA-A0792B95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THANK YOU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669298E-7566-ED1D-0324-504AC40DD406}"/>
              </a:ext>
            </a:extLst>
          </p:cNvPr>
          <p:cNvSpPr txBox="1"/>
          <p:nvPr/>
        </p:nvSpPr>
        <p:spPr>
          <a:xfrm>
            <a:off x="8498042" y="4925532"/>
            <a:ext cx="3392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solidFill>
                  <a:schemeClr val="bg1"/>
                </a:solidFill>
                <a:hlinkClick r:id="rId2"/>
              </a:rPr>
              <a:t>https://www.avocarbon.com/</a:t>
            </a:r>
            <a:r>
              <a:rPr lang="fr-FR" sz="16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A0F6961-DF8E-FAF2-C72A-E19B83AA5307}"/>
              </a:ext>
            </a:extLst>
          </p:cNvPr>
          <p:cNvSpPr txBox="1"/>
          <p:nvPr/>
        </p:nvSpPr>
        <p:spPr>
          <a:xfrm>
            <a:off x="8498042" y="5786142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AVOCarbon</a:t>
            </a:r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3369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PROJECT_OPEN" val="0"/>
  <p:tag name="ARTICULATE_SLIDE_COUNT" val="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hème AVOCarbon">
  <a:themeElements>
    <a:clrScheme name="AVOCarbon">
      <a:dk1>
        <a:sysClr val="windowText" lastClr="000000"/>
      </a:dk1>
      <a:lt1>
        <a:sysClr val="window" lastClr="FFFFFF"/>
      </a:lt1>
      <a:dk2>
        <a:srgbClr val="0E4E78"/>
      </a:dk2>
      <a:lt2>
        <a:srgbClr val="E7E6E6"/>
      </a:lt2>
      <a:accent1>
        <a:srgbClr val="046EAF"/>
      </a:accent1>
      <a:accent2>
        <a:srgbClr val="EF7807"/>
      </a:accent2>
      <a:accent3>
        <a:srgbClr val="585858"/>
      </a:accent3>
      <a:accent4>
        <a:srgbClr val="C5C5C4"/>
      </a:accent4>
      <a:accent5>
        <a:srgbClr val="44546A"/>
      </a:accent5>
      <a:accent6>
        <a:srgbClr val="23C6D7"/>
      </a:accent6>
      <a:hlink>
        <a:srgbClr val="0563C1"/>
      </a:hlink>
      <a:folHlink>
        <a:srgbClr val="954F72"/>
      </a:folHlink>
    </a:clrScheme>
    <a:fontScheme name="AVOCarbon">
      <a:majorFont>
        <a:latin typeface="Montserrat SemiBold"/>
        <a:ea typeface=""/>
        <a:cs typeface=""/>
      </a:majorFont>
      <a:minorFont>
        <a:latin typeface="Hind Madur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OCarbon group PPT model V3" id="{5122D2E9-BD53-4C22-B24C-89F9AE833237}" vid="{831454BD-289B-48D0-965A-7ECB2520FB0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54C4C2A91A79843A3535691A9B4F854" ma:contentTypeVersion="5" ma:contentTypeDescription="새 문서를 만듭니다." ma:contentTypeScope="" ma:versionID="161f31db33f644a23b1a3baa4780539b">
  <xsd:schema xmlns:xsd="http://www.w3.org/2001/XMLSchema" xmlns:xs="http://www.w3.org/2001/XMLSchema" xmlns:p="http://schemas.microsoft.com/office/2006/metadata/properties" xmlns:ns2="973a9676-8bfa-474a-b724-61b32c9ef320" xmlns:ns3="9cba5fa8-b41e-47cf-a97f-879f1f12292d" targetNamespace="http://schemas.microsoft.com/office/2006/metadata/properties" ma:root="true" ma:fieldsID="7bdf67441ca86e56c4fb39b78fd4137e" ns2:_="" ns3:_="">
    <xsd:import namespace="973a9676-8bfa-474a-b724-61b32c9ef320"/>
    <xsd:import namespace="9cba5fa8-b41e-47cf-a97f-879f1f1229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a9676-8bfa-474a-b724-61b32c9ef3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ba5fa8-b41e-47cf-a97f-879f1f12292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6DF287-2F53-47B5-ACBB-D533509C2E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90566A-2F50-4EAB-8412-6E99E832CCF1}">
  <ds:schemaRefs>
    <ds:schemaRef ds:uri="973a9676-8bfa-474a-b724-61b32c9ef320"/>
    <ds:schemaRef ds:uri="9cba5fa8-b41e-47cf-a97f-879f1f1229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4A56304-7F52-471F-84C7-2C4CE38BB2B8}">
  <ds:schemaRefs>
    <ds:schemaRef ds:uri="http://purl.org/dc/elements/1.1/"/>
    <ds:schemaRef ds:uri="http://schemas.microsoft.com/office/2006/metadata/properties"/>
    <ds:schemaRef ds:uri="973a9676-8bfa-474a-b724-61b32c9ef320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cba5fa8-b41e-47cf-a97f-879f1f12292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5456</TotalTime>
  <Words>738</Words>
  <Application>Microsoft Office PowerPoint</Application>
  <PresentationFormat>와이드스크린</PresentationFormat>
  <Paragraphs>195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Mada Medium</vt:lpstr>
      <vt:lpstr>굴림</vt:lpstr>
      <vt:lpstr>맑은 고딕</vt:lpstr>
      <vt:lpstr>현대하모니 L</vt:lpstr>
      <vt:lpstr>Aptos Narrow</vt:lpstr>
      <vt:lpstr>Arial</vt:lpstr>
      <vt:lpstr>Calibri</vt:lpstr>
      <vt:lpstr>Hind Madurai</vt:lpstr>
      <vt:lpstr>Montserrat SemiBold</vt:lpstr>
      <vt:lpstr>Wingdings</vt:lpstr>
      <vt:lpstr>Thème AVOCarbon</vt:lpstr>
      <vt:lpstr>품질개선 Report   - 유니기전 DN8 Carbon Brush  R 가공 치우침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AVOCarbon Title</dc:title>
  <dc:creator>Karen PERROT</dc:creator>
  <cp:lastModifiedBy>Jaeseok Lee</cp:lastModifiedBy>
  <cp:revision>210</cp:revision>
  <dcterms:created xsi:type="dcterms:W3CDTF">2023-07-06T07:23:24Z</dcterms:created>
  <dcterms:modified xsi:type="dcterms:W3CDTF">2025-12-01T10:13:22Z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2303F357-0846-4434-A6AA-574B7640B36F</vt:lpwstr>
  </property>
  <property fmtid="{D5CDD505-2E9C-101B-9397-08002B2CF9AE}" pid="3" name="ArticulatePath">
    <vt:lpwstr>Présentation1</vt:lpwstr>
  </property>
  <property fmtid="{D5CDD505-2E9C-101B-9397-08002B2CF9AE}" pid="4" name="ContentTypeId">
    <vt:lpwstr>0x010100454C4C2A91A79843A3535691A9B4F854</vt:lpwstr>
  </property>
</Properties>
</file>