
<file path=[Content_Types].xml><?xml version="1.0" encoding="utf-8"?>
<Types xmlns="http://schemas.openxmlformats.org/package/2006/content-types">
  <Default Extension="jpeg" ContentType="image/jpeg"/>
  <Default Extension="png" ContentType="image/png"/>
  <Default Extension="pptx" ContentType="application/vnd.openxmlformats-officedocument.presentationml.presentation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  <p:sldMasterId id="2147483672" r:id="rId2"/>
    <p:sldMasterId id="2147483675" r:id="rId3"/>
    <p:sldMasterId id="2147483677" r:id="rId4"/>
    <p:sldMasterId id="2147485612" r:id="rId5"/>
  </p:sldMasterIdLst>
  <p:notesMasterIdLst>
    <p:notesMasterId r:id="rId7"/>
  </p:notesMasterIdLst>
  <p:sldIdLst>
    <p:sldId id="257" r:id="rId6"/>
  </p:sldIdLst>
  <p:sldSz cx="9906000" cy="6858000" type="A4"/>
  <p:notesSz cx="7010400" cy="92964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99CC"/>
    <a:srgbClr val="808080"/>
    <a:srgbClr val="CCFFFF"/>
    <a:srgbClr val="C0C0C0"/>
    <a:srgbClr val="DDDDDD"/>
    <a:srgbClr val="FFFF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03" autoAdjust="0"/>
    <p:restoredTop sz="99419" autoAdjust="0"/>
  </p:normalViewPr>
  <p:slideViewPr>
    <p:cSldViewPr>
      <p:cViewPr>
        <p:scale>
          <a:sx n="80" d="100"/>
          <a:sy n="80" d="100"/>
        </p:scale>
        <p:origin x="1052" y="5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38604" cy="4648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159" y="1"/>
            <a:ext cx="3038604" cy="4648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9013" y="698500"/>
            <a:ext cx="5032375" cy="34845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713" y="4416538"/>
            <a:ext cx="5608975" cy="41833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0086"/>
            <a:ext cx="3038604" cy="4648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159" y="8830086"/>
            <a:ext cx="3038604" cy="4648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A0D3A28-10AC-47DF-A0D1-2D70FB59E2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180690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B8620F75-B733-4EB0-A1C7-B65107097D87}" type="slidenum">
              <a:rPr lang="ko-KR" altLang="en-US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7425" y="696913"/>
            <a:ext cx="5035550" cy="3486150"/>
          </a:xfrm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15669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65933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1953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668463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67881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868192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465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063484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12604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286750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61782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6588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29227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359824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48992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8648434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2101930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85596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701435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12551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603224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26288" y="131763"/>
            <a:ext cx="2284412" cy="5994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73050" y="131763"/>
            <a:ext cx="6700838" cy="5994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678474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3686115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64463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36281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9151231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060588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870634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2740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19160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57451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9607543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864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51116191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52427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0765404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9822669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275465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009257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4167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78356579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06487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8233718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88171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7081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 bwMode="auto">
          <a:xfrm>
            <a:off x="0" y="0"/>
            <a:ext cx="9906000" cy="5372100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 type="none"/>
            <a:tailEnd type="stealth" w="lg" len="lg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none" anchor="ctr"/>
          <a:lstStyle/>
          <a:p>
            <a:pPr algn="ctr">
              <a:defRPr/>
            </a:pPr>
            <a:endParaRPr kumimoji="0" lang="ko-KR" altLang="en-US" sz="1300" dirty="0">
              <a:solidFill>
                <a:prstClr val="black"/>
              </a:solidFill>
              <a:latin typeface="맑은 고딕"/>
              <a:ea typeface="맑은 고딕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004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6097" r:id="rId1"/>
    <p:sldLayoutId id="2147486098" r:id="rId2"/>
    <p:sldLayoutId id="2147486099" r:id="rId3"/>
    <p:sldLayoutId id="2147486100" r:id="rId4"/>
    <p:sldLayoutId id="2147486101" r:id="rId5"/>
    <p:sldLayoutId id="2147486102" r:id="rId6"/>
    <p:sldLayoutId id="2147486103" r:id="rId7"/>
    <p:sldLayoutId id="2147486104" r:id="rId8"/>
    <p:sldLayoutId id="2147486105" r:id="rId9"/>
    <p:sldLayoutId id="2147486106" r:id="rId10"/>
    <p:sldLayoutId id="2147486107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73050" y="131763"/>
            <a:ext cx="8915400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0" tIns="45715" rIns="91430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auto">
          <a:xfrm>
            <a:off x="0" y="641350"/>
            <a:ext cx="99060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pic>
        <p:nvPicPr>
          <p:cNvPr id="1028" name="Picture 4" descr="DDTZ라인굵게흰색바탕0530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0" y="12700"/>
            <a:ext cx="7207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141" r:id="rId1"/>
    <p:sldLayoutId id="2147486108" r:id="rId2"/>
    <p:sldLayoutId id="2147486109" r:id="rId3"/>
    <p:sldLayoutId id="2147486110" r:id="rId4"/>
    <p:sldLayoutId id="2147486111" r:id="rId5"/>
    <p:sldLayoutId id="2147486112" r:id="rId6"/>
    <p:sldLayoutId id="2147486113" r:id="rId7"/>
    <p:sldLayoutId id="2147486114" r:id="rId8"/>
    <p:sldLayoutId id="2147486115" r:id="rId9"/>
    <p:sldLayoutId id="2147486116" r:id="rId10"/>
    <p:sldLayoutId id="2147486117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2"/>
          <p:cNvSpPr>
            <a:spLocks noChangeShapeType="1"/>
          </p:cNvSpPr>
          <p:nvPr/>
        </p:nvSpPr>
        <p:spPr bwMode="auto">
          <a:xfrm>
            <a:off x="0" y="641350"/>
            <a:ext cx="99060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118" r:id="rId1"/>
    <p:sldLayoutId id="2147486119" r:id="rId2"/>
    <p:sldLayoutId id="2147486120" r:id="rId3"/>
    <p:sldLayoutId id="2147486121" r:id="rId4"/>
    <p:sldLayoutId id="2147486122" r:id="rId5"/>
    <p:sldLayoutId id="2147486123" r:id="rId6"/>
    <p:sldLayoutId id="2147486124" r:id="rId7"/>
    <p:sldLayoutId id="2147486125" r:id="rId8"/>
    <p:sldLayoutId id="2147486126" r:id="rId9"/>
    <p:sldLayoutId id="2147486127" r:id="rId10"/>
    <p:sldLayoutId id="2147486128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2"/>
          <p:cNvSpPr>
            <a:spLocks noChangeShapeType="1"/>
          </p:cNvSpPr>
          <p:nvPr/>
        </p:nvSpPr>
        <p:spPr bwMode="auto">
          <a:xfrm>
            <a:off x="0" y="641350"/>
            <a:ext cx="9907588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129" r:id="rId1"/>
    <p:sldLayoutId id="2147486130" r:id="rId2"/>
    <p:sldLayoutId id="2147486131" r:id="rId3"/>
    <p:sldLayoutId id="2147486132" r:id="rId4"/>
    <p:sldLayoutId id="2147486133" r:id="rId5"/>
    <p:sldLayoutId id="2147486134" r:id="rId6"/>
    <p:sldLayoutId id="2147486135" r:id="rId7"/>
    <p:sldLayoutId id="2147486136" r:id="rId8"/>
    <p:sldLayoutId id="2147486137" r:id="rId9"/>
    <p:sldLayoutId id="2147486138" r:id="rId10"/>
    <p:sldLayoutId id="214748613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-12700"/>
            <a:ext cx="9925050" cy="412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그림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788" y="6413500"/>
            <a:ext cx="368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TextBox 7"/>
          <p:cNvSpPr txBox="1">
            <a:spLocks noChangeArrowheads="1"/>
          </p:cNvSpPr>
          <p:nvPr/>
        </p:nvSpPr>
        <p:spPr bwMode="auto">
          <a:xfrm>
            <a:off x="8193088" y="6413500"/>
            <a:ext cx="14906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defRPr/>
            </a:pPr>
            <a:r>
              <a:rPr lang="en-US" altLang="ko-KR" sz="2000" b="1">
                <a:solidFill>
                  <a:srgbClr val="10253F"/>
                </a:solidFill>
                <a:latin typeface="HY견고딕" pitchFamily="18" charset="-127"/>
                <a:ea typeface="HY견고딕" pitchFamily="18" charset="-127"/>
              </a:rPr>
              <a:t>DY</a:t>
            </a:r>
            <a:r>
              <a:rPr lang="en-US" altLang="ko-KR" sz="2000" b="1">
                <a:solidFill>
                  <a:srgbClr val="558ED5"/>
                </a:solidFill>
                <a:latin typeface="HY견고딕" pitchFamily="18" charset="-127"/>
                <a:ea typeface="HY견고딕" pitchFamily="18" charset="-127"/>
              </a:rPr>
              <a:t>AUTO</a:t>
            </a:r>
            <a:endParaRPr lang="ko-KR" altLang="en-US" sz="2000" b="1">
              <a:solidFill>
                <a:srgbClr val="558ED5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140" r:id="rId1"/>
    <p:sldLayoutId id="2147486142" r:id="rId2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6.wmf"/><Relationship Id="rId5" Type="http://schemas.openxmlformats.org/officeDocument/2006/relationships/package" Target="../embeddings/Microsoft_PowerPoint_Presentation.pptx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644" y="1901361"/>
            <a:ext cx="1491261" cy="128579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9786" y="788296"/>
            <a:ext cx="1590244" cy="1317073"/>
          </a:xfrm>
          <a:prstGeom prst="rect">
            <a:avLst/>
          </a:prstGeom>
        </p:spPr>
      </p:pic>
      <p:graphicFrame>
        <p:nvGraphicFramePr>
          <p:cNvPr id="3" name="Group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280033"/>
              </p:ext>
            </p:extLst>
          </p:nvPr>
        </p:nvGraphicFramePr>
        <p:xfrm>
          <a:off x="164453" y="120351"/>
          <a:ext cx="9463086" cy="673764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65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0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6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64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16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55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690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Carbon Brush stuck, trapped </a:t>
                      </a:r>
                      <a:endParaRPr kumimoji="1" lang="en-US" altLang="ko-KR" sz="2000" b="1" i="0" u="sng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99030" marR="99030" marT="71994" marB="71994" anchor="ctr" horzOverflow="overflow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99043" marR="99043" marT="45712" marB="45712" horzOverflow="overflow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MX" sz="1400" dirty="0" err="1"/>
                        <a:t>Importance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99030" marR="99030" marT="71994" marB="71994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MX" sz="1400" dirty="0"/>
                        <a:t>Grade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99030" marR="99030" marT="71994" marB="719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9030" marR="99030" marT="71994" marB="719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167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(Problem Definition)</a:t>
                      </a:r>
                    </a:p>
                  </a:txBody>
                  <a:tcPr marL="99030" marR="99030" marT="53996" marB="53996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1-2 </a:t>
                      </a:r>
                      <a:r>
                        <a:rPr lang="es-MX" sz="1200" dirty="0" err="1"/>
                        <a:t>Issue</a:t>
                      </a:r>
                      <a:r>
                        <a:rPr lang="es-MX" sz="1200" dirty="0"/>
                        <a:t> (</a:t>
                      </a:r>
                      <a:r>
                        <a:rPr lang="es-MX" sz="1200" dirty="0" err="1"/>
                        <a:t>photo</a:t>
                      </a:r>
                      <a:r>
                        <a:rPr lang="es-MX" sz="1200" dirty="0"/>
                        <a:t>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30" marR="99030" marT="53996" marB="53996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4. (C. Action)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99030" marR="99030" marT="53996" marB="53996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s-MX" sz="1000" b="1" dirty="0">
                          <a:latin typeface="+mj-lt"/>
                        </a:rPr>
                        <a:t>Date</a:t>
                      </a:r>
                      <a:r>
                        <a:rPr lang="es-MX" sz="1000" b="1" baseline="0" dirty="0">
                          <a:latin typeface="+mj-lt"/>
                        </a:rPr>
                        <a:t> of </a:t>
                      </a:r>
                      <a:r>
                        <a:rPr lang="es-MX" sz="1000" b="1" baseline="0" dirty="0" err="1">
                          <a:latin typeface="+mj-lt"/>
                        </a:rPr>
                        <a:t>Issue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9030" marR="99030" marT="43197" marB="43197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s-E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10/4/25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43200" marB="432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7"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1" marR="71991" marT="35997" marB="35997" anchor="ctr" horzOverflow="overflow"/>
                </a:tc>
                <a:tc rowSpan="7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7" gridSpan="3">
                  <a:txBody>
                    <a:bodyPr/>
                    <a:lstStyle/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◆ </a:t>
                      </a:r>
                      <a:r>
                        <a:rPr lang="es-MX" sz="1200" b="1" dirty="0" err="1"/>
                        <a:t>Improvement</a:t>
                      </a:r>
                      <a:r>
                        <a:rPr lang="es-MX" sz="1200" b="1" dirty="0"/>
                        <a:t> </a:t>
                      </a:r>
                      <a:r>
                        <a:rPr lang="es-MX" sz="1200" b="1" dirty="0" err="1"/>
                        <a:t>measures</a:t>
                      </a:r>
                      <a:endParaRPr lang="es-MX" sz="1200" b="1" dirty="0"/>
                    </a:p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Quality </a:t>
                      </a:r>
                      <a:r>
                        <a:rPr lang="es-MX" altLang="ko-KR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alert</a:t>
                      </a:r>
                      <a:r>
                        <a:rPr lang="es-MX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s-MX" altLang="ko-KR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than</a:t>
                      </a:r>
                      <a:r>
                        <a:rPr lang="es-MX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s-MX" altLang="ko-KR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</a:t>
                      </a:r>
                      <a:r>
                        <a:rPr lang="es-MX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s-MX" altLang="ko-KR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assembly</a:t>
                      </a:r>
                      <a:r>
                        <a:rPr lang="es-MX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material </a:t>
                      </a:r>
                      <a:r>
                        <a:rPr lang="es-MX" altLang="ko-KR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manually</a:t>
                      </a:r>
                      <a:r>
                        <a:rPr lang="es-MX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s-MX" altLang="ko-KR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Apr</a:t>
                      </a:r>
                      <a:r>
                        <a:rPr lang="es-MX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11, 2025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Update work instruction mentioned not rework material in this process Apr 13, 2025</a:t>
                      </a:r>
                    </a:p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altLang="ko-KR" sz="12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Create</a:t>
                      </a:r>
                      <a:r>
                        <a:rPr lang="es-MX" altLang="ko-KR" sz="12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a </a:t>
                      </a:r>
                      <a:r>
                        <a:rPr lang="es-MX" altLang="ko-KR" sz="12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procedure</a:t>
                      </a:r>
                      <a:r>
                        <a:rPr lang="es-MX" altLang="ko-KR" sz="12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s-MX" altLang="ko-KR" sz="12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for</a:t>
                      </a:r>
                      <a:r>
                        <a:rPr lang="es-MX" altLang="ko-KR" sz="12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s-MX" altLang="ko-KR" sz="12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reworked</a:t>
                      </a:r>
                      <a:r>
                        <a:rPr lang="es-MX" altLang="ko-KR" sz="12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March 21, 2025</a:t>
                      </a:r>
                    </a:p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Update control plan </a:t>
                      </a:r>
                      <a:r>
                        <a:rPr lang="es-MX" altLang="ko-KR" sz="12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March 21, 2025</a:t>
                      </a:r>
                    </a:p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Update PFMEA </a:t>
                      </a:r>
                      <a:r>
                        <a:rPr lang="es-MX" altLang="ko-KR" sz="12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March 21, 2025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1991" marR="71991" marT="35997" marB="35997" anchor="ctr" horzOverflow="overflow"/>
                </a:tc>
                <a:tc rowSpan="7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9043" marR="99043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8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MX" sz="1000" b="1" dirty="0" err="1">
                          <a:latin typeface="+mj-lt"/>
                        </a:rPr>
                        <a:t>Location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9030" marR="99030" marT="43197" marB="43197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s-E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DY AUTO MÉXICO</a:t>
                      </a:r>
                      <a:endParaRPr kumimoji="1" lang="ko-KR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43200" marB="432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8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br>
                        <a:rPr lang="es-MX" sz="1000" b="1" dirty="0">
                          <a:latin typeface="+mj-lt"/>
                        </a:rPr>
                      </a:br>
                      <a:r>
                        <a:rPr lang="es-MX" sz="1000" b="1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Product</a:t>
                      </a:r>
                      <a:r>
                        <a:rPr lang="es-MX" sz="10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000" b="1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name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9030" marR="99030" marT="43197" marB="43197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BRUSH 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HOLDER ASSY FWS  60P054005 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43200" marB="432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24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Lot No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9030" marR="99030" marT="43197" marB="43197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s-E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14 Marzo 2025</a:t>
                      </a: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43200" marB="432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s-MX" altLang="ko-K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Issue</a:t>
                      </a:r>
                      <a:r>
                        <a:rPr kumimoji="1" lang="es-MX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 </a:t>
                      </a:r>
                      <a:r>
                        <a:rPr kumimoji="1" lang="es-MX" altLang="ko-K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Description</a:t>
                      </a:r>
                      <a:endParaRPr kumimoji="1" lang="es-MX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9030" marR="99030" marT="43197" marB="43197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Carbon Brush stuck, trapped in to the holder box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5" marR="35995" marT="43197" marB="431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3200" marB="43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832">
                <a:tc>
                  <a:txBody>
                    <a:bodyPr/>
                    <a:lstStyle/>
                    <a:p>
                      <a:pPr algn="ctr"/>
                      <a:r>
                        <a:rPr lang="es-MX" sz="1000" b="1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Occurrence</a:t>
                      </a:r>
                      <a:r>
                        <a:rPr lang="es-MX" sz="10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algn="ctr"/>
                      <a:r>
                        <a:rPr lang="es-MX" sz="1000" b="1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quantity</a:t>
                      </a:r>
                      <a:endParaRPr lang="es-MX" sz="1000" b="1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9030" marR="99030" marT="43197" marB="43197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s-E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5" marR="35995" marT="43197" marB="431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endParaRPr lang="es-MX" dirty="0"/>
                    </a:p>
                  </a:txBody>
                  <a:tcPr marL="99030" marR="99030" marT="43197" marB="431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0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MX" sz="1000" b="1" dirty="0" err="1">
                          <a:latin typeface="+mj-lt"/>
                        </a:rPr>
                        <a:t>Recurrence</a:t>
                      </a:r>
                      <a:r>
                        <a:rPr lang="es-MX" sz="1000" b="1" dirty="0">
                          <a:latin typeface="+mj-lt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MX" sz="1000" b="1" dirty="0" err="1">
                          <a:latin typeface="+mj-lt"/>
                        </a:rPr>
                        <a:t>history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9030" marR="99030" marT="43197" marB="43197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s-E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5" marR="35995" marT="43197" marB="431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12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es-MX" sz="1200" dirty="0" err="1"/>
                        <a:t>Containment</a:t>
                      </a:r>
                      <a:r>
                        <a:rPr lang="es-MX" sz="1200" dirty="0"/>
                        <a:t> </a:t>
                      </a:r>
                      <a:r>
                        <a:rPr lang="es-MX" sz="1200" dirty="0" err="1"/>
                        <a:t>measures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99030" marR="99030" marT="53996" marB="53996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 marL="99030" marR="99030" marT="53996" marB="539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3. R.C. Analysis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99030" marR="99030" marT="53996" marB="53996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99030" marR="99030" marT="53996" marB="539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mpd="sng"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5. </a:t>
                      </a:r>
                      <a:r>
                        <a:rPr lang="en-US" sz="1200" dirty="0"/>
                        <a:t>Validation of measures [Validation of measures to be taken]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99030" marR="99030" marT="53996" marB="53996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9043" marR="99043" marT="54000" marB="5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60050">
                <a:tc rowSpan="5" grid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Containment   </a:t>
                      </a:r>
                      <a:endParaRPr lang="es-MX" sz="105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s-MX" sz="1050" b="1" dirty="0"/>
                        <a:t>10-4-2025 – 832 </a:t>
                      </a:r>
                      <a:r>
                        <a:rPr lang="es-MX" sz="1050" b="1" dirty="0" err="1"/>
                        <a:t>pcs</a:t>
                      </a:r>
                      <a:r>
                        <a:rPr lang="es-MX" sz="1050" b="1" dirty="0"/>
                        <a:t>  </a:t>
                      </a:r>
                      <a:r>
                        <a:rPr lang="es-MX" sz="1050" b="1" dirty="0" err="1"/>
                        <a:t>were</a:t>
                      </a:r>
                      <a:r>
                        <a:rPr lang="es-MX" sz="1050" b="1" dirty="0"/>
                        <a:t> removed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es-MX" sz="105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s-MX" sz="1050" b="1" dirty="0" err="1"/>
                        <a:t>Changed</a:t>
                      </a:r>
                      <a:r>
                        <a:rPr lang="es-MX" sz="1050" b="1" baseline="0" dirty="0"/>
                        <a:t> </a:t>
                      </a:r>
                      <a:r>
                        <a:rPr lang="es-MX" sz="1050" b="1" baseline="0" dirty="0" err="1"/>
                        <a:t>by</a:t>
                      </a:r>
                      <a:r>
                        <a:rPr lang="es-MX" sz="1050" b="1" baseline="0" dirty="0"/>
                        <a:t> Lot 7 Abril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es-MX" sz="1050" b="1" baseline="0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s-MX" sz="1050" b="1" dirty="0"/>
                        <a:t>DY Auto </a:t>
                      </a:r>
                      <a:r>
                        <a:rPr lang="es-MX" sz="1050" b="1" dirty="0" err="1"/>
                        <a:t>Inventory</a:t>
                      </a:r>
                      <a:r>
                        <a:rPr lang="es-MX" sz="1050" b="1" dirty="0"/>
                        <a:t>:</a:t>
                      </a:r>
                      <a:r>
                        <a:rPr lang="es-MX" sz="1050" b="1" baseline="0" dirty="0"/>
                        <a:t>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s-MX" sz="1050" b="1" dirty="0"/>
                        <a:t>70k </a:t>
                      </a:r>
                      <a:r>
                        <a:rPr lang="es-MX" sz="1050" b="1" dirty="0" err="1"/>
                        <a:t>pcs</a:t>
                      </a:r>
                      <a:r>
                        <a:rPr lang="es-MX" sz="1050" b="1" dirty="0"/>
                        <a:t> </a:t>
                      </a:r>
                      <a:r>
                        <a:rPr lang="es-MX" sz="1050" b="1" dirty="0" err="1"/>
                        <a:t>pending</a:t>
                      </a:r>
                      <a:r>
                        <a:rPr lang="es-MX" sz="1050" b="1" dirty="0"/>
                        <a:t> </a:t>
                      </a:r>
                      <a:r>
                        <a:rPr lang="es-MX" sz="1050" b="1" dirty="0" err="1"/>
                        <a:t>to</a:t>
                      </a:r>
                      <a:r>
                        <a:rPr lang="es-MX" sz="1050" b="1" dirty="0"/>
                        <a:t> be </a:t>
                      </a:r>
                      <a:r>
                        <a:rPr lang="es-MX" sz="1050" b="1" dirty="0" err="1"/>
                        <a:t>disposed</a:t>
                      </a:r>
                      <a:endParaRPr lang="es-MX" sz="105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es-MX" sz="105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s-MX" sz="1050" b="1" dirty="0"/>
                        <a:t>AVO</a:t>
                      </a:r>
                      <a:r>
                        <a:rPr lang="es-MX" sz="1050" b="1" baseline="0" dirty="0"/>
                        <a:t> </a:t>
                      </a:r>
                      <a:r>
                        <a:rPr lang="es-MX" sz="1050" b="1" baseline="0" dirty="0" err="1"/>
                        <a:t>Containment</a:t>
                      </a:r>
                      <a:r>
                        <a:rPr lang="es-MX" sz="1050" b="1" baseline="0" dirty="0"/>
                        <a:t> </a:t>
                      </a:r>
                      <a:r>
                        <a:rPr lang="es-MX" sz="1050" b="1" baseline="0" dirty="0" err="1"/>
                        <a:t>action</a:t>
                      </a:r>
                      <a:r>
                        <a:rPr lang="es-MX" sz="1050" b="1" baseline="0" dirty="0"/>
                        <a:t>: </a:t>
                      </a:r>
                      <a:endParaRPr lang="es-MX" sz="1050" b="1" dirty="0"/>
                    </a:p>
                  </a:txBody>
                  <a:tcPr marL="71991" marR="71991" marT="35997" marB="35997" horzOverflow="overflow"/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200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5" gridSpan="2">
                  <a:txBody>
                    <a:bodyPr/>
                    <a:lstStyle/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◆ </a:t>
                      </a:r>
                      <a:r>
                        <a:rPr kumimoji="1" lang="en-US" altLang="ko-KR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Root cause analysis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dirty="0" err="1">
                          <a:latin typeface="+mn-lt"/>
                        </a:rPr>
                        <a:t>the</a:t>
                      </a:r>
                      <a:r>
                        <a:rPr lang="es-MX" sz="1200" b="0" dirty="0">
                          <a:latin typeface="+mn-lt"/>
                        </a:rPr>
                        <a:t> </a:t>
                      </a:r>
                      <a:r>
                        <a:rPr lang="es-MX" sz="1200" b="0" dirty="0" err="1">
                          <a:latin typeface="+mn-lt"/>
                        </a:rPr>
                        <a:t>brush</a:t>
                      </a:r>
                      <a:r>
                        <a:rPr lang="es-MX" sz="1200" b="0" dirty="0">
                          <a:latin typeface="+mn-lt"/>
                        </a:rPr>
                        <a:t> </a:t>
                      </a:r>
                      <a:r>
                        <a:rPr lang="es-MX" sz="1200" b="0" dirty="0" err="1">
                          <a:latin typeface="+mn-lt"/>
                        </a:rPr>
                        <a:t>is</a:t>
                      </a:r>
                      <a:r>
                        <a:rPr lang="es-MX" sz="1200" b="0" dirty="0">
                          <a:latin typeface="+mn-lt"/>
                        </a:rPr>
                        <a:t> </a:t>
                      </a:r>
                      <a:r>
                        <a:rPr lang="es-MX" sz="1200" b="0" dirty="0" err="1">
                          <a:latin typeface="+mn-lt"/>
                        </a:rPr>
                        <a:t>mounted</a:t>
                      </a:r>
                      <a:r>
                        <a:rPr lang="es-MX" sz="1200" b="0" dirty="0">
                          <a:latin typeface="+mn-lt"/>
                        </a:rPr>
                        <a:t> </a:t>
                      </a:r>
                      <a:r>
                        <a:rPr lang="es-MX" sz="1200" b="0" dirty="0" err="1">
                          <a:latin typeface="+mn-lt"/>
                        </a:rPr>
                        <a:t>manually</a:t>
                      </a:r>
                      <a:r>
                        <a:rPr lang="es-MX" sz="1200" b="0" dirty="0">
                          <a:latin typeface="+mn-lt"/>
                        </a:rPr>
                        <a:t> after </a:t>
                      </a:r>
                      <a:r>
                        <a:rPr lang="es-MX" sz="1200" b="0" dirty="0" err="1">
                          <a:latin typeface="+mn-lt"/>
                        </a:rPr>
                        <a:t>the</a:t>
                      </a:r>
                      <a:r>
                        <a:rPr lang="es-MX" sz="1200" b="0" dirty="0">
                          <a:latin typeface="+mn-lt"/>
                        </a:rPr>
                        <a:t> </a:t>
                      </a:r>
                      <a:r>
                        <a:rPr lang="es-MX" sz="1200" b="0" dirty="0" err="1">
                          <a:latin typeface="+mn-lt"/>
                        </a:rPr>
                        <a:t>station</a:t>
                      </a:r>
                      <a:r>
                        <a:rPr lang="es-MX" sz="1200" b="0" dirty="0">
                          <a:latin typeface="+mn-lt"/>
                        </a:rPr>
                        <a:t> </a:t>
                      </a:r>
                      <a:r>
                        <a:rPr lang="es-MX" sz="1200" b="0" dirty="0" err="1">
                          <a:latin typeface="+mn-lt"/>
                        </a:rPr>
                        <a:t>of</a:t>
                      </a:r>
                      <a:r>
                        <a:rPr lang="es-MX" sz="1200" b="0" dirty="0">
                          <a:latin typeface="+mn-lt"/>
                        </a:rPr>
                        <a:t> </a:t>
                      </a:r>
                      <a:r>
                        <a:rPr lang="es-MX" sz="1200" b="0" dirty="0" err="1">
                          <a:latin typeface="+mn-lt"/>
                        </a:rPr>
                        <a:t>brush</a:t>
                      </a:r>
                      <a:r>
                        <a:rPr lang="es-MX" sz="1200" b="0" dirty="0">
                          <a:latin typeface="+mn-lt"/>
                        </a:rPr>
                        <a:t> </a:t>
                      </a:r>
                      <a:r>
                        <a:rPr lang="es-MX" sz="1200" b="0" dirty="0" err="1">
                          <a:latin typeface="+mn-lt"/>
                        </a:rPr>
                        <a:t>assembly</a:t>
                      </a:r>
                      <a:r>
                        <a:rPr lang="es-MX" sz="1200" b="0" dirty="0">
                          <a:latin typeface="+mn-lt"/>
                        </a:rPr>
                        <a:t> </a:t>
                      </a:r>
                      <a:r>
                        <a:rPr lang="es-MX" sz="1200" b="0" dirty="0" err="1">
                          <a:latin typeface="+mn-lt"/>
                        </a:rPr>
                        <a:t>without</a:t>
                      </a:r>
                      <a:r>
                        <a:rPr lang="es-MX" sz="1200" b="0" dirty="0">
                          <a:latin typeface="+mn-lt"/>
                        </a:rPr>
                        <a:t> </a:t>
                      </a:r>
                      <a:r>
                        <a:rPr lang="es-MX" sz="1200" b="0" dirty="0" err="1">
                          <a:latin typeface="+mn-lt"/>
                        </a:rPr>
                        <a:t>used</a:t>
                      </a:r>
                      <a:r>
                        <a:rPr lang="es-MX" sz="1200" b="0" dirty="0">
                          <a:latin typeface="+mn-lt"/>
                        </a:rPr>
                        <a:t> </a:t>
                      </a:r>
                      <a:r>
                        <a:rPr lang="es-MX" sz="1200" b="0" dirty="0" err="1">
                          <a:latin typeface="+mn-lt"/>
                        </a:rPr>
                        <a:t>the</a:t>
                      </a:r>
                      <a:r>
                        <a:rPr lang="es-MX" sz="1200" b="0" dirty="0">
                          <a:latin typeface="+mn-lt"/>
                        </a:rPr>
                        <a:t> </a:t>
                      </a:r>
                      <a:r>
                        <a:rPr lang="es-MX" sz="1200" b="0" dirty="0" err="1">
                          <a:latin typeface="+mn-lt"/>
                        </a:rPr>
                        <a:t>brush</a:t>
                      </a:r>
                      <a:r>
                        <a:rPr lang="es-MX" sz="1200" b="0" dirty="0">
                          <a:latin typeface="+mn-lt"/>
                        </a:rPr>
                        <a:t> </a:t>
                      </a:r>
                      <a:r>
                        <a:rPr lang="es-MX" sz="1200" b="0" dirty="0" err="1">
                          <a:latin typeface="+mn-lt"/>
                        </a:rPr>
                        <a:t>mounting</a:t>
                      </a:r>
                      <a:r>
                        <a:rPr lang="es-MX" sz="1200" b="0" dirty="0">
                          <a:latin typeface="+mn-lt"/>
                        </a:rPr>
                        <a:t> </a:t>
                      </a:r>
                      <a:r>
                        <a:rPr lang="es-MX" sz="1200" b="0" dirty="0" err="1">
                          <a:latin typeface="+mn-lt"/>
                        </a:rPr>
                        <a:t>device</a:t>
                      </a:r>
                      <a:r>
                        <a:rPr lang="es-MX" sz="1200" b="0" dirty="0">
                          <a:latin typeface="+mn-lt"/>
                        </a:rPr>
                        <a:t>.</a:t>
                      </a:r>
                      <a:endParaRPr lang="es-MX" sz="1200" b="1" dirty="0"/>
                    </a:p>
                    <a:p>
                      <a:pPr marL="0" marR="0" lvl="0" indent="571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s-MX" altLang="ko-KR" sz="1200" b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571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s-MX" altLang="ko-KR" sz="1200" b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571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s-MX" altLang="ko-KR" sz="1050" b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Use </a:t>
                      </a:r>
                      <a:r>
                        <a:rPr kumimoji="1" lang="es-MX" altLang="ko-KR" sz="1050" b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example</a:t>
                      </a:r>
                      <a:r>
                        <a:rPr kumimoji="1" lang="es-MX" altLang="ko-KR" sz="1050" b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=&gt; </a:t>
                      </a:r>
                      <a:endParaRPr kumimoji="1" lang="en-US" altLang="ko-KR" sz="1200" b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200" b="0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◆ </a:t>
                      </a:r>
                      <a:r>
                        <a:rPr kumimoji="1" lang="en-US" altLang="ko-KR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Spill cause analysis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altLang="es-MX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inherit"/>
                        </a:rPr>
                        <a:t>There</a:t>
                      </a: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inherit"/>
                        </a:rPr>
                        <a:t> </a:t>
                      </a:r>
                      <a:r>
                        <a:rPr kumimoji="0" lang="es-MX" altLang="es-MX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inherit"/>
                        </a:rPr>
                        <a:t>is</a:t>
                      </a: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inherit"/>
                        </a:rPr>
                        <a:t> no </a:t>
                      </a:r>
                      <a:r>
                        <a:rPr kumimoji="0" lang="es-MX" altLang="es-MX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inherit"/>
                        </a:rPr>
                        <a:t>procedure</a:t>
                      </a: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inherit"/>
                        </a:rPr>
                        <a:t> </a:t>
                      </a:r>
                      <a:r>
                        <a:rPr kumimoji="0" lang="es-MX" altLang="es-MX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inherit"/>
                        </a:rPr>
                        <a:t>for</a:t>
                      </a: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inherit"/>
                        </a:rPr>
                        <a:t> passing </a:t>
                      </a:r>
                      <a:r>
                        <a:rPr kumimoji="0" lang="es-MX" altLang="es-MX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inherit"/>
                        </a:rPr>
                        <a:t>reworked</a:t>
                      </a: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inherit"/>
                        </a:rPr>
                        <a:t> material </a:t>
                      </a:r>
                      <a:r>
                        <a:rPr kumimoji="0" lang="es-MX" altLang="es-MX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inherit"/>
                        </a:rPr>
                        <a:t>through</a:t>
                      </a: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inherit"/>
                        </a:rPr>
                        <a:t> </a:t>
                      </a:r>
                      <a:r>
                        <a:rPr kumimoji="0" lang="es-MX" altLang="es-MX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inherit"/>
                        </a:rPr>
                        <a:t>the</a:t>
                      </a: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inherit"/>
                        </a:rPr>
                        <a:t> </a:t>
                      </a:r>
                      <a:r>
                        <a:rPr kumimoji="0" lang="es-MX" altLang="es-MX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inherit"/>
                        </a:rPr>
                        <a:t>tester</a:t>
                      </a:r>
                      <a:endParaRPr kumimoji="0" lang="en-US" altLang="ko-KR" sz="11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1991" marR="71991" marT="35997" marB="35997" horzOverflow="overflow"/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TBD (Zero defects found in final inspection and containment station)</a:t>
                      </a:r>
                    </a:p>
                  </a:txBody>
                  <a:tcPr marL="71991" marR="71991" marT="35997" marB="35997" anchor="ctr" horzOverflow="overflow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8123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6. Drill Deep Wide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1" marR="71991" marT="35997" marB="3599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6935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1" marR="71991" marT="35997" marB="3599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2095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7. </a:t>
                      </a:r>
                      <a:r>
                        <a:rPr kumimoji="1" lang="en-US" altLang="ko-KR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Lessons Learned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1" marR="71991" marT="35997" marB="3599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15293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72000" marR="72000" marT="36000" marB="36000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1" marR="71991" marT="35997" marB="3599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2" name="1 Objeto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030388"/>
              </p:ext>
            </p:extLst>
          </p:nvPr>
        </p:nvGraphicFramePr>
        <p:xfrm>
          <a:off x="4736976" y="4581128"/>
          <a:ext cx="738187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showAsIcon="1" r:id="rId5" imgW="914400" imgH="792360" progId="PowerPoint.Show.12">
                  <p:embed/>
                </p:oleObj>
              </mc:Choice>
              <mc:Fallback>
                <p:oleObj name="Presentation" showAsIcon="1" r:id="rId5" imgW="914400" imgH="792360" progId="PowerPoint.Show.12">
                  <p:embed/>
                  <p:pic>
                    <p:nvPicPr>
                      <p:cNvPr id="0" name="11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6976" y="4581128"/>
                        <a:ext cx="738187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E2804E2E-CA2D-F127-A8B7-FF0326794B07}"/>
              </a:ext>
            </a:extLst>
          </p:cNvPr>
          <p:cNvSpPr/>
          <p:nvPr/>
        </p:nvSpPr>
        <p:spPr bwMode="auto">
          <a:xfrm rot="16200000">
            <a:off x="5177327" y="2176831"/>
            <a:ext cx="948593" cy="784970"/>
          </a:xfrm>
          <a:prstGeom prst="ellipse">
            <a:avLst/>
          </a:prstGeom>
          <a:noFill/>
          <a:ln w="57150" algn="ctr">
            <a:solidFill>
              <a:srgbClr val="FF0000"/>
            </a:solidFill>
            <a:round/>
            <a:headEnd type="none"/>
            <a:tailEnd type="stealth" w="lg" len="lg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none" rtlCol="0" anchor="ctr"/>
          <a:lstStyle/>
          <a:p>
            <a:pPr algn="ctr"/>
            <a:endParaRPr kumimoji="0" lang="es-MX" sz="1300" dirty="0">
              <a:latin typeface="+mn-lt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49E0E65-EE69-189D-2B41-5F7B4A8B37C1}"/>
              </a:ext>
            </a:extLst>
          </p:cNvPr>
          <p:cNvSpPr/>
          <p:nvPr/>
        </p:nvSpPr>
        <p:spPr bwMode="auto">
          <a:xfrm rot="16200000">
            <a:off x="3807259" y="950715"/>
            <a:ext cx="818353" cy="792088"/>
          </a:xfrm>
          <a:prstGeom prst="ellipse">
            <a:avLst/>
          </a:prstGeom>
          <a:noFill/>
          <a:ln w="57150" algn="ctr">
            <a:solidFill>
              <a:srgbClr val="FF0000"/>
            </a:solidFill>
            <a:round/>
            <a:headEnd type="none"/>
            <a:tailEnd type="stealth" w="lg" len="lg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none" rtlCol="0" anchor="ctr"/>
          <a:lstStyle/>
          <a:p>
            <a:pPr algn="ctr"/>
            <a:endParaRPr kumimoji="0" lang="es-MX" sz="1300" dirty="0">
              <a:latin typeface="+mn-lt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9116" y="2264852"/>
            <a:ext cx="1266135" cy="7787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95501F-31D7-D0E3-4D70-8F9535DF8466}"/>
              </a:ext>
            </a:extLst>
          </p:cNvPr>
          <p:cNvSpPr txBox="1"/>
          <p:nvPr/>
        </p:nvSpPr>
        <p:spPr>
          <a:xfrm>
            <a:off x="1208584" y="6126137"/>
            <a:ext cx="12282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 err="1"/>
              <a:t>Certification</a:t>
            </a:r>
            <a:r>
              <a:rPr lang="es-MX" sz="1000" dirty="0"/>
              <a:t> </a:t>
            </a:r>
            <a:r>
              <a:rPr lang="es-MX" sz="1000" dirty="0" err="1"/>
              <a:t>label</a:t>
            </a:r>
            <a:endParaRPr lang="es-MX" sz="1000" dirty="0"/>
          </a:p>
        </p:txBody>
      </p:sp>
      <p:pic>
        <p:nvPicPr>
          <p:cNvPr id="9" name="Imagen 1">
            <a:extLst>
              <a:ext uri="{FF2B5EF4-FFF2-40B4-BE49-F238E27FC236}">
                <a16:creationId xmlns:a16="http://schemas.microsoft.com/office/drawing/2014/main" id="{476F3C93-996A-56ED-FFF1-BB7F484408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528" y="5589240"/>
            <a:ext cx="1341155" cy="5368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기본 디자인">
  <a:themeElements>
    <a:clrScheme name="4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4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기본 디자인">
  <a:themeElements>
    <a:clrScheme name="3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기본 디자인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0000"/>
      </a:hlink>
      <a:folHlink>
        <a:srgbClr val="0000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FF"/>
          </a:solidFill>
          <a:round/>
          <a:headEnd type="none"/>
          <a:tailEnd type="stealth" w="lg" len="lg"/>
        </a:ln>
        <a:effectLst/>
        <a:scene3d>
          <a:camera prst="orthographicFront">
            <a:rot lat="0" lon="0" rev="0"/>
          </a:camera>
          <a:lightRig rig="contrasting" dir="t">
            <a:rot lat="0" lon="0" rev="7800000"/>
          </a:lightRig>
        </a:scene3d>
        <a:sp3d>
          <a:bevelT w="139700" h="139700"/>
        </a:sp3d>
      </a:spPr>
      <a:bodyPr wrap="none" rtlCol="0" anchor="ctr"/>
      <a:lstStyle>
        <a:defPPr>
          <a:defRPr kumimoji="0" sz="1300" dirty="0" smtClean="0">
            <a:latin typeface="+mn-lt"/>
            <a:ea typeface="맑은 고딕" pitchFamily="50" charset="-127"/>
            <a:cs typeface="Tahoma" pitchFamily="34" charset="0"/>
          </a:defRPr>
        </a:defPPr>
      </a:lstStyle>
    </a:spDef>
    <a:lnDef>
      <a:spPr>
        <a:ln w="12700"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/>
        </a:defPPr>
      </a:lstStyle>
    </a:txDef>
  </a:objectDefaults>
  <a:extraClrSchemeLst/>
</a:theme>
</file>

<file path=ppt/theme/theme6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17783</TotalTime>
  <Words>229</Words>
  <Application>Microsoft Office PowerPoint</Application>
  <PresentationFormat>A4 Paper (210x297 mm)</PresentationFormat>
  <Paragraphs>55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굴림</vt:lpstr>
      <vt:lpstr>맑은 고딕</vt:lpstr>
      <vt:lpstr>Arial</vt:lpstr>
      <vt:lpstr>HY견고딕</vt:lpstr>
      <vt:lpstr>HY헤드라인M</vt:lpstr>
      <vt:lpstr>inherit</vt:lpstr>
      <vt:lpstr>Wingdings</vt:lpstr>
      <vt:lpstr>2_기본 디자인</vt:lpstr>
      <vt:lpstr>4_기본 디자인</vt:lpstr>
      <vt:lpstr>3_기본 디자인</vt:lpstr>
      <vt:lpstr>1_기본 디자인</vt:lpstr>
      <vt:lpstr>Office 테마</vt:lpstr>
      <vt:lpstr>Presentation</vt:lpstr>
      <vt:lpstr>PowerPoint Presentation</vt:lpstr>
    </vt:vector>
  </TitlesOfParts>
  <Company>현대자동차(주)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품질기획팀</dc:creator>
  <cp:lastModifiedBy>Daniel MORALES</cp:lastModifiedBy>
  <cp:revision>850</cp:revision>
  <cp:lastPrinted>2021-07-19T19:50:59Z</cp:lastPrinted>
  <dcterms:created xsi:type="dcterms:W3CDTF">2004-05-03T21:58:18Z</dcterms:created>
  <dcterms:modified xsi:type="dcterms:W3CDTF">2025-05-01T00:21:50Z</dcterms:modified>
</cp:coreProperties>
</file>