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ppt" ContentType="application/vnd.ms-powerpoi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9906000" cy="6858000" type="A4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5" autoAdjust="0"/>
    <p:restoredTop sz="96433" autoAdjust="0"/>
  </p:normalViewPr>
  <p:slideViewPr>
    <p:cSldViewPr snapToGrid="0">
      <p:cViewPr varScale="1">
        <p:scale>
          <a:sx n="83" d="100"/>
          <a:sy n="83" d="100"/>
        </p:scale>
        <p:origin x="108" y="15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7E508-0076-428D-9B96-E1F46972E1AA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35B6-76D9-402F-92FD-AC16153C7E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BDB4AE38-E5F7-48AA-ADE6-65A774AD15E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15825" y="10235035"/>
            <a:ext cx="2920483" cy="54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04" tIns="46052" rIns="92104" bIns="46052" anchor="b"/>
          <a:lstStyle>
            <a:lvl1pPr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latinLnBrk="0">
              <a:spcBef>
                <a:spcPct val="0"/>
              </a:spcBef>
            </a:pPr>
            <a:fld id="{4C58EEA2-CECA-48D4-BC92-35C36D8778BB}" type="slidenum">
              <a:rPr lang="en-US" altLang="ko-KR">
                <a:solidFill>
                  <a:srgbClr val="000000"/>
                </a:solidFill>
              </a:rPr>
              <a:pPr algn="r" latinLnBrk="0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xmlns="" id="{8B8DB7D1-3118-41DD-8086-8C88C2B64BF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15825" y="10235035"/>
            <a:ext cx="2920483" cy="54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04" tIns="46052" rIns="92104" bIns="46052" anchor="b"/>
          <a:lstStyle>
            <a:lvl1pPr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15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latinLnBrk="0">
              <a:spcBef>
                <a:spcPct val="0"/>
              </a:spcBef>
            </a:pPr>
            <a:fld id="{7D564BAB-8939-4886-8C3A-A1EE4D79A14D}" type="slidenum">
              <a:rPr lang="en-US" altLang="ko-KR">
                <a:solidFill>
                  <a:srgbClr val="000000"/>
                </a:solidFill>
              </a:rPr>
              <a:pPr algn="r" latinLnBrk="0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xmlns="" id="{01859892-C98B-479A-A6C4-68F2A000BF1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14251" y="10235035"/>
            <a:ext cx="2922057" cy="54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96" tIns="44048" rIns="88096" bIns="44048" anchor="b"/>
          <a:lstStyle>
            <a:lvl1pPr defTabSz="874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874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874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874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874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874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874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874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874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latinLnBrk="0">
              <a:spcBef>
                <a:spcPct val="0"/>
              </a:spcBef>
            </a:pPr>
            <a:fld id="{4A0A9B40-8C46-426E-A9F0-AFE67FB880CC}" type="slidenum">
              <a:rPr lang="en-US" altLang="ko-KR">
                <a:solidFill>
                  <a:srgbClr val="000000"/>
                </a:solidFill>
              </a:rPr>
              <a:pPr algn="r" latinLnBrk="0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xmlns="" id="{C4950E91-0C60-41DE-ACB7-B236D4ABA13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14251" y="10235035"/>
            <a:ext cx="2922057" cy="54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96" tIns="44048" rIns="88096" bIns="44048" anchor="b"/>
          <a:lstStyle>
            <a:lvl1pPr defTabSz="10906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906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906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906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906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906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906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906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906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latinLnBrk="0">
              <a:spcBef>
                <a:spcPct val="0"/>
              </a:spcBef>
            </a:pPr>
            <a:fld id="{B0D10D31-6A16-41FC-BF2E-1AE201989553}" type="slidenum">
              <a:rPr lang="en-US" altLang="ko-KR">
                <a:solidFill>
                  <a:srgbClr val="000000"/>
                </a:solidFill>
              </a:rPr>
              <a:pPr algn="r" latinLnBrk="0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150" name="슬라이드 이미지 개체 틀 1">
            <a:extLst>
              <a:ext uri="{FF2B5EF4-FFF2-40B4-BE49-F238E27FC236}">
                <a16:creationId xmlns:a16="http://schemas.microsoft.com/office/drawing/2014/main" xmlns="" id="{45D7E3DC-4E0F-4316-9C5E-BA86EB3EB7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811213"/>
            <a:ext cx="5830887" cy="4038600"/>
          </a:xfrm>
          <a:ln/>
        </p:spPr>
      </p:sp>
      <p:sp>
        <p:nvSpPr>
          <p:cNvPr id="6151" name="슬라이드 노트 개체 틀 2">
            <a:extLst>
              <a:ext uri="{FF2B5EF4-FFF2-40B4-BE49-F238E27FC236}">
                <a16:creationId xmlns:a16="http://schemas.microsoft.com/office/drawing/2014/main" xmlns="" id="{BD2D897A-B089-4E1C-A8FC-09E639897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474" y="5120965"/>
            <a:ext cx="5390934" cy="4852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382" tIns="44191" rIns="88382" bIns="44191"/>
          <a:lstStyle/>
          <a:p>
            <a:pPr>
              <a:spcBef>
                <a:spcPct val="0"/>
              </a:spcBef>
            </a:pPr>
            <a:endParaRPr lang="ko-KR" altLang="ko-KR" dirty="0"/>
          </a:p>
        </p:txBody>
      </p:sp>
      <p:sp>
        <p:nvSpPr>
          <p:cNvPr id="6152" name="슬라이드 번호 개체 틀 3">
            <a:extLst>
              <a:ext uri="{FF2B5EF4-FFF2-40B4-BE49-F238E27FC236}">
                <a16:creationId xmlns:a16="http://schemas.microsoft.com/office/drawing/2014/main" xmlns="" id="{D8DA297C-B211-401C-ADD5-56E8901AFDC9}"/>
              </a:ext>
            </a:extLst>
          </p:cNvPr>
          <p:cNvSpPr txBox="1">
            <a:spLocks noGrp="1"/>
          </p:cNvSpPr>
          <p:nvPr/>
        </p:nvSpPr>
        <p:spPr bwMode="auto">
          <a:xfrm>
            <a:off x="3814251" y="10235035"/>
            <a:ext cx="2922057" cy="54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382" tIns="44191" rIns="88382" bIns="44191" anchor="b"/>
          <a:lstStyle>
            <a:lvl1pPr defTabSz="1095375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1095375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1095375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1095375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1095375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095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095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095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0953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latinLnBrk="0">
              <a:spcBef>
                <a:spcPct val="0"/>
              </a:spcBef>
            </a:pPr>
            <a:fld id="{8CBC754B-0CD7-4906-9471-2DE3695C3BDF}" type="slidenum">
              <a:rPr lang="en-US" altLang="ko-KR">
                <a:solidFill>
                  <a:srgbClr val="000000"/>
                </a:solidFill>
              </a:rPr>
              <a:pPr algn="r" latinLnBrk="0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9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0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1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343" y="1825625"/>
            <a:ext cx="3409057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86226" y="1825625"/>
            <a:ext cx="3409057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4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7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7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8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1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2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60442" y="365125"/>
            <a:ext cx="173484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3344" y="365125"/>
            <a:ext cx="508327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1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0B6A4-6E6E-4382-83D6-D3CBE829FB98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D01B8-4CBC-4BEE-84D8-EDEEDFD7E2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8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PowerPoint_97-2003_Presentation2.ppt"/><Relationship Id="rId5" Type="http://schemas.openxmlformats.org/officeDocument/2006/relationships/image" Target="../media/image1.wmf"/><Relationship Id="rId4" Type="http://schemas.openxmlformats.org/officeDocument/2006/relationships/oleObject" Target="../embeddings/Microsoft_PowerPoint_97-2003_Presentation1.ppt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99" name="Group 75">
            <a:extLst>
              <a:ext uri="{FF2B5EF4-FFF2-40B4-BE49-F238E27FC236}">
                <a16:creationId xmlns:a16="http://schemas.microsoft.com/office/drawing/2014/main" xmlns="" id="{3370B492-57BB-4C62-BEEA-72CBF23E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284923"/>
              </p:ext>
            </p:extLst>
          </p:nvPr>
        </p:nvGraphicFramePr>
        <p:xfrm>
          <a:off x="85002" y="71724"/>
          <a:ext cx="9728700" cy="6671977"/>
        </p:xfrm>
        <a:graphic>
          <a:graphicData uri="http://schemas.openxmlformats.org/drawingml/2006/table">
            <a:tbl>
              <a:tblPr/>
              <a:tblGrid>
                <a:gridCol w="388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72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495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935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3695">
                <a:tc gridSpan="2">
                  <a:txBody>
                    <a:bodyPr/>
                    <a:lstStyle/>
                    <a:p>
                      <a:pPr algn="l" eaLnBrk="1" hangingPunct="1"/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dern H Medium" panose="020B0603000000020004" pitchFamily="50" charset="-127"/>
                          <a:ea typeface="Modern H Medium" panose="020B060300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▣ </a:t>
                      </a:r>
                      <a:r>
                        <a:rPr kumimoji="1" lang="en-IN" altLang="ko-KR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OOOOOOOO</a:t>
                      </a:r>
                      <a:endParaRPr kumimoji="0" lang="en-US" altLang="ko-KR" sz="24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17653" marB="176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Supplier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Date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현대하모니 M" panose="02020603020101020101" pitchFamily="18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 smtClean="0">
                          <a:solidFill>
                            <a:schemeClr val="tx1"/>
                          </a:solidFill>
                          <a:latin typeface="+mn-lt"/>
                          <a:ea typeface="현대하모니 M" panose="02020603020101020101" pitchFamily="18" charset="-127"/>
                        </a:rPr>
                        <a:t>Avo</a:t>
                      </a: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  <a:latin typeface="+mn-lt"/>
                          <a:ea typeface="현대하모니 M" panose="02020603020101020101" pitchFamily="18" charset="-127"/>
                        </a:rPr>
                        <a:t> carbon </a:t>
                      </a:r>
                      <a:r>
                        <a:rPr lang="en-US" altLang="ko-KR" sz="1400" dirty="0" err="1" smtClean="0">
                          <a:solidFill>
                            <a:schemeClr val="tx1"/>
                          </a:solidFill>
                          <a:latin typeface="+mn-lt"/>
                          <a:ea typeface="현대하모니 M" panose="02020603020101020101" pitchFamily="18" charset="-127"/>
                        </a:rPr>
                        <a:t>india</a:t>
                      </a:r>
                      <a:endParaRPr lang="en-US" altLang="ko-KR" sz="1400" dirty="0" smtClean="0">
                        <a:solidFill>
                          <a:schemeClr val="tx1"/>
                        </a:solidFill>
                        <a:latin typeface="+mn-lt"/>
                        <a:ea typeface="현대하모니 M" panose="02020603020101020101" pitchFamily="18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M" panose="02020603020101020101" pitchFamily="18" charset="-127"/>
                        </a:rPr>
                        <a:t>01.02.2024</a:t>
                      </a:r>
                      <a:endParaRPr lang="en-IN" altLang="ko-KR" sz="1400" dirty="0" smtClean="0">
                        <a:solidFill>
                          <a:schemeClr val="tx1"/>
                        </a:solidFill>
                        <a:latin typeface="+mn-lt"/>
                        <a:ea typeface="현대하모니 M" panose="02020603020101020101" pitchFamily="18" charset="-127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044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</a:txBody>
                  <a:tcPr marL="18009" marR="18009" marT="17653" marB="17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ts val="2000"/>
                        </a:lnSpc>
                        <a:spcBef>
                          <a:spcPts val="338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dern H Medium" panose="020B0603000000020004" pitchFamily="50" charset="-127"/>
                          <a:ea typeface="Modern H Medium" panose="020B0603000000020004" pitchFamily="50" charset="-127"/>
                        </a:rPr>
                        <a:t>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</a:t>
                      </a:r>
                    </a:p>
                  </a:txBody>
                  <a:tcPr marL="18009" marR="18009" marT="17653" marB="176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538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dern H Medium" panose="020B0603000000020004" pitchFamily="50" charset="-127"/>
                        <a:ea typeface="Modern H Medium" panose="020B0603000000020004" pitchFamily="50" charset="-127"/>
                      </a:endParaRPr>
                    </a:p>
                  </a:txBody>
                  <a:tcPr marL="54029" marR="0" marT="17653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ts val="17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dern H Medium" pitchFamily="50" charset="-127"/>
                        <a:ea typeface="Modern H Medium" pitchFamily="50" charset="-127"/>
                      </a:endParaRPr>
                    </a:p>
                  </a:txBody>
                  <a:tcPr marL="53997" marR="17999" marT="17658" marB="17658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138" name="Rectangle 100">
            <a:extLst>
              <a:ext uri="{FF2B5EF4-FFF2-40B4-BE49-F238E27FC236}">
                <a16:creationId xmlns:a16="http://schemas.microsoft.com/office/drawing/2014/main" xmlns="" id="{8E8B5910-9CEA-4066-A6FD-023B42E41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60" y="4014275"/>
            <a:ext cx="1249362" cy="23018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3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kumimoji="0" lang="en-IN" altLang="ko-KR" sz="1400" dirty="0">
                <a:solidFill>
                  <a:srgbClr val="000000"/>
                </a:solidFill>
                <a:latin typeface="+mn-lt"/>
                <a:ea typeface="현대하모니 L" panose="02020603020101020101" pitchFamily="18" charset="-127"/>
              </a:rPr>
              <a:t>Root Cause</a:t>
            </a:r>
            <a:endParaRPr kumimoji="0" lang="ko-KR" altLang="en-US" sz="1400" dirty="0">
              <a:solidFill>
                <a:srgbClr val="000000"/>
              </a:solidFill>
              <a:latin typeface="+mn-lt"/>
              <a:ea typeface="현대하모니 L" panose="02020603020101020101" pitchFamily="18" charset="-127"/>
            </a:endParaRPr>
          </a:p>
        </p:txBody>
      </p:sp>
      <p:sp>
        <p:nvSpPr>
          <p:cNvPr id="5139" name="Rectangle 101">
            <a:extLst>
              <a:ext uri="{FF2B5EF4-FFF2-40B4-BE49-F238E27FC236}">
                <a16:creationId xmlns:a16="http://schemas.microsoft.com/office/drawing/2014/main" xmlns="" id="{F358F2A8-8D2A-43EF-9645-EAB261879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06" y="632328"/>
            <a:ext cx="1062037" cy="228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3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kumimoji="0" lang="en-IN" altLang="ko-KR" sz="1400" b="1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Problem</a:t>
            </a:r>
            <a:endParaRPr kumimoji="0" lang="ko-KR" altLang="en-US" sz="1400" b="1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140" name="Rectangle 101">
            <a:extLst>
              <a:ext uri="{FF2B5EF4-FFF2-40B4-BE49-F238E27FC236}">
                <a16:creationId xmlns:a16="http://schemas.microsoft.com/office/drawing/2014/main" xmlns="" id="{805E4D19-9C83-427A-8600-734685D77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249" y="614289"/>
            <a:ext cx="2340000" cy="230187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3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kumimoji="0" lang="en-IN" altLang="ko-KR" sz="1400" b="1" dirty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Improvement measures</a:t>
            </a:r>
          </a:p>
        </p:txBody>
      </p:sp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xmlns="" id="{81899EBA-3582-4B94-AE27-CFD7E2D16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87035"/>
              </p:ext>
            </p:extLst>
          </p:nvPr>
        </p:nvGraphicFramePr>
        <p:xfrm>
          <a:off x="4104430" y="1028591"/>
          <a:ext cx="5712768" cy="38212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6384">
                  <a:extLst>
                    <a:ext uri="{9D8B030D-6E8A-4147-A177-3AD203B41FA5}">
                      <a16:colId xmlns:a16="http://schemas.microsoft.com/office/drawing/2014/main" xmlns="" val="632860641"/>
                    </a:ext>
                  </a:extLst>
                </a:gridCol>
                <a:gridCol w="2856384">
                  <a:extLst>
                    <a:ext uri="{9D8B030D-6E8A-4147-A177-3AD203B41FA5}">
                      <a16:colId xmlns:a16="http://schemas.microsoft.com/office/drawing/2014/main" xmlns="" val="37673258"/>
                    </a:ext>
                  </a:extLst>
                </a:gridCol>
              </a:tblGrid>
              <a:tr h="500367">
                <a:tc>
                  <a:txBody>
                    <a:bodyPr/>
                    <a:lstStyle/>
                    <a:p>
                      <a:pPr algn="ctr" latinLnBrk="1"/>
                      <a:r>
                        <a:rPr lang="en-IN" altLang="ko-KR" sz="1200" dirty="0">
                          <a:solidFill>
                            <a:srgbClr val="C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Before</a:t>
                      </a:r>
                      <a:endParaRPr lang="ko-KR" altLang="en-US" sz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IN" altLang="ko-KR" sz="1200" dirty="0">
                          <a:solidFill>
                            <a:srgbClr val="0000FF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After</a:t>
                      </a:r>
                      <a:endParaRPr lang="ko-KR" altLang="en-US" sz="1200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6197595"/>
                  </a:ext>
                </a:extLst>
              </a:tr>
              <a:tr h="3320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 smtClean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94398203"/>
                  </a:ext>
                </a:extLst>
              </a:tr>
            </a:tbl>
          </a:graphicData>
        </a:graphic>
      </p:graphicFrame>
      <p:graphicFrame>
        <p:nvGraphicFramePr>
          <p:cNvPr id="27" name="Object 10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1203174"/>
              </p:ext>
            </p:extLst>
          </p:nvPr>
        </p:nvGraphicFramePr>
        <p:xfrm>
          <a:off x="1294108" y="649775"/>
          <a:ext cx="181028" cy="19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9" name="Presentation" showAsIcon="1" r:id="rId4" imgW="380880" imgH="685800" progId="PowerPoint.Show.8">
                  <p:embed/>
                </p:oleObj>
              </mc:Choice>
              <mc:Fallback>
                <p:oleObj name="Presentation" showAsIcon="1" r:id="rId4" imgW="380880" imgH="685800" progId="PowerPoint.Show.8">
                  <p:embed/>
                  <p:pic>
                    <p:nvPicPr>
                      <p:cNvPr id="0" name="Picture 66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1436" t="76640" r="11342" b="8923"/>
                      <a:stretch>
                        <a:fillRect/>
                      </a:stretch>
                    </p:blipFill>
                    <p:spPr bwMode="auto">
                      <a:xfrm>
                        <a:off x="1294108" y="649775"/>
                        <a:ext cx="181028" cy="192397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6350">
                        <a:solidFill>
                          <a:srgbClr val="C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3611563"/>
              </p:ext>
            </p:extLst>
          </p:nvPr>
        </p:nvGraphicFramePr>
        <p:xfrm>
          <a:off x="1487956" y="4109647"/>
          <a:ext cx="179387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0" name="Presentation" showAsIcon="1" r:id="rId6" imgW="380880" imgH="685800" progId="PowerPoint.Show.8">
                  <p:embed/>
                </p:oleObj>
              </mc:Choice>
              <mc:Fallback>
                <p:oleObj name="Presentation" showAsIcon="1" r:id="rId6" imgW="380880" imgH="685800" progId="PowerPoint.Show.8">
                  <p:embed/>
                  <p:pic>
                    <p:nvPicPr>
                      <p:cNvPr id="0" name="Picture 66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1436" t="76640" r="11342" b="8923"/>
                      <a:stretch>
                        <a:fillRect/>
                      </a:stretch>
                    </p:blipFill>
                    <p:spPr bwMode="auto">
                      <a:xfrm>
                        <a:off x="1487956" y="4109647"/>
                        <a:ext cx="179387" cy="180975"/>
                      </a:xfrm>
                      <a:prstGeom prst="rect">
                        <a:avLst/>
                      </a:prstGeom>
                      <a:solidFill>
                        <a:srgbClr val="7030A0">
                          <a:alpha val="50195"/>
                        </a:srgbClr>
                      </a:solidFill>
                      <a:ln w="6350">
                        <a:solidFill>
                          <a:srgbClr val="59595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="" xmlns:a16="http://schemas.microsoft.com/office/drawing/2014/main" id="{914938AD-8708-4306-AF94-9394C02CD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897104"/>
              </p:ext>
            </p:extLst>
          </p:nvPr>
        </p:nvGraphicFramePr>
        <p:xfrm>
          <a:off x="124687" y="3137647"/>
          <a:ext cx="3782196" cy="8081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94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853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508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90309">
                  <a:extLst>
                    <a:ext uri="{9D8B030D-6E8A-4147-A177-3AD203B41FA5}">
                      <a16:colId xmlns="" xmlns:a16="http://schemas.microsoft.com/office/drawing/2014/main" val="3049687929"/>
                    </a:ext>
                  </a:extLst>
                </a:gridCol>
                <a:gridCol w="4825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00525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881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No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Location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Q'ty</a:t>
                      </a:r>
                      <a:endParaRPr lang="en-I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Remarks 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2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Avo</a:t>
                      </a:r>
                      <a:r>
                        <a:rPr lang="en-IN" sz="1200" b="0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 carbon</a:t>
                      </a:r>
                      <a:endParaRPr lang="en-IN" sz="12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Modern H Bold" panose="020B0603000000020004" pitchFamily="34" charset="-128"/>
                        </a:rPr>
                        <a:t>40000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+mj-lt"/>
                          <a:ea typeface="Modern H Bold" panose="020B0603000000020004" pitchFamily="34" charset="-128"/>
                        </a:rPr>
                        <a:t>40000</a:t>
                      </a:r>
                      <a:endParaRPr lang="en-US" sz="900" b="0" i="0" u="none" strike="noStrike" dirty="0" smtClean="0">
                        <a:solidFill>
                          <a:srgbClr val="0000FF"/>
                        </a:solidFill>
                        <a:effectLst/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FF0000"/>
                          </a:solidFill>
                          <a:latin typeface="+mj-lt"/>
                          <a:ea typeface="Modern H Bold" panose="020B0603000000020004" pitchFamily="34" charset="-128"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4" marR="9524" marT="95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4" marR="9524" marT="95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79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odern H Medium" panose="020B0603000000020004" pitchFamily="34" charset="-128"/>
                          <a:cs typeface="Calibri" panose="020F0502020204030204" pitchFamily="34" charset="0"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odern H Medium" panose="020B0603000000020004" pitchFamily="34" charset="-128"/>
                        <a:cs typeface="Calibri" panose="020F0502020204030204" pitchFamily="34" charset="0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 smtClean="0">
                        <a:solidFill>
                          <a:srgbClr val="0000FF"/>
                        </a:solidFill>
                        <a:effectLst/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FF0000"/>
                        </a:solidFill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4" marR="9524" marT="95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latin typeface="+mj-lt"/>
                        <a:ea typeface="Modern H Bold" panose="020B0603000000020004" pitchFamily="34" charset="-128"/>
                      </a:endParaRPr>
                    </a:p>
                  </a:txBody>
                  <a:tcPr marL="9524" marR="9524" marT="95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Rectangle 100">
            <a:extLst>
              <a:ext uri="{FF2B5EF4-FFF2-40B4-BE49-F238E27FC236}">
                <a16:creationId xmlns:a16="http://schemas.microsoft.com/office/drawing/2014/main" xmlns="" id="{8E8B5910-9CEA-4066-A6FD-023B42E41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40" y="2873440"/>
            <a:ext cx="1871083" cy="2033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3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300" dirty="0" smtClean="0">
                <a:solidFill>
                  <a:srgbClr val="000000"/>
                </a:solidFill>
                <a:latin typeface="+mn-lt"/>
                <a:ea typeface="현대하모니 L" panose="02020603020101020101" pitchFamily="18" charset="-127"/>
              </a:rPr>
              <a:t>Containment Action (ICA) </a:t>
            </a:r>
            <a:endParaRPr kumimoji="0" lang="ko-KR" altLang="en-US" sz="1300" dirty="0">
              <a:solidFill>
                <a:srgbClr val="000000"/>
              </a:solidFill>
              <a:latin typeface="+mn-lt"/>
              <a:ea typeface="현대하모니 L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CA4494E9-81C7-4317-B950-DF27BC63E40F}"/>
              </a:ext>
            </a:extLst>
          </p:cNvPr>
          <p:cNvSpPr txBox="1"/>
          <p:nvPr/>
        </p:nvSpPr>
        <p:spPr>
          <a:xfrm>
            <a:off x="131076" y="2287597"/>
            <a:ext cx="3850170" cy="149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50"/>
              </a:spcBef>
            </a:pPr>
            <a:r>
              <a:rPr lang="ko-KR" altLang="en-US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▶ </a:t>
            </a:r>
            <a:r>
              <a:rPr lang="en-IN" altLang="ko-KR" sz="1200" u="sng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Phenomenon</a:t>
            </a:r>
            <a:endParaRPr lang="en-US" altLang="ko-KR" sz="1200" u="sng" dirty="0">
              <a:solidFill>
                <a:prstClr val="black"/>
              </a:solidFill>
              <a:ea typeface="현대하모니 M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37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308077"/>
              </p:ext>
            </p:extLst>
          </p:nvPr>
        </p:nvGraphicFramePr>
        <p:xfrm>
          <a:off x="1841460" y="642106"/>
          <a:ext cx="2058793" cy="1834036"/>
        </p:xfrm>
        <a:graphic>
          <a:graphicData uri="http://schemas.openxmlformats.org/drawingml/2006/table">
            <a:tbl>
              <a:tblPr/>
              <a:tblGrid>
                <a:gridCol w="912300"/>
                <a:gridCol w="1146493"/>
              </a:tblGrid>
              <a:tr h="253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CUSTOMER</a:t>
                      </a:r>
                    </a:p>
                  </a:txBody>
                  <a:tcPr marL="36000" marR="0" marT="36000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M/s Lucas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Tvs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 TV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kovil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 Narrow" pitchFamily="34" charset="0"/>
                        <a:ea typeface="굴림" charset="-127"/>
                      </a:endParaRP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ORGIN</a:t>
                      </a:r>
                    </a:p>
                  </a:txBody>
                  <a:tcPr marL="36000" marR="0" marT="36000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Avo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 carbon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india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pvt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 ltd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MODEL</a:t>
                      </a:r>
                    </a:p>
                  </a:txBody>
                  <a:tcPr marL="36000" marR="0" marT="36000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P107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PART NO/NAME</a:t>
                      </a:r>
                    </a:p>
                  </a:txBody>
                  <a:tcPr marL="36000" marR="0" marT="36000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26718346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QUANTITY </a:t>
                      </a:r>
                    </a:p>
                  </a:txBody>
                  <a:tcPr marL="36000" marR="0" marT="36000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1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1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ISSUE HISTORY</a:t>
                      </a:r>
                    </a:p>
                  </a:txBody>
                  <a:tcPr marL="36000" marR="0" marT="36000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 Narrow" pitchFamily="34" charset="0"/>
                          <a:ea typeface="굴림" charset="-127"/>
                        </a:rPr>
                        <a:t>1</a:t>
                      </a:r>
                    </a:p>
                  </a:txBody>
                  <a:tcPr marT="45697" marB="4569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33">
            <a:extLst>
              <a:ext uri="{FF2B5EF4-FFF2-40B4-BE49-F238E27FC236}">
                <a16:creationId xmlns:a16="http://schemas.microsoft.com/office/drawing/2014/main" xmlns="" id="{AEA62AEF-7CEE-4F89-95A1-86A12613E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2" y="4311138"/>
            <a:ext cx="145264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100" b="1" dirty="0">
                <a:solidFill>
                  <a:srgbClr val="C00000"/>
                </a:solidFill>
                <a:latin typeface="+mj-lt"/>
                <a:ea typeface="Modern H Bold" panose="020B0603000000020004" pitchFamily="34" charset="-128"/>
                <a:cs typeface="Modern H Medium"/>
              </a:rPr>
              <a:t>CAUSE  ( Why Occur ) :</a:t>
            </a:r>
            <a:endParaRPr lang="en-US" sz="1100" dirty="0">
              <a:solidFill>
                <a:srgbClr val="C00000"/>
              </a:solidFill>
              <a:latin typeface="+mj-lt"/>
              <a:ea typeface="Modern H Bold" panose="020B0603000000020004" pitchFamily="34" charset="-128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371" y="5490269"/>
            <a:ext cx="16289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altLang="ko-KR" sz="1100" b="1" dirty="0">
                <a:solidFill>
                  <a:srgbClr val="C00000"/>
                </a:solidFill>
                <a:latin typeface="+mj-lt"/>
                <a:ea typeface="Modern H Bold" panose="020B0603000000020004" pitchFamily="34" charset="-128"/>
                <a:cs typeface="Modern H Medium"/>
              </a:rPr>
              <a:t>CAUSE  ( Why </a:t>
            </a:r>
            <a:r>
              <a:rPr kumimoji="0" lang="en-US" altLang="ko-KR" sz="1100" b="1" dirty="0" smtClean="0">
                <a:solidFill>
                  <a:srgbClr val="C00000"/>
                </a:solidFill>
                <a:latin typeface="+mj-lt"/>
                <a:ea typeface="Modern H Bold" panose="020B0603000000020004" pitchFamily="34" charset="-128"/>
                <a:cs typeface="Modern H Medium"/>
              </a:rPr>
              <a:t>Not Detect)</a:t>
            </a:r>
            <a:endParaRPr kumimoji="0" lang="en-IN" sz="1100" b="1" dirty="0">
              <a:solidFill>
                <a:srgbClr val="C00000"/>
              </a:solidFill>
              <a:latin typeface="+mj-lt"/>
              <a:ea typeface="Modern H Bold" panose="020B0603000000020004" pitchFamily="34" charset="-128"/>
              <a:cs typeface="Modern H Medium"/>
            </a:endParaRPr>
          </a:p>
        </p:txBody>
      </p:sp>
      <p:sp>
        <p:nvSpPr>
          <p:cNvPr id="25" name="Rectangle 86">
            <a:extLst>
              <a:ext uri="{FF2B5EF4-FFF2-40B4-BE49-F238E27FC236}">
                <a16:creationId xmlns:a16="http://schemas.microsoft.com/office/drawing/2014/main" xmlns="" id="{4F7C894D-06B0-4159-A036-761AF2A47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02" y="5419725"/>
            <a:ext cx="3910832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marL="171450" indent="-171450">
              <a:buFontTx/>
              <a:buChar char="-"/>
            </a:pPr>
            <a:endParaRPr lang="en-US" sz="1100" dirty="0" smtClean="0">
              <a:ln>
                <a:solidFill>
                  <a:schemeClr val="accent1">
                    <a:alpha val="0"/>
                  </a:schemeClr>
                </a:solidFill>
              </a:ln>
              <a:ea typeface="Modern H Bold" panose="020B0603000000020004" pitchFamily="34" charset="-128"/>
              <a:cs typeface="Calibri" panose="020F0502020204030204" pitchFamily="34" charset="0"/>
            </a:endParaRPr>
          </a:p>
          <a:p>
            <a:pPr marL="171450" indent="-171450">
              <a:buFontTx/>
              <a:buChar char="-"/>
            </a:pPr>
            <a:endParaRPr kumimoji="0" lang="en-US" sz="1100" dirty="0" smtClean="0">
              <a:ln>
                <a:solidFill>
                  <a:schemeClr val="accent1">
                    <a:alpha val="0"/>
                  </a:schemeClr>
                </a:solidFill>
              </a:ln>
              <a:ea typeface="Modern H Bold" panose="020B0603000000020004" pitchFamily="34" charset="-128"/>
              <a:cs typeface="Calibri" panose="020F0502020204030204" pitchFamily="34" charset="0"/>
            </a:endParaRPr>
          </a:p>
        </p:txBody>
      </p:sp>
      <p:sp>
        <p:nvSpPr>
          <p:cNvPr id="30" name="Rectangle 86">
            <a:extLst>
              <a:ext uri="{FF2B5EF4-FFF2-40B4-BE49-F238E27FC236}">
                <a16:creationId xmlns:a16="http://schemas.microsoft.com/office/drawing/2014/main" xmlns="" id="{4F7C894D-06B0-4159-A036-761AF2A47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490" y="1083964"/>
            <a:ext cx="576871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 marL="171450" indent="-171450">
              <a:buNone/>
            </a:pPr>
            <a:r>
              <a:rPr lang="en-IN" sz="1100" b="1" dirty="0" smtClean="0">
                <a:solidFill>
                  <a:srgbClr val="0000FF"/>
                </a:solidFill>
                <a:latin typeface="+mj-lt"/>
                <a:ea typeface="Modern H Medium" panose="020B0603000000020004" pitchFamily="34" charset="-128"/>
              </a:rPr>
              <a:t>-</a:t>
            </a:r>
            <a:endParaRPr lang="en-US" sz="1100" b="1" dirty="0" smtClean="0">
              <a:solidFill>
                <a:srgbClr val="0000FF"/>
              </a:solidFill>
              <a:latin typeface="+mj-lt"/>
              <a:ea typeface="Modern H Medium" panose="020B0603000000020004" pitchFamily="34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67617" y="4178395"/>
            <a:ext cx="5742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/>
            <a:r>
              <a:rPr kumimoji="0" lang="en-IN" altLang="ko-KR" sz="1200" dirty="0" smtClean="0">
                <a:latin typeface="+mj-lt"/>
                <a:ea typeface="Modern H Bold" panose="020B06030000000200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ea typeface="Modern H Bold" panose="020B0603000000020004" pitchFamily="34" charset="-128"/>
                <a:cs typeface="Calibri" panose="020F0502020204030204" pitchFamily="34" charset="0"/>
              </a:rPr>
              <a:t>-</a:t>
            </a:r>
            <a:endParaRPr kumimoji="0" lang="en-IN" altLang="ko-KR" sz="1200" dirty="0" smtClean="0">
              <a:solidFill>
                <a:srgbClr val="0000FF"/>
              </a:solidFill>
              <a:latin typeface="+mj-lt"/>
              <a:ea typeface="Modern H Bold" panose="020B0603000000020004" pitchFamily="34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127000" y="922865"/>
          <a:ext cx="1616075" cy="1258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75"/>
              </a:tblGrid>
              <a:tr h="12583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CA4494E9-81C7-4317-B950-DF27BC63E40F}"/>
              </a:ext>
            </a:extLst>
          </p:cNvPr>
          <p:cNvSpPr txBox="1"/>
          <p:nvPr/>
        </p:nvSpPr>
        <p:spPr>
          <a:xfrm>
            <a:off x="254901" y="2487622"/>
            <a:ext cx="3850170" cy="1514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50"/>
              </a:spcBef>
            </a:pPr>
            <a:r>
              <a:rPr lang="en-IN" altLang="ko-KR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-Carbon </a:t>
            </a:r>
            <a:r>
              <a:rPr lang="en-IN" altLang="ko-KR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head broken</a:t>
            </a:r>
            <a:endParaRPr lang="en-US" altLang="ko-KR" sz="1200" u="sng" dirty="0">
              <a:solidFill>
                <a:prstClr val="black"/>
              </a:solidFill>
              <a:ea typeface="현대하모니 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CA4494E9-81C7-4317-B950-DF27BC63E40F}"/>
              </a:ext>
            </a:extLst>
          </p:cNvPr>
          <p:cNvSpPr txBox="1"/>
          <p:nvPr/>
        </p:nvSpPr>
        <p:spPr>
          <a:xfrm>
            <a:off x="124039" y="4526404"/>
            <a:ext cx="3792403" cy="751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50"/>
              </a:spcBef>
            </a:pPr>
            <a:r>
              <a:rPr lang="en-US" altLang="ko-KR" sz="1200" dirty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When the brush is ejected in the pilling machine after the brush </a:t>
            </a:r>
            <a:r>
              <a:rPr lang="en-US" altLang="ko-KR" sz="120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is </a:t>
            </a:r>
            <a:r>
              <a:rPr lang="en-US" altLang="ko-KR" sz="120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compacted, </a:t>
            </a:r>
            <a:r>
              <a:rPr lang="en-US" altLang="ko-KR" sz="1200" dirty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it hits the iron OK basket with some </a:t>
            </a:r>
            <a:r>
              <a:rPr lang="en-US" altLang="ko-KR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force. Because </a:t>
            </a:r>
            <a:r>
              <a:rPr lang="en-US" altLang="ko-KR" sz="1200" dirty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of this, the nipple-shaped narrow angle head on Part#8346 breaks into the iron basket</a:t>
            </a:r>
          </a:p>
          <a:p>
            <a:pPr>
              <a:lnSpc>
                <a:spcPct val="80000"/>
              </a:lnSpc>
              <a:spcBef>
                <a:spcPts val="50"/>
              </a:spcBef>
            </a:pPr>
            <a:r>
              <a:rPr lang="en-US" altLang="ko-KR" sz="1200" dirty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&amp;Operators handling of collection baskets is not improved</a:t>
            </a:r>
            <a:endParaRPr lang="en-US" altLang="ko-KR" sz="1200" u="sng" dirty="0">
              <a:solidFill>
                <a:prstClr val="black"/>
              </a:solidFill>
              <a:ea typeface="현대하모니 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A4494E9-81C7-4317-B950-DF27BC63E40F}"/>
              </a:ext>
            </a:extLst>
          </p:cNvPr>
          <p:cNvSpPr txBox="1"/>
          <p:nvPr/>
        </p:nvSpPr>
        <p:spPr>
          <a:xfrm>
            <a:off x="150126" y="5354646"/>
            <a:ext cx="3402699" cy="1477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50"/>
              </a:spcBef>
            </a:pPr>
            <a:r>
              <a:rPr lang="en-IN" altLang="ko-KR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-</a:t>
            </a:r>
            <a:endParaRPr lang="en-US" altLang="ko-KR" sz="1200" u="sng" dirty="0">
              <a:solidFill>
                <a:prstClr val="black"/>
              </a:solidFill>
              <a:ea typeface="현대하모니 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CA4494E9-81C7-4317-B950-DF27BC63E40F}"/>
              </a:ext>
            </a:extLst>
          </p:cNvPr>
          <p:cNvSpPr txBox="1"/>
          <p:nvPr/>
        </p:nvSpPr>
        <p:spPr>
          <a:xfrm>
            <a:off x="184316" y="5788623"/>
            <a:ext cx="3488424" cy="299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50"/>
              </a:spcBef>
            </a:pPr>
            <a:r>
              <a:rPr lang="en-IN" altLang="ko-KR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-</a:t>
            </a:r>
            <a:r>
              <a:rPr lang="en-US" altLang="ko-KR" sz="1200" dirty="0" smtClean="0">
                <a:solidFill>
                  <a:prstClr val="black"/>
                </a:solidFill>
                <a:ea typeface="현대하모니 M" panose="02020603020101020101" pitchFamily="18" charset="-127"/>
                <a:cs typeface="Arial" panose="020B0604020202020204" pitchFamily="34" charset="0"/>
              </a:rPr>
              <a:t>100% visual inspection sop not Clearly  mention this defect its happened to escape</a:t>
            </a:r>
            <a:endParaRPr lang="en-US" altLang="ko-KR" sz="1200" u="sng" dirty="0">
              <a:solidFill>
                <a:prstClr val="black"/>
              </a:solidFill>
              <a:ea typeface="현대하모니 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F530C576-785B-49E2-8082-833CDBC01481}"/>
              </a:ext>
            </a:extLst>
          </p:cNvPr>
          <p:cNvSpPr txBox="1"/>
          <p:nvPr/>
        </p:nvSpPr>
        <p:spPr>
          <a:xfrm>
            <a:off x="7025139" y="5235983"/>
            <a:ext cx="2871295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soft mat provided  brush collection basket whenever brush fall down the basket no head broken </a:t>
            </a:r>
            <a:endParaRPr lang="en-US" altLang="ko-KR" sz="1200" dirty="0" smtClean="0">
              <a:solidFill>
                <a:srgbClr val="00206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530C576-785B-49E2-8082-833CDBC01481}"/>
              </a:ext>
            </a:extLst>
          </p:cNvPr>
          <p:cNvSpPr txBox="1"/>
          <p:nvPr/>
        </p:nvSpPr>
        <p:spPr>
          <a:xfrm>
            <a:off x="4078566" y="4982055"/>
            <a:ext cx="2570051" cy="13653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endParaRPr lang="en-US" altLang="ko-KR" sz="1200" dirty="0">
              <a:solidFill>
                <a:srgbClr val="0000FF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When the brush is ejected in the pilling machine after the brush is </a:t>
            </a:r>
            <a:r>
              <a:rPr lang="en-US" altLang="ko-KR" sz="1200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compacted, </a:t>
            </a:r>
            <a:r>
              <a:rPr lang="en-US" altLang="ko-KR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it hits the iron OK basket with some force.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Because of this, the nipple-shaped narrow angle head on Part#8346 breaks into the iron basket</a:t>
            </a:r>
            <a:endParaRPr lang="en-US" altLang="ko-KR" sz="1200" dirty="0">
              <a:solidFill>
                <a:srgbClr val="0000FF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285194" y="3446878"/>
            <a:ext cx="975361" cy="59722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7925435" y="3284160"/>
            <a:ext cx="975361" cy="59722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452" y="1002102"/>
            <a:ext cx="1257300" cy="96202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11060" y="976739"/>
            <a:ext cx="5673950" cy="3821201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42207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530C576-785B-49E2-8082-833CDBC01481}"/>
              </a:ext>
            </a:extLst>
          </p:cNvPr>
          <p:cNvSpPr txBox="1"/>
          <p:nvPr/>
        </p:nvSpPr>
        <p:spPr>
          <a:xfrm>
            <a:off x="252159" y="398549"/>
            <a:ext cx="5510137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u="sng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2)</a:t>
            </a:r>
            <a:r>
              <a:rPr lang="ko-KR" altLang="en-US" sz="1200" u="sng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u="sng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DETECTION</a:t>
            </a:r>
            <a:endParaRPr lang="en-US" altLang="ko-KR" sz="1200" dirty="0" smtClean="0">
              <a:solidFill>
                <a:srgbClr val="00206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xmlns="" id="{85CCFBFB-6026-43F1-8683-E702CE656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693039"/>
              </p:ext>
            </p:extLst>
          </p:nvPr>
        </p:nvGraphicFramePr>
        <p:xfrm>
          <a:off x="515155" y="1120462"/>
          <a:ext cx="7765960" cy="4391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1671">
                  <a:extLst>
                    <a:ext uri="{9D8B030D-6E8A-4147-A177-3AD203B41FA5}">
                      <a16:colId xmlns:a16="http://schemas.microsoft.com/office/drawing/2014/main" xmlns="" val="632860641"/>
                    </a:ext>
                  </a:extLst>
                </a:gridCol>
                <a:gridCol w="4244289">
                  <a:extLst>
                    <a:ext uri="{9D8B030D-6E8A-4147-A177-3AD203B41FA5}">
                      <a16:colId xmlns:a16="http://schemas.microsoft.com/office/drawing/2014/main" xmlns="" val="37673258"/>
                    </a:ext>
                  </a:extLst>
                </a:gridCol>
              </a:tblGrid>
              <a:tr h="659727">
                <a:tc>
                  <a:txBody>
                    <a:bodyPr/>
                    <a:lstStyle/>
                    <a:p>
                      <a:pPr algn="ctr" latinLnBrk="1"/>
                      <a:r>
                        <a:rPr lang="en-IN" altLang="ko-KR" sz="1200" dirty="0">
                          <a:solidFill>
                            <a:srgbClr val="C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Before</a:t>
                      </a:r>
                      <a:endParaRPr lang="ko-KR" altLang="en-US" sz="12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IN" altLang="ko-KR" sz="1200" dirty="0">
                          <a:solidFill>
                            <a:srgbClr val="0000FF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After</a:t>
                      </a:r>
                      <a:endParaRPr lang="ko-KR" altLang="en-US" sz="1200" dirty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16197595"/>
                  </a:ext>
                </a:extLst>
              </a:tr>
              <a:tr h="373196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94398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530C576-785B-49E2-8082-833CDBC01481}"/>
              </a:ext>
            </a:extLst>
          </p:cNvPr>
          <p:cNvSpPr txBox="1"/>
          <p:nvPr/>
        </p:nvSpPr>
        <p:spPr>
          <a:xfrm>
            <a:off x="515155" y="5626895"/>
            <a:ext cx="355457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Visual inspection sop not clearly mention the defect</a:t>
            </a:r>
            <a:endParaRPr lang="en-US" altLang="ko-KR" sz="1200" dirty="0" smtClean="0">
              <a:solidFill>
                <a:srgbClr val="00206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530C576-785B-49E2-8082-833CDBC01481}"/>
              </a:ext>
            </a:extLst>
          </p:cNvPr>
          <p:cNvSpPr txBox="1"/>
          <p:nvPr/>
        </p:nvSpPr>
        <p:spPr>
          <a:xfrm>
            <a:off x="4298651" y="5599656"/>
            <a:ext cx="355457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dirty="0" smtClean="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Visual inspection sop clearly updated </a:t>
            </a:r>
            <a:endParaRPr lang="en-US" altLang="ko-KR" sz="1200" dirty="0" smtClean="0">
              <a:solidFill>
                <a:srgbClr val="00206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651" y="2043319"/>
            <a:ext cx="3359710" cy="2262464"/>
          </a:xfrm>
          <a:prstGeom prst="rect">
            <a:avLst/>
          </a:prstGeom>
        </p:spPr>
      </p:pic>
      <p:sp>
        <p:nvSpPr>
          <p:cNvPr id="6" name="&quot;No&quot; Symbol 5"/>
          <p:cNvSpPr/>
          <p:nvPr/>
        </p:nvSpPr>
        <p:spPr>
          <a:xfrm>
            <a:off x="1574157" y="3055716"/>
            <a:ext cx="1354238" cy="1088021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5613721" y="4143737"/>
            <a:ext cx="2044639" cy="1018572"/>
          </a:xfrm>
          <a:prstGeom prst="wedgeEllipseCallout">
            <a:avLst>
              <a:gd name="adj1" fmla="val -19178"/>
              <a:gd name="adj2" fmla="val -13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 broken added in sop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9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228</Words>
  <Application>Microsoft Office PowerPoint</Application>
  <PresentationFormat>A4 Paper (210x297 mm)</PresentationFormat>
  <Paragraphs>68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5" baseType="lpstr">
      <vt:lpstr>굴림</vt:lpstr>
      <vt:lpstr>맑은 고딕</vt:lpstr>
      <vt:lpstr>Arial</vt:lpstr>
      <vt:lpstr>Arial Narrow</vt:lpstr>
      <vt:lpstr>Calibri</vt:lpstr>
      <vt:lpstr>Calibri Light</vt:lpstr>
      <vt:lpstr>Modern H Bold</vt:lpstr>
      <vt:lpstr>Modern H Medium</vt:lpstr>
      <vt:lpstr>Times New Roman</vt:lpstr>
      <vt:lpstr>현대하모니 L</vt:lpstr>
      <vt:lpstr>현대하모니 M</vt:lpstr>
      <vt:lpstr>Office Theme</vt:lpstr>
      <vt:lpstr>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quality1 quality</dc:creator>
  <cp:lastModifiedBy>QAD TEST</cp:lastModifiedBy>
  <cp:revision>182</cp:revision>
  <cp:lastPrinted>2021-12-24T10:51:54Z</cp:lastPrinted>
  <dcterms:created xsi:type="dcterms:W3CDTF">2021-06-26T01:04:30Z</dcterms:created>
  <dcterms:modified xsi:type="dcterms:W3CDTF">2024-02-08T05:27:53Z</dcterms:modified>
</cp:coreProperties>
</file>