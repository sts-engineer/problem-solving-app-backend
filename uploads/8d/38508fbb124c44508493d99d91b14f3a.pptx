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  <p:sldMasterId id="2147483672" r:id="rId2"/>
    <p:sldMasterId id="2147483675" r:id="rId3"/>
    <p:sldMasterId id="2147483677" r:id="rId4"/>
    <p:sldMasterId id="2147485612" r:id="rId5"/>
  </p:sldMasterIdLst>
  <p:notesMasterIdLst>
    <p:notesMasterId r:id="rId7"/>
  </p:notesMasterIdLst>
  <p:sldIdLst>
    <p:sldId id="257" r:id="rId6"/>
  </p:sldIdLst>
  <p:sldSz cx="9906000" cy="6858000" type="A4"/>
  <p:notesSz cx="7010400" cy="92964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CC"/>
    <a:srgbClr val="808080"/>
    <a:srgbClr val="CCFFFF"/>
    <a:srgbClr val="C0C0C0"/>
    <a:srgbClr val="DDDDDD"/>
    <a:srgbClr val="FFFF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3969" autoAdjust="0"/>
  </p:normalViewPr>
  <p:slideViewPr>
    <p:cSldViewPr>
      <p:cViewPr varScale="1">
        <p:scale>
          <a:sx n="69" d="100"/>
          <a:sy n="69" d="100"/>
        </p:scale>
        <p:origin x="1674" y="6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159" y="1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698500"/>
            <a:ext cx="5032375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713" y="4416538"/>
            <a:ext cx="5608975" cy="41833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086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159" y="8830086"/>
            <a:ext cx="3038604" cy="4648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A0D3A28-10AC-47DF-A0D1-2D70FB59E2A8}" type="slidenum">
              <a:rPr lang="en-US" altLang="ko-KR"/>
              <a:pPr>
                <a:defRPr/>
              </a:pPr>
              <a:t>‹Nº›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8069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B8620F75-B733-4EB0-A1C7-B65107097D87}" type="slidenum">
              <a:rPr lang="ko-KR" altLang="en-US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7425" y="696913"/>
            <a:ext cx="5035550" cy="3486150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1566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65933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195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66846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6788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6819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46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6348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1260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28675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61782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58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29227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59824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48992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64843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101930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5596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701435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2551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603224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26288" y="131763"/>
            <a:ext cx="2284412" cy="5994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131763"/>
            <a:ext cx="6700838" cy="5994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67847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68611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6446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36281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151231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060588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5870634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2740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19160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57451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60754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864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111619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52427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765404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822669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275465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009257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416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835657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06487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8233718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88171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7081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 bwMode="auto">
          <a:xfrm>
            <a:off x="0" y="0"/>
            <a:ext cx="9906000" cy="53721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anchor="ctr"/>
          <a:lstStyle/>
          <a:p>
            <a:pPr algn="ctr">
              <a:defRPr/>
            </a:pPr>
            <a:endParaRPr kumimoji="0" lang="ko-KR" altLang="en-US" sz="1300" dirty="0">
              <a:solidFill>
                <a:prstClr val="black"/>
              </a:solidFill>
              <a:latin typeface="맑은 고딕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00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6097" r:id="rId1"/>
    <p:sldLayoutId id="2147486098" r:id="rId2"/>
    <p:sldLayoutId id="2147486099" r:id="rId3"/>
    <p:sldLayoutId id="2147486100" r:id="rId4"/>
    <p:sldLayoutId id="2147486101" r:id="rId5"/>
    <p:sldLayoutId id="2147486102" r:id="rId6"/>
    <p:sldLayoutId id="2147486103" r:id="rId7"/>
    <p:sldLayoutId id="2147486104" r:id="rId8"/>
    <p:sldLayoutId id="2147486105" r:id="rId9"/>
    <p:sldLayoutId id="2147486106" r:id="rId10"/>
    <p:sldLayoutId id="2147486107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131763"/>
            <a:ext cx="8915400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auto">
          <a:xfrm>
            <a:off x="0" y="641350"/>
            <a:ext cx="9906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1028" name="Picture 4" descr="DDTZ라인굵게흰색바탕0530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0" y="12700"/>
            <a:ext cx="7207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141" r:id="rId1"/>
    <p:sldLayoutId id="2147486108" r:id="rId2"/>
    <p:sldLayoutId id="2147486109" r:id="rId3"/>
    <p:sldLayoutId id="2147486110" r:id="rId4"/>
    <p:sldLayoutId id="2147486111" r:id="rId5"/>
    <p:sldLayoutId id="2147486112" r:id="rId6"/>
    <p:sldLayoutId id="2147486113" r:id="rId7"/>
    <p:sldLayoutId id="2147486114" r:id="rId8"/>
    <p:sldLayoutId id="2147486115" r:id="rId9"/>
    <p:sldLayoutId id="2147486116" r:id="rId10"/>
    <p:sldLayoutId id="2147486117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0" y="641350"/>
            <a:ext cx="990600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18" r:id="rId1"/>
    <p:sldLayoutId id="2147486119" r:id="rId2"/>
    <p:sldLayoutId id="2147486120" r:id="rId3"/>
    <p:sldLayoutId id="2147486121" r:id="rId4"/>
    <p:sldLayoutId id="2147486122" r:id="rId5"/>
    <p:sldLayoutId id="2147486123" r:id="rId6"/>
    <p:sldLayoutId id="2147486124" r:id="rId7"/>
    <p:sldLayoutId id="2147486125" r:id="rId8"/>
    <p:sldLayoutId id="2147486126" r:id="rId9"/>
    <p:sldLayoutId id="2147486127" r:id="rId10"/>
    <p:sldLayoutId id="2147486128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0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2"/>
          <p:cNvSpPr>
            <a:spLocks noChangeShapeType="1"/>
          </p:cNvSpPr>
          <p:nvPr/>
        </p:nvSpPr>
        <p:spPr bwMode="auto">
          <a:xfrm>
            <a:off x="0" y="641350"/>
            <a:ext cx="9907588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29" r:id="rId1"/>
    <p:sldLayoutId id="2147486130" r:id="rId2"/>
    <p:sldLayoutId id="2147486131" r:id="rId3"/>
    <p:sldLayoutId id="2147486132" r:id="rId4"/>
    <p:sldLayoutId id="2147486133" r:id="rId5"/>
    <p:sldLayoutId id="2147486134" r:id="rId6"/>
    <p:sldLayoutId id="2147486135" r:id="rId7"/>
    <p:sldLayoutId id="2147486136" r:id="rId8"/>
    <p:sldLayoutId id="2147486137" r:id="rId9"/>
    <p:sldLayoutId id="2147486138" r:id="rId10"/>
    <p:sldLayoutId id="214748613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12700"/>
            <a:ext cx="992505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그림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88" y="6413500"/>
            <a:ext cx="36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7"/>
          <p:cNvSpPr txBox="1">
            <a:spLocks noChangeArrowheads="1"/>
          </p:cNvSpPr>
          <p:nvPr/>
        </p:nvSpPr>
        <p:spPr bwMode="auto">
          <a:xfrm>
            <a:off x="8193088" y="6413500"/>
            <a:ext cx="1490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r>
              <a:rPr lang="en-US" altLang="ko-KR" sz="2000" b="1">
                <a:solidFill>
                  <a:srgbClr val="10253F"/>
                </a:solidFill>
                <a:latin typeface="HY견고딕" pitchFamily="18" charset="-127"/>
                <a:ea typeface="HY견고딕" pitchFamily="18" charset="-127"/>
              </a:rPr>
              <a:t>DY</a:t>
            </a:r>
            <a:r>
              <a:rPr lang="en-US" altLang="ko-KR" sz="2000" b="1">
                <a:solidFill>
                  <a:srgbClr val="558ED5"/>
                </a:solidFill>
                <a:latin typeface="HY견고딕" pitchFamily="18" charset="-127"/>
                <a:ea typeface="HY견고딕" pitchFamily="18" charset="-127"/>
              </a:rPr>
              <a:t>AUTO</a:t>
            </a:r>
            <a:endParaRPr lang="ko-KR" altLang="en-US" sz="2000" b="1">
              <a:solidFill>
                <a:srgbClr val="558ED5"/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140" r:id="rId1"/>
    <p:sldLayoutId id="2147486142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PowerPoint_Presentation.ppt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5.jpg"/><Relationship Id="rId4" Type="http://schemas.openxmlformats.org/officeDocument/2006/relationships/image" Target="../media/image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531293"/>
              </p:ext>
            </p:extLst>
          </p:nvPr>
        </p:nvGraphicFramePr>
        <p:xfrm>
          <a:off x="267176" y="188640"/>
          <a:ext cx="9463086" cy="10948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65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16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5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968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Poor welding </a:t>
                      </a:r>
                    </a:p>
                  </a:txBody>
                  <a:tcPr marL="99030" marR="99030" marT="71994" marB="71994" anchor="ctr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43" marR="99043" marT="45712" marB="45712" horzOverflow="overflow"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400" dirty="0" err="1"/>
                        <a:t>Importance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400" dirty="0"/>
                        <a:t>Grade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99030" marR="99030" marT="71994" marB="71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9030" marR="99030" marT="71994" marB="719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972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(Problem Definition)</a:t>
                      </a:r>
                    </a:p>
                  </a:txBody>
                  <a:tcPr marL="99030" marR="99030" marT="53996" marB="5399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1-2 </a:t>
                      </a:r>
                      <a:r>
                        <a:rPr lang="es-MX" sz="1200" dirty="0" err="1"/>
                        <a:t>Issue</a:t>
                      </a:r>
                      <a:r>
                        <a:rPr lang="es-MX" sz="1200" dirty="0"/>
                        <a:t> (</a:t>
                      </a:r>
                      <a:r>
                        <a:rPr lang="es-MX" sz="1200" dirty="0" err="1"/>
                        <a:t>photo</a:t>
                      </a:r>
                      <a:r>
                        <a:rPr lang="es-MX" sz="1200" dirty="0"/>
                        <a:t>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30" marR="99030" marT="53996" marB="5399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4. (C. Action)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88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00" b="1" dirty="0">
                          <a:latin typeface="+mj-lt"/>
                        </a:rPr>
                        <a:t>Date</a:t>
                      </a:r>
                      <a:r>
                        <a:rPr lang="es-MX" sz="1000" b="1" baseline="0" dirty="0">
                          <a:latin typeface="+mj-lt"/>
                        </a:rPr>
                        <a:t> of </a:t>
                      </a:r>
                      <a:r>
                        <a:rPr lang="es-MX" sz="1000" b="1" baseline="0" dirty="0" err="1">
                          <a:latin typeface="+mj-lt"/>
                        </a:rPr>
                        <a:t>Issue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s-E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22/ Feb/24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43200" marB="43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anchor="ctr" horzOverflow="overflow"/>
                </a:tc>
                <a:tc rowSpan="7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7"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◆ </a:t>
                      </a:r>
                      <a:r>
                        <a:rPr lang="es-MX" sz="1200" b="1" dirty="0" err="1"/>
                        <a:t>Improvement</a:t>
                      </a:r>
                      <a:r>
                        <a:rPr lang="es-MX" sz="1200" b="1" dirty="0"/>
                        <a:t> </a:t>
                      </a:r>
                      <a:r>
                        <a:rPr lang="es-MX" sz="1200" b="1" dirty="0" err="1"/>
                        <a:t>measures</a:t>
                      </a:r>
                      <a:endParaRPr lang="es-MX" sz="12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s-MX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Colocate</a:t>
                      </a:r>
                      <a:r>
                        <a:rPr lang="es-MX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continuity</a:t>
                      </a:r>
                      <a:r>
                        <a:rPr lang="es-MX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test </a:t>
                      </a:r>
                      <a:r>
                        <a:rPr lang="es-MX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es-MX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multimeter</a:t>
                      </a:r>
                      <a:r>
                        <a:rPr lang="es-MX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after final </a:t>
                      </a:r>
                      <a:r>
                        <a:rPr lang="es-MX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inspection</a:t>
                      </a:r>
                      <a:r>
                        <a:rPr lang="es-MX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temporary</a:t>
                      </a:r>
                      <a:r>
                        <a:rPr lang="es-MX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until</a:t>
                      </a:r>
                      <a:r>
                        <a:rPr lang="es-MX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actions</a:t>
                      </a:r>
                      <a:r>
                        <a:rPr lang="es-MX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are </a:t>
                      </a:r>
                      <a:r>
                        <a:rPr lang="es-MX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validated</a:t>
                      </a:r>
                      <a:r>
                        <a:rPr lang="es-MX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GP-12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temporary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until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actions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has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been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implemented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frecuancy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pull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peel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test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every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30 minutes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temporary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actions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has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been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implemented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Modify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fixture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fit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until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bottom (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060b and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others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welding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machines)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To place a sensor (switch)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assure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correct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position in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fixture. (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060b and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others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welding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machines).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Place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acrylic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parameters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área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 posible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modification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personnel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authorized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Double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lock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 control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electrodes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cleanless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plastic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Burr in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top and bottom 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electrode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(</a:t>
                      </a:r>
                      <a:r>
                        <a:rPr kumimoji="0" lang="es-MX" altLang="ko-KR" sz="12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</a:t>
                      </a: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060b).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ANALYSIS STILL IN PROGRESS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b="1" dirty="0"/>
                    </a:p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b="1" dirty="0"/>
                    </a:p>
                  </a:txBody>
                  <a:tcPr marL="71991" marR="71991" marT="35997" marB="35997" anchor="ctr" horzOverflow="overflow"/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9043" marR="99043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4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Location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DY MÉXICO</a:t>
                      </a:r>
                      <a:endParaRPr kumimoji="1" lang="ko-KR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36000" marT="43200" marB="43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2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br>
                        <a:rPr lang="es-MX" sz="1000" b="1" dirty="0">
                          <a:latin typeface="+mj-lt"/>
                        </a:rPr>
                      </a:br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Product</a:t>
                      </a:r>
                      <a:r>
                        <a:rPr lang="es-MX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name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BRUSH HOLDER ASSY BL7M 60P058800 </a:t>
                      </a:r>
                    </a:p>
                  </a:txBody>
                  <a:tcPr marL="36000" marR="36000" marT="43200" marB="43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Lot No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MX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17/2/2024</a:t>
                      </a:r>
                    </a:p>
                  </a:txBody>
                  <a:tcPr marL="36000" marR="36000" marT="43200" marB="432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8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s-MX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Issue</a:t>
                      </a:r>
                      <a:r>
                        <a:rPr kumimoji="1" lang="es-MX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 </a:t>
                      </a:r>
                      <a:r>
                        <a:rPr kumimoji="1" lang="es-MX" altLang="ko-KR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Description</a:t>
                      </a:r>
                      <a:endParaRPr kumimoji="1" lang="es-MX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Poor welding between Inductor and terminal 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3200" marB="432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259"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Occurrence</a:t>
                      </a:r>
                      <a:r>
                        <a:rPr lang="es-MX" sz="1000" b="1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ctr"/>
                      <a:r>
                        <a:rPr lang="es-MX" sz="1000" b="1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quantity</a:t>
                      </a:r>
                      <a:endParaRPr lang="es-MX" sz="1000" b="1" i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s-E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es-MX" dirty="0"/>
                    </a:p>
                  </a:txBody>
                  <a:tcPr marL="99030" marR="99030" marT="43197" marB="431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14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Recurrence</a:t>
                      </a:r>
                      <a:r>
                        <a:rPr lang="es-MX" sz="1000" b="1" dirty="0">
                          <a:latin typeface="+mj-lt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1000" b="1" dirty="0" err="1">
                          <a:latin typeface="+mj-lt"/>
                        </a:rPr>
                        <a:t>history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9030" marR="99030" marT="43197" marB="43197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s-E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95" marR="35995" marT="43197" marB="431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9043" marR="99043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414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es-MX" sz="1200" dirty="0" err="1"/>
                        <a:t>Containment</a:t>
                      </a:r>
                      <a:r>
                        <a:rPr lang="es-MX" sz="1200" dirty="0"/>
                        <a:t> </a:t>
                      </a:r>
                      <a:r>
                        <a:rPr lang="es-MX" sz="1200" dirty="0" err="1"/>
                        <a:t>measures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 marL="99030" marR="99030" marT="53996" marB="539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3. R.C. Analysis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anchor="ctr" horzOverflow="overflow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mpd="sng"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5. </a:t>
                      </a:r>
                      <a:r>
                        <a:rPr lang="en-US" sz="1200" dirty="0"/>
                        <a:t>Validation of measures [Validation of measures to be taken]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99030" marR="99030" marT="53996" marB="53996" anchor="ctr"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9043" marR="99043" marT="5400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3849">
                <a:tc rowSpan="5" grid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2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Start containment   22/2/24 </a:t>
                      </a:r>
                      <a:r>
                        <a:rPr kumimoji="1" lang="en-US" altLang="ko-KR" sz="12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i</a:t>
                      </a:r>
                      <a:r>
                        <a:rPr lang="es-MX" sz="1200" b="1" dirty="0" err="1"/>
                        <a:t>nspected</a:t>
                      </a:r>
                      <a:r>
                        <a:rPr lang="es-MX" sz="1200" b="1" dirty="0"/>
                        <a:t> 100% </a:t>
                      </a:r>
                      <a:r>
                        <a:rPr lang="es-MX" sz="1200" b="1" dirty="0" err="1"/>
                        <a:t>with</a:t>
                      </a:r>
                      <a:r>
                        <a:rPr lang="es-MX" sz="1200" b="1" dirty="0"/>
                        <a:t> </a:t>
                      </a:r>
                      <a:r>
                        <a:rPr lang="es-MX" sz="1200" b="1" dirty="0" err="1"/>
                        <a:t>multimeter</a:t>
                      </a:r>
                      <a:endParaRPr lang="es-MX" sz="120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s-MX" sz="105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50" b="1" dirty="0"/>
                        <a:t>DY WH</a:t>
                      </a:r>
                      <a:r>
                        <a:rPr lang="es-MX" sz="1050" b="1" baseline="0" dirty="0"/>
                        <a:t>:  2080                                                                                  </a:t>
                      </a:r>
                      <a:r>
                        <a:rPr lang="es-MX" sz="1050" b="1" baseline="0" dirty="0" err="1"/>
                        <a:t>pcs</a:t>
                      </a:r>
                      <a:r>
                        <a:rPr lang="es-MX" sz="1050" b="1" baseline="0" dirty="0"/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50" b="1" baseline="0" dirty="0"/>
                        <a:t>    416   </a:t>
                      </a:r>
                      <a:r>
                        <a:rPr lang="es-MX" sz="1050" b="1" baseline="0" dirty="0" err="1"/>
                        <a:t>pcs</a:t>
                      </a:r>
                      <a:r>
                        <a:rPr lang="es-MX" sz="1050" b="1" baseline="0" dirty="0"/>
                        <a:t> </a:t>
                      </a:r>
                      <a:r>
                        <a:rPr lang="es-MX" sz="1050" b="1" baseline="0" dirty="0" err="1"/>
                        <a:t>from</a:t>
                      </a:r>
                      <a:r>
                        <a:rPr lang="es-MX" sz="1050" b="1" baseline="0" dirty="0"/>
                        <a:t> AVO </a:t>
                      </a:r>
                      <a:r>
                        <a:rPr lang="es-MX" sz="1050" b="1" baseline="0" dirty="0" err="1"/>
                        <a:t>lot</a:t>
                      </a:r>
                      <a:r>
                        <a:rPr lang="es-MX" sz="1050" b="1" baseline="0" dirty="0"/>
                        <a:t> </a:t>
                      </a:r>
                      <a:r>
                        <a:rPr lang="es-MX" sz="1050" b="1" baseline="0" dirty="0" err="1"/>
                        <a:t>prod</a:t>
                      </a:r>
                      <a:r>
                        <a:rPr lang="es-MX" sz="1050" b="1" baseline="0" dirty="0"/>
                        <a:t> date 08 feb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s-MX" sz="1050" b="1" baseline="0" dirty="0"/>
                        <a:t>    416 </a:t>
                      </a:r>
                      <a:r>
                        <a:rPr lang="es-MX" sz="1050" b="1" baseline="0" dirty="0" err="1"/>
                        <a:t>pcs</a:t>
                      </a:r>
                      <a:r>
                        <a:rPr lang="es-MX" sz="1050" b="1" baseline="0" dirty="0"/>
                        <a:t>  </a:t>
                      </a:r>
                      <a:r>
                        <a:rPr lang="es-MX" sz="1050" b="1" baseline="0" dirty="0" err="1"/>
                        <a:t>from</a:t>
                      </a:r>
                      <a:r>
                        <a:rPr lang="es-MX" sz="1050" b="1" baseline="0" dirty="0"/>
                        <a:t> AVO </a:t>
                      </a:r>
                      <a:r>
                        <a:rPr lang="es-MX" sz="1050" b="1" baseline="0" dirty="0" err="1"/>
                        <a:t>lot</a:t>
                      </a:r>
                      <a:r>
                        <a:rPr lang="es-MX" sz="1050" b="1" baseline="0" dirty="0"/>
                        <a:t> </a:t>
                      </a:r>
                      <a:r>
                        <a:rPr lang="es-MX" sz="1050" b="1" baseline="0" dirty="0" err="1"/>
                        <a:t>prod</a:t>
                      </a:r>
                      <a:r>
                        <a:rPr lang="es-MX" sz="1050" b="1" baseline="0" dirty="0"/>
                        <a:t> date 09 feb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s-MX" sz="1050" b="1" baseline="0" dirty="0"/>
                        <a:t>    624  </a:t>
                      </a:r>
                      <a:r>
                        <a:rPr lang="es-MX" sz="1050" b="1" baseline="0" dirty="0" err="1"/>
                        <a:t>pcs</a:t>
                      </a:r>
                      <a:r>
                        <a:rPr lang="es-MX" sz="1050" b="1" baseline="0" dirty="0"/>
                        <a:t>  </a:t>
                      </a:r>
                      <a:r>
                        <a:rPr lang="es-MX" sz="1050" b="1" baseline="0" dirty="0" err="1"/>
                        <a:t>from</a:t>
                      </a:r>
                      <a:r>
                        <a:rPr lang="es-MX" sz="1050" b="1" baseline="0" dirty="0"/>
                        <a:t> AVO </a:t>
                      </a:r>
                      <a:r>
                        <a:rPr lang="es-MX" sz="1050" b="1" baseline="0" dirty="0" err="1"/>
                        <a:t>lot</a:t>
                      </a:r>
                      <a:r>
                        <a:rPr lang="es-MX" sz="1050" b="1" baseline="0" dirty="0"/>
                        <a:t> </a:t>
                      </a:r>
                      <a:r>
                        <a:rPr lang="es-MX" sz="1050" b="1" baseline="0" dirty="0" err="1"/>
                        <a:t>prod</a:t>
                      </a:r>
                      <a:r>
                        <a:rPr lang="es-MX" sz="1050" b="1" baseline="0" dirty="0"/>
                        <a:t> date 09 feb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50" b="1" dirty="0"/>
                        <a:t>Zero </a:t>
                      </a:r>
                      <a:r>
                        <a:rPr lang="es-MX" sz="1050" b="1" dirty="0" err="1"/>
                        <a:t>defects</a:t>
                      </a:r>
                      <a:r>
                        <a:rPr lang="es-MX" sz="1050" b="1" dirty="0"/>
                        <a:t> </a:t>
                      </a:r>
                      <a:r>
                        <a:rPr lang="es-MX" sz="1050" b="1" dirty="0" err="1"/>
                        <a:t>found</a:t>
                      </a:r>
                      <a:r>
                        <a:rPr lang="es-MX" sz="1050" b="1" dirty="0"/>
                        <a:t>,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s-MX" sz="1050" b="1" dirty="0"/>
                        <a:t>AVO </a:t>
                      </a:r>
                      <a:r>
                        <a:rPr lang="es-MX" sz="1050" b="1" dirty="0" err="1"/>
                        <a:t>current</a:t>
                      </a:r>
                      <a:r>
                        <a:rPr lang="es-MX" sz="1050" b="1" dirty="0"/>
                        <a:t> </a:t>
                      </a:r>
                      <a:r>
                        <a:rPr lang="es-MX" sz="1050" b="1" dirty="0" err="1"/>
                        <a:t>inventory</a:t>
                      </a:r>
                      <a:r>
                        <a:rPr lang="es-MX" sz="1050" b="1"/>
                        <a:t>=  3744 (FG)+2496 (GP12) </a:t>
                      </a:r>
                      <a:r>
                        <a:rPr lang="es-MX" sz="1050" b="1" dirty="0" err="1"/>
                        <a:t>Inspected</a:t>
                      </a:r>
                      <a:r>
                        <a:rPr lang="es-MX" sz="1050" b="1" dirty="0"/>
                        <a:t> </a:t>
                      </a:r>
                      <a:r>
                        <a:rPr lang="es-MX" sz="1050" b="1" dirty="0" err="1"/>
                        <a:t>with</a:t>
                      </a:r>
                      <a:r>
                        <a:rPr lang="es-MX" sz="1050" b="1" dirty="0"/>
                        <a:t> </a:t>
                      </a:r>
                      <a:r>
                        <a:rPr lang="es-MX" sz="1050" b="1" dirty="0" err="1"/>
                        <a:t>multimeter</a:t>
                      </a:r>
                      <a:r>
                        <a:rPr lang="es-MX" sz="1050" b="1" dirty="0"/>
                        <a:t> </a:t>
                      </a:r>
                      <a:r>
                        <a:rPr lang="es-MX" sz="1050" b="1" dirty="0" err="1"/>
                        <a:t>with</a:t>
                      </a:r>
                      <a:r>
                        <a:rPr lang="es-MX" sz="1050" b="1" dirty="0"/>
                        <a:t> </a:t>
                      </a:r>
                      <a:r>
                        <a:rPr lang="es-MX" sz="1050" b="1" dirty="0" err="1"/>
                        <a:t>zero</a:t>
                      </a:r>
                      <a:r>
                        <a:rPr lang="es-MX" sz="1050" b="1" dirty="0"/>
                        <a:t> </a:t>
                      </a:r>
                      <a:r>
                        <a:rPr lang="es-MX" sz="1050" b="1" dirty="0" err="1"/>
                        <a:t>defects</a:t>
                      </a:r>
                      <a:endParaRPr lang="es-MX" sz="105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s-MX" sz="1050" b="1" dirty="0"/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lang="es-MX" sz="1050" b="1" dirty="0"/>
                    </a:p>
                  </a:txBody>
                  <a:tcPr marL="71991" marR="71991" marT="35997" marB="35997" horzOverflow="overflow"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20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5" gridSpan="2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◆ </a:t>
                      </a:r>
                      <a:r>
                        <a:rPr kumimoji="1" lang="en-US" altLang="ko-KR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Root cause analysis (Draft)</a:t>
                      </a: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4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In process of analysis .</a:t>
                      </a: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4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◆ </a:t>
                      </a:r>
                      <a:r>
                        <a:rPr kumimoji="1" lang="en-US" altLang="ko-KR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Root cause analysis</a:t>
                      </a:r>
                    </a:p>
                    <a:p>
                      <a:pPr marL="0" marR="0" lvl="0" indent="571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b="1" dirty="0">
                          <a:latin typeface="Arial" panose="020B0604020202020204" pitchFamily="34" charset="0"/>
                          <a:ea typeface="맑은 고딕" pitchFamily="50" charset="-127"/>
                          <a:cs typeface="Arial" panose="020B0604020202020204" pitchFamily="34" charset="0"/>
                        </a:rPr>
                        <a:t>Possible root causes: Draft</a:t>
                      </a:r>
                    </a:p>
                    <a:p>
                      <a:pPr marL="0" marR="0" lvl="0" indent="571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dirty="0">
                          <a:latin typeface="Arial" panose="020B0604020202020204" pitchFamily="34" charset="0"/>
                          <a:ea typeface="맑은 고딕" pitchFamily="50" charset="-127"/>
                          <a:cs typeface="Arial" panose="020B0604020202020204" pitchFamily="34" charset="0"/>
                        </a:rPr>
                        <a:t>1.-Fixture did not allow the correct position of the part, causing incorrect contact between the electrode and the terminal</a:t>
                      </a:r>
                      <a:endParaRPr kumimoji="0" lang="en-US" altLang="ko-KR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571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맑은 고딕" pitchFamily="50" charset="-127"/>
                        <a:cs typeface="Arial" panose="020B0604020202020204" pitchFamily="34" charset="0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400" b="0" u="none" strike="noStrike" cap="none" normalizeH="0" baseline="0" dirty="0">
                        <a:ln>
                          <a:noFill/>
                        </a:ln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◆ </a:t>
                      </a:r>
                      <a:r>
                        <a:rPr kumimoji="1" lang="en-US" altLang="ko-KR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Spill cause analysis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 Part after reinjection in the tester was rejected, also with multimeter and visual inspection criteria</a:t>
                      </a:r>
                      <a:endParaRPr kumimoji="1" lang="en-US" altLang="ko-KR" sz="1400" b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4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400" b="1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200" b="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◆ </a:t>
                      </a:r>
                      <a:r>
                        <a:rPr kumimoji="1" lang="en-US" altLang="ko-KR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Spill cause analysis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endParaRPr kumimoji="1" lang="en-US" altLang="ko-KR" sz="1200" b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71991" marR="71991" marT="35997" marB="35997" horzOverflow="overflow"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anchor="ctr" horzOverflow="overflow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70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6. Drill Deep Wide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236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1991" marR="71991" marT="35997" marB="3599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9365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7. </a:t>
                      </a:r>
                      <a:r>
                        <a:rPr kumimoji="1"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Lessons Learned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8636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533400" marR="0" lvl="0" indent="-5334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Wingdings" pitchFamily="2" charset="2"/>
                      </a:endParaRPr>
                    </a:p>
                  </a:txBody>
                  <a:tcPr marL="72000" marR="72000" marT="36000" marB="36000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533400" marR="0" lvl="0" indent="-53340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991" marR="71991" marT="35997" marB="35997" anchor="ctr" horzOverflow="overflow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CuadroTexto 5"/>
          <p:cNvSpPr txBox="1"/>
          <p:nvPr/>
        </p:nvSpPr>
        <p:spPr>
          <a:xfrm>
            <a:off x="4953000" y="321297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2" name="1 Objeto">
            <a:hlinkClick r:id="" action="ppaction://ole?verb=0"/>
            <a:extLst>
              <a:ext uri="{FF2B5EF4-FFF2-40B4-BE49-F238E27FC236}">
                <a16:creationId xmlns:a16="http://schemas.microsoft.com/office/drawing/2014/main" id="{5AA3C9D1-266E-136C-338D-011863FD72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989215"/>
              </p:ext>
            </p:extLst>
          </p:nvPr>
        </p:nvGraphicFramePr>
        <p:xfrm>
          <a:off x="4554978" y="4773222"/>
          <a:ext cx="887481" cy="771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showAsIcon="1" r:id="rId3" imgW="914400" imgH="792360" progId="PowerPoint.Show.12">
                  <p:embed/>
                </p:oleObj>
              </mc:Choice>
              <mc:Fallback>
                <p:oleObj name="Presentation" showAsIcon="1" r:id="rId3" imgW="914400" imgH="792360" progId="PowerPoint.Show.12">
                  <p:embed/>
                  <p:pic>
                    <p:nvPicPr>
                      <p:cNvPr id="2" name="1 Objeto">
                        <a:hlinkClick r:id="" action="ppaction://ole?verb=0"/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978" y="4773222"/>
                        <a:ext cx="887481" cy="7710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0" t="25850" r="17801" b="9051"/>
          <a:stretch/>
        </p:blipFill>
        <p:spPr>
          <a:xfrm>
            <a:off x="4555177" y="1512046"/>
            <a:ext cx="1736349" cy="2070262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 bwMode="auto">
          <a:xfrm>
            <a:off x="3330352" y="1792385"/>
            <a:ext cx="1296144" cy="360040"/>
          </a:xfrm>
          <a:prstGeom prst="rect">
            <a:avLst/>
          </a:prstGeom>
          <a:noFill/>
          <a:ln w="9525" algn="ctr">
            <a:solidFill>
              <a:srgbClr val="0000FF"/>
            </a:solidFill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rtlCol="0" anchor="ctr"/>
          <a:lstStyle/>
          <a:p>
            <a:pPr algn="ctr"/>
            <a:endParaRPr kumimoji="0" lang="en-US" sz="1300" dirty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3450009" y="1844648"/>
            <a:ext cx="912814" cy="307777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Terminal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Explosión 1 19"/>
          <p:cNvSpPr/>
          <p:nvPr/>
        </p:nvSpPr>
        <p:spPr bwMode="auto">
          <a:xfrm>
            <a:off x="3402360" y="1514076"/>
            <a:ext cx="1152128" cy="304441"/>
          </a:xfrm>
          <a:prstGeom prst="irregularSeal1">
            <a:avLst/>
          </a:prstGeom>
          <a:solidFill>
            <a:srgbClr val="FFFF00"/>
          </a:solidFill>
          <a:ln w="9525" algn="ctr">
            <a:solidFill>
              <a:srgbClr val="0000FF"/>
            </a:solidFill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rtlCol="0" anchor="ctr"/>
          <a:lstStyle/>
          <a:p>
            <a:pPr algn="ctr"/>
            <a:endParaRPr kumimoji="0" lang="en-US" sz="1300" dirty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22" name="Elipse 21"/>
          <p:cNvSpPr/>
          <p:nvPr/>
        </p:nvSpPr>
        <p:spPr bwMode="auto">
          <a:xfrm>
            <a:off x="3522384" y="817539"/>
            <a:ext cx="912814" cy="648072"/>
          </a:xfrm>
          <a:prstGeom prst="ellipse">
            <a:avLst/>
          </a:prstGeom>
          <a:noFill/>
          <a:ln w="9525" algn="ctr">
            <a:solidFill>
              <a:srgbClr val="0000FF"/>
            </a:solidFill>
            <a:round/>
            <a:headEnd type="none"/>
            <a:tailEnd type="stealth" w="lg" len="lg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none" rtlCol="0" anchor="ctr"/>
          <a:lstStyle/>
          <a:p>
            <a:pPr algn="ctr"/>
            <a:endParaRPr kumimoji="0" lang="en-US" sz="1300" dirty="0">
              <a:latin typeface="+mn-lt"/>
              <a:ea typeface="맑은 고딕" pitchFamily="50" charset="-127"/>
              <a:cs typeface="Tahoma" pitchFamily="34" charset="0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3565098" y="1015536"/>
            <a:ext cx="826652" cy="27699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Inductor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4729111" y="1018305"/>
            <a:ext cx="1562415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Poor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welding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Conector recto de flecha 26"/>
          <p:cNvCxnSpPr/>
          <p:nvPr/>
        </p:nvCxnSpPr>
        <p:spPr>
          <a:xfrm flipH="1">
            <a:off x="4362823" y="1465611"/>
            <a:ext cx="540066" cy="4846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기본 디자인">
  <a:themeElements>
    <a:clrScheme name="4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4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기본 디자인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FFF"/>
      </a:accent5>
      <a:accent6>
        <a:srgbClr val="000000"/>
      </a:accent6>
      <a:hlink>
        <a:srgbClr val="000000"/>
      </a:hlink>
      <a:folHlink>
        <a:srgbClr val="000000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FF"/>
          </a:solidFill>
          <a:round/>
          <a:headEnd type="none"/>
          <a:tailEnd type="stealth" w="lg" len="lg"/>
        </a:ln>
        <a:effectLst/>
        <a:scene3d>
          <a:camera prst="orthographicFront">
            <a:rot lat="0" lon="0" rev="0"/>
          </a:camera>
          <a:lightRig rig="contrasting" dir="t">
            <a:rot lat="0" lon="0" rev="7800000"/>
          </a:lightRig>
        </a:scene3d>
        <a:sp3d>
          <a:bevelT w="139700" h="139700"/>
        </a:sp3d>
      </a:spPr>
      <a:bodyPr wrap="none" rtlCol="0" anchor="ctr"/>
      <a:lstStyle>
        <a:defPPr>
          <a:defRPr kumimoji="0" sz="1300" dirty="0" smtClean="0">
            <a:latin typeface="+mn-lt"/>
            <a:ea typeface="맑은 고딕" pitchFamily="50" charset="-127"/>
            <a:cs typeface="Tahoma" pitchFamily="34" charset="0"/>
          </a:defRPr>
        </a:defPPr>
      </a:lstStyle>
    </a:spDef>
    <a:lnDef>
      <a:spPr>
        <a:ln w="1270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/>
        </a:defPPr>
      </a:lstStyle>
    </a:txDef>
  </a:objectDefaults>
  <a:extraClrSchemeLst/>
</a:theme>
</file>

<file path=ppt/theme/theme6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36077</TotalTime>
  <Words>371</Words>
  <Application>Microsoft Office PowerPoint</Application>
  <PresentationFormat>A4 (210 x 297 mm)</PresentationFormat>
  <Paragraphs>66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3" baseType="lpstr">
      <vt:lpstr>굴림</vt:lpstr>
      <vt:lpstr>맑은 고딕</vt:lpstr>
      <vt:lpstr>Arial</vt:lpstr>
      <vt:lpstr>HY견고딕</vt:lpstr>
      <vt:lpstr>HY헤드라인M</vt:lpstr>
      <vt:lpstr>Wingdings</vt:lpstr>
      <vt:lpstr>2_기본 디자인</vt:lpstr>
      <vt:lpstr>4_기본 디자인</vt:lpstr>
      <vt:lpstr>3_기본 디자인</vt:lpstr>
      <vt:lpstr>1_기본 디자인</vt:lpstr>
      <vt:lpstr>Office 테마</vt:lpstr>
      <vt:lpstr>Presentación de Microsoft PowerPoint</vt:lpstr>
      <vt:lpstr>Presentación de PowerPoint</vt:lpstr>
    </vt:vector>
  </TitlesOfParts>
  <Company>현대자동차(주)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품질기획팀</dc:creator>
  <cp:lastModifiedBy>Gabriel CAVAZOS</cp:lastModifiedBy>
  <cp:revision>873</cp:revision>
  <cp:lastPrinted>2024-02-23T20:18:07Z</cp:lastPrinted>
  <dcterms:created xsi:type="dcterms:W3CDTF">2004-05-03T21:58:18Z</dcterms:created>
  <dcterms:modified xsi:type="dcterms:W3CDTF">2024-02-26T04:29:37Z</dcterms:modified>
</cp:coreProperties>
</file>